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handoutMasterIdLst>
    <p:handoutMasterId r:id="rId31"/>
  </p:handoutMasterIdLst>
  <p:sldIdLst>
    <p:sldId id="256" r:id="rId3"/>
    <p:sldId id="258" r:id="rId4"/>
    <p:sldId id="260" r:id="rId5"/>
    <p:sldId id="261" r:id="rId6"/>
    <p:sldId id="262" r:id="rId7"/>
    <p:sldId id="263" r:id="rId8"/>
    <p:sldId id="264" r:id="rId9"/>
    <p:sldId id="265" r:id="rId10"/>
    <p:sldId id="266" r:id="rId11"/>
    <p:sldId id="267" r:id="rId12"/>
    <p:sldId id="283" r:id="rId13"/>
    <p:sldId id="285" r:id="rId14"/>
    <p:sldId id="268" r:id="rId15"/>
    <p:sldId id="269" r:id="rId16"/>
    <p:sldId id="272" r:id="rId17"/>
    <p:sldId id="271" r:id="rId18"/>
    <p:sldId id="273" r:id="rId19"/>
    <p:sldId id="274" r:id="rId20"/>
    <p:sldId id="270" r:id="rId21"/>
    <p:sldId id="277" r:id="rId22"/>
    <p:sldId id="282" r:id="rId23"/>
    <p:sldId id="275" r:id="rId24"/>
    <p:sldId id="276" r:id="rId25"/>
    <p:sldId id="278" r:id="rId26"/>
    <p:sldId id="281" r:id="rId27"/>
    <p:sldId id="279" r:id="rId28"/>
    <p:sldId id="28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2" userDrawn="1">
          <p15:clr>
            <a:srgbClr val="A4A3A4"/>
          </p15:clr>
        </p15:guide>
        <p15:guide id="2" pos="3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72"/>
        <p:guide pos="37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6.xml"/><Relationship Id="rId4" Type="http://schemas.openxmlformats.org/officeDocument/2006/relationships/image" Target="../media/image4.wmf"/><Relationship Id="rId3" Type="http://schemas.openxmlformats.org/officeDocument/2006/relationships/oleObject" Target="../embeddings/oleObject4.bin"/><Relationship Id="rId2" Type="http://schemas.openxmlformats.org/officeDocument/2006/relationships/image" Target="../media/image3.wmf"/><Relationship Id="rId1"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6.xml"/><Relationship Id="rId4" Type="http://schemas.openxmlformats.org/officeDocument/2006/relationships/image" Target="../media/image6.wmf"/><Relationship Id="rId3" Type="http://schemas.openxmlformats.org/officeDocument/2006/relationships/oleObject" Target="../embeddings/oleObject6.bin"/><Relationship Id="rId2" Type="http://schemas.openxmlformats.org/officeDocument/2006/relationships/image" Target="../media/image5.wmf"/><Relationship Id="rId1"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6.xml"/><Relationship Id="rId3" Type="http://schemas.openxmlformats.org/officeDocument/2006/relationships/image" Target="../media/image8.png"/><Relationship Id="rId2" Type="http://schemas.openxmlformats.org/officeDocument/2006/relationships/image" Target="../media/image7.wmf"/><Relationship Id="rId1"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6.xml"/><Relationship Id="rId4" Type="http://schemas.openxmlformats.org/officeDocument/2006/relationships/image" Target="../media/image8.png"/><Relationship Id="rId3" Type="http://schemas.openxmlformats.org/officeDocument/2006/relationships/image" Target="../media/image10.png"/><Relationship Id="rId2" Type="http://schemas.openxmlformats.org/officeDocument/2006/relationships/image" Target="../media/image9.wmf"/><Relationship Id="rId1" Type="http://schemas.openxmlformats.org/officeDocument/2006/relationships/oleObject" Target="../embeddings/oleObject8.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6.xml"/><Relationship Id="rId2" Type="http://schemas.openxmlformats.org/officeDocument/2006/relationships/image" Target="../media/image12.wmf"/><Relationship Id="rId1" Type="http://schemas.openxmlformats.org/officeDocument/2006/relationships/oleObject" Target="../embeddings/oleObject9.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6.xml"/><Relationship Id="rId2" Type="http://schemas.openxmlformats.org/officeDocument/2006/relationships/image" Target="../media/image13.wmf"/><Relationship Id="rId1" Type="http://schemas.openxmlformats.org/officeDocument/2006/relationships/oleObject" Target="../embeddings/oleObject10.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6.xml"/><Relationship Id="rId2" Type="http://schemas.openxmlformats.org/officeDocument/2006/relationships/image" Target="../media/image16.wmf"/><Relationship Id="rId1" Type="http://schemas.openxmlformats.org/officeDocument/2006/relationships/oleObject" Target="../embeddings/oleObject11.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hyperlink" Target="https://colab.research.google.com/drive/1BTqUbMNwzs23B3E0Ac95SPb8JUTw6AQo" TargetMode="Externa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9.png"/><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6.xml"/><Relationship Id="rId2" Type="http://schemas.openxmlformats.org/officeDocument/2006/relationships/image" Target="../media/image20.wmf"/><Relationship Id="rId1" Type="http://schemas.openxmlformats.org/officeDocument/2006/relationships/oleObject" Target="../embeddings/oleObject12.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6.xml"/><Relationship Id="rId2" Type="http://schemas.openxmlformats.org/officeDocument/2006/relationships/image" Target="../media/image21.wmf"/><Relationship Id="rId1" Type="http://schemas.openxmlformats.org/officeDocument/2006/relationships/oleObject" Target="../embeddings/oleObject1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054735" y="1146810"/>
            <a:ext cx="10082530" cy="2387600"/>
          </a:xfrm>
        </p:spPr>
        <p:txBody>
          <a:bodyPr>
            <a:normAutofit fontScale="90000"/>
          </a:bodyPr>
          <a:p>
            <a:r>
              <a:rPr lang="en-US" altLang="en-GB" sz="5000"/>
              <a:t>[NLP] NHÓM 2</a:t>
            </a:r>
            <a:br>
              <a:rPr lang="en-US" altLang="en-GB" sz="5000"/>
            </a:br>
            <a:br>
              <a:rPr lang="en-US" altLang="en-GB" sz="5000"/>
            </a:br>
            <a:r>
              <a:rPr lang="en-US" altLang="en-GB" sz="5000"/>
              <a:t>Tìm hiểu về model Sentence BERT và liên hệ đến bài toán Question &amp; Answering</a:t>
            </a:r>
            <a:endParaRPr lang="en-US" altLang="en-GB" sz="5000"/>
          </a:p>
        </p:txBody>
      </p:sp>
      <p:sp>
        <p:nvSpPr>
          <p:cNvPr id="3" name="Subtitle 2"/>
          <p:cNvSpPr>
            <a:spLocks noGrp="1"/>
          </p:cNvSpPr>
          <p:nvPr>
            <p:ph type="subTitle" idx="1"/>
          </p:nvPr>
        </p:nvSpPr>
        <p:spPr>
          <a:xfrm>
            <a:off x="1423035" y="4637723"/>
            <a:ext cx="9144000" cy="1655762"/>
          </a:xfrm>
        </p:spPr>
        <p:txBody>
          <a:bodyPr/>
          <a:p>
            <a:pPr algn="l"/>
            <a:r>
              <a:rPr lang="en-US" altLang="en-GB" sz="2000"/>
              <a:t>THÀNH VIÊN NHÓM:</a:t>
            </a:r>
            <a:endParaRPr lang="en-US" altLang="en-GB" sz="2000"/>
          </a:p>
          <a:p>
            <a:pPr algn="l"/>
            <a:r>
              <a:rPr lang="en-US" altLang="en-GB" sz="2000"/>
              <a:t>1. Kiều Thị Thu Trang - 24100093</a:t>
            </a:r>
            <a:endParaRPr lang="en-US" altLang="en-GB" sz="2000"/>
          </a:p>
          <a:p>
            <a:pPr algn="l"/>
            <a:r>
              <a:rPr lang="en-US" altLang="en-GB" sz="2000"/>
              <a:t>2. Trần Minh Sang - 24100012</a:t>
            </a:r>
            <a:endParaRPr lang="en-US" altLang="en-GB"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0580" y="557530"/>
            <a:ext cx="9293225" cy="5141595"/>
          </a:xfrm>
        </p:spPr>
        <p:txBody>
          <a:bodyPr>
            <a:noAutofit/>
          </a:bodyPr>
          <a:p>
            <a:r>
              <a:rPr lang="en-US" altLang="en-GB" sz="4000"/>
              <a:t>NỘI DUNG:</a:t>
            </a:r>
            <a:br>
              <a:rPr lang="en-US" altLang="en-GB" sz="2500"/>
            </a:br>
            <a:br>
              <a:rPr lang="en-US" altLang="en-GB" sz="2500"/>
            </a:br>
            <a:r>
              <a:rPr lang="en-US" altLang="en-GB" sz="2500"/>
              <a:t>1. Đặt vấn </a:t>
            </a:r>
            <a:r>
              <a:rPr lang="en-US" altLang="en-US" sz="2500"/>
              <a:t>đ</a:t>
            </a:r>
            <a:r>
              <a:rPr lang="en-US" altLang="en-GB" sz="2500"/>
              <a:t>ề </a:t>
            </a:r>
            <a:br>
              <a:rPr lang="en-US" altLang="en-GB" sz="2500"/>
            </a:br>
            <a:r>
              <a:rPr lang="en-US" altLang="en-GB" sz="2500"/>
              <a:t>2. Giải ph</a:t>
            </a:r>
            <a:r>
              <a:rPr lang="en-US" altLang="en-US" sz="2500"/>
              <a:t>á</a:t>
            </a:r>
            <a:r>
              <a:rPr lang="en-US" altLang="en-GB" sz="2500"/>
              <a:t>p: SBERT ra </a:t>
            </a:r>
            <a:r>
              <a:rPr lang="en-US" altLang="en-US" sz="2500"/>
              <a:t>đ</a:t>
            </a:r>
            <a:r>
              <a:rPr lang="en-US" altLang="en-GB" sz="2500"/>
              <a:t>ời</a:t>
            </a:r>
            <a:br>
              <a:rPr lang="en-US" altLang="en-GB" sz="2500"/>
            </a:br>
            <a:r>
              <a:rPr lang="en-US" altLang="en-GB" sz="2500"/>
              <a:t>3. C</a:t>
            </a:r>
            <a:r>
              <a:rPr lang="en-US" altLang="en-US" sz="2500"/>
              <a:t>ơ</a:t>
            </a:r>
            <a:r>
              <a:rPr lang="en-US" altLang="en-GB" sz="2500"/>
              <a:t> sở l</a:t>
            </a:r>
            <a:r>
              <a:rPr lang="en-US" altLang="en-US" sz="2500"/>
              <a:t>ý</a:t>
            </a:r>
            <a:r>
              <a:rPr lang="en-US" altLang="en-GB" sz="2500"/>
              <a:t> thuyết</a:t>
            </a:r>
            <a:br>
              <a:rPr lang="en-US" altLang="en-GB" sz="2500"/>
            </a:br>
            <a:r>
              <a:rPr lang="en-US" altLang="en-GB" sz="2500"/>
              <a:t>4. Kiến tr</a:t>
            </a:r>
            <a:r>
              <a:rPr lang="en-US" altLang="en-US" sz="2500"/>
              <a:t>ú</a:t>
            </a:r>
            <a:r>
              <a:rPr lang="en-US" altLang="en-GB" sz="2500"/>
              <a:t>c SBERT</a:t>
            </a:r>
            <a:br>
              <a:rPr lang="en-US" altLang="en-GB" sz="2500"/>
            </a:br>
            <a:r>
              <a:rPr lang="en-US" altLang="en-GB" sz="2500"/>
              <a:t>5. </a:t>
            </a:r>
            <a:r>
              <a:rPr lang="en-US" altLang="en-GB" sz="2500">
                <a:sym typeface="+mn-ea"/>
              </a:rPr>
              <a:t>So s</a:t>
            </a:r>
            <a:r>
              <a:rPr lang="en-US" altLang="en-US" sz="2500">
                <a:sym typeface="+mn-ea"/>
              </a:rPr>
              <a:t>á</a:t>
            </a:r>
            <a:r>
              <a:rPr lang="en-US" altLang="en-GB" sz="2500">
                <a:sym typeface="+mn-ea"/>
              </a:rPr>
              <a:t>nh BERT và SBERT: </a:t>
            </a:r>
            <a:r>
              <a:rPr lang="en-US" altLang="en-US" sz="2500">
                <a:sym typeface="+mn-ea"/>
              </a:rPr>
              <a:t>Đá</a:t>
            </a:r>
            <a:r>
              <a:rPr lang="en-US" altLang="en-GB" sz="2500">
                <a:sym typeface="+mn-ea"/>
              </a:rPr>
              <a:t>nh </a:t>
            </a:r>
            <a:r>
              <a:rPr lang="en-US" altLang="en-US" sz="2500">
                <a:sym typeface="+mn-ea"/>
              </a:rPr>
              <a:t>đ</a:t>
            </a:r>
            <a:r>
              <a:rPr lang="en-US" altLang="en-GB" sz="2500">
                <a:sym typeface="+mn-ea"/>
              </a:rPr>
              <a:t>ổi giữa Tốc </a:t>
            </a:r>
            <a:r>
              <a:rPr lang="en-US" altLang="en-US" sz="2500">
                <a:sym typeface="+mn-ea"/>
              </a:rPr>
              <a:t>đ</a:t>
            </a:r>
            <a:r>
              <a:rPr lang="en-US" altLang="en-GB" sz="2500">
                <a:sym typeface="+mn-ea"/>
              </a:rPr>
              <a:t>ộ và </a:t>
            </a:r>
            <a:r>
              <a:rPr lang="en-US" altLang="en-US" sz="2500">
                <a:sym typeface="+mn-ea"/>
              </a:rPr>
              <a:t>Đ</a:t>
            </a:r>
            <a:r>
              <a:rPr lang="en-US" altLang="en-GB" sz="2500">
                <a:sym typeface="+mn-ea"/>
              </a:rPr>
              <a:t>ộ ch</a:t>
            </a:r>
            <a:r>
              <a:rPr lang="en-US" altLang="en-US" sz="2500">
                <a:sym typeface="+mn-ea"/>
              </a:rPr>
              <a:t>í</a:t>
            </a:r>
            <a:r>
              <a:rPr lang="en-US" altLang="en-GB" sz="2500">
                <a:sym typeface="+mn-ea"/>
              </a:rPr>
              <a:t>nh x</a:t>
            </a:r>
            <a:r>
              <a:rPr lang="en-US" altLang="en-US" sz="2500">
                <a:sym typeface="+mn-ea"/>
              </a:rPr>
              <a:t>á</a:t>
            </a:r>
            <a:r>
              <a:rPr lang="en-US" altLang="en-GB" sz="2500">
                <a:sym typeface="+mn-ea"/>
              </a:rPr>
              <a:t>c</a:t>
            </a:r>
            <a:br>
              <a:rPr lang="en-US" altLang="en-GB" sz="2500"/>
            </a:br>
            <a:r>
              <a:rPr lang="en-US" altLang="en-GB" sz="2500"/>
              <a:t>6. Li</a:t>
            </a:r>
            <a:r>
              <a:rPr lang="en-US" altLang="en-US" sz="2500"/>
              <a:t>ê</a:t>
            </a:r>
            <a:r>
              <a:rPr lang="en-US" altLang="en-GB" sz="2500"/>
              <a:t>n hệ với bài toán Q&amp;A</a:t>
            </a:r>
            <a:br>
              <a:rPr lang="en-US" altLang="en-GB" sz="2500"/>
            </a:br>
            <a:r>
              <a:rPr lang="en-US" altLang="en-GB" sz="2500"/>
              <a:t>7. Demo + </a:t>
            </a:r>
            <a:r>
              <a:rPr lang="en-US" altLang="en-US" sz="2500"/>
              <a:t>Đ</a:t>
            </a:r>
            <a:r>
              <a:rPr lang="en-US" altLang="en-US" sz="2500"/>
              <a:t>á</a:t>
            </a:r>
            <a:r>
              <a:rPr lang="en-US" altLang="en-GB" sz="2500"/>
              <a:t>nh gi</a:t>
            </a:r>
            <a:r>
              <a:rPr lang="en-US" altLang="en-US" sz="2500"/>
              <a:t>á</a:t>
            </a:r>
            <a:r>
              <a:rPr lang="en-US" altLang="en-GB" sz="2500"/>
              <a:t> kết quả</a:t>
            </a:r>
            <a:br>
              <a:rPr lang="en-US" altLang="en-GB" sz="2500"/>
            </a:br>
            <a:r>
              <a:rPr lang="en-US" altLang="en-GB" sz="2500"/>
              <a:t>8. </a:t>
            </a:r>
            <a:r>
              <a:rPr lang="en-US" altLang="en-US" sz="2500"/>
              <a:t>Đ</a:t>
            </a:r>
            <a:r>
              <a:rPr lang="en-US" altLang="en-GB" sz="2500"/>
              <a:t>ịnh h</a:t>
            </a:r>
            <a:r>
              <a:rPr lang="en-US" altLang="en-US" sz="2500"/>
              <a:t>ư</a:t>
            </a:r>
            <a:r>
              <a:rPr lang="en-US" altLang="en-GB" sz="2500"/>
              <a:t>ớng mở rộng: Kiến tr</a:t>
            </a:r>
            <a:r>
              <a:rPr lang="en-US" altLang="en-US" sz="2500"/>
              <a:t>ú</a:t>
            </a:r>
            <a:r>
              <a:rPr lang="en-US" altLang="en-GB" sz="2500"/>
              <a:t>c Hỏi </a:t>
            </a:r>
            <a:r>
              <a:rPr lang="en-US" altLang="en-US" sz="2500"/>
              <a:t>Đ</a:t>
            </a:r>
            <a:r>
              <a:rPr lang="en-US" altLang="en-US" sz="2500"/>
              <a:t>á</a:t>
            </a:r>
            <a:r>
              <a:rPr lang="en-US" altLang="en-GB" sz="2500"/>
              <a:t>p (QA) toàn diện với mô h</a:t>
            </a:r>
            <a:r>
              <a:rPr lang="en-US" altLang="en-US" sz="2500"/>
              <a:t>ì</a:t>
            </a:r>
            <a:r>
              <a:rPr lang="en-US" altLang="en-GB" sz="2500"/>
              <a:t>nh Retriever - Reranker</a:t>
            </a:r>
            <a:endParaRPr lang="en-US" altLang="en-GB" sz="2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18745" y="0"/>
            <a:ext cx="12073255" cy="6857365"/>
          </a:xfrm>
        </p:spPr>
        <p:txBody>
          <a:bodyPr>
            <a:noAutofit/>
          </a:bodyPr>
          <a:p>
            <a:r>
              <a:rPr lang="en-US" altLang="en-GB" sz="3500"/>
              <a:t>1. </a:t>
            </a:r>
            <a:r>
              <a:rPr lang="en-US" altLang="en-US" sz="3500"/>
              <a:t>Đ</a:t>
            </a:r>
            <a:r>
              <a:rPr lang="en-US" altLang="en-GB" sz="3500"/>
              <a:t>ặt vấn </a:t>
            </a:r>
            <a:r>
              <a:rPr lang="en-US" altLang="en-US" sz="3500"/>
              <a:t>đ</a:t>
            </a:r>
            <a:r>
              <a:rPr lang="en-US" altLang="en-GB" sz="3500"/>
              <a:t>ề</a:t>
            </a:r>
            <a:br>
              <a:rPr lang="en-US" altLang="en-GB" sz="2500"/>
            </a:br>
            <a:br>
              <a:rPr lang="en-US" altLang="en-GB" sz="2500"/>
            </a:br>
            <a:r>
              <a:rPr lang="en-US" altLang="en-GB" sz="2000">
                <a:solidFill>
                  <a:srgbClr val="0070C0"/>
                </a:solidFill>
              </a:rPr>
              <a:t>Tr</a:t>
            </a:r>
            <a:r>
              <a:rPr lang="en-US" altLang="en-US" sz="2000">
                <a:solidFill>
                  <a:srgbClr val="0070C0"/>
                </a:solidFill>
              </a:rPr>
              <a:t>ư</a:t>
            </a:r>
            <a:r>
              <a:rPr lang="en-US" altLang="en-GB" sz="2000">
                <a:solidFill>
                  <a:srgbClr val="0070C0"/>
                </a:solidFill>
              </a:rPr>
              <a:t>ớc 2017</a:t>
            </a:r>
            <a:r>
              <a:rPr lang="en-US" altLang="en-GB" sz="2000"/>
              <a:t>, c</a:t>
            </a:r>
            <a:r>
              <a:rPr lang="en-US" altLang="en-US" sz="2000"/>
              <a:t>á</a:t>
            </a:r>
            <a:r>
              <a:rPr lang="en-US" altLang="en-GB" sz="2000"/>
              <a:t>c model chuyển </a:t>
            </a:r>
            <a:r>
              <a:rPr lang="en-US" altLang="en-US" sz="2000"/>
              <a:t>đ</a:t>
            </a:r>
            <a:r>
              <a:rPr lang="en-US" altLang="en-GB" sz="2000"/>
              <a:t>ổi chuỗi chiếm </a:t>
            </a:r>
            <a:r>
              <a:rPr lang="en-US" altLang="en-US" sz="2000"/>
              <a:t>ư</a:t>
            </a:r>
            <a:r>
              <a:rPr lang="en-US" altLang="en-GB" sz="2000"/>
              <a:t>u thế th</a:t>
            </a:r>
            <a:r>
              <a:rPr lang="en-US" altLang="en-US" sz="2000"/>
              <a:t>ư</a:t>
            </a:r>
            <a:r>
              <a:rPr lang="en-US" altLang="en-GB" sz="2000"/>
              <a:t>ờng dựa tr</a:t>
            </a:r>
            <a:r>
              <a:rPr lang="en-US" altLang="en-US" sz="2000"/>
              <a:t>ê</a:t>
            </a:r>
            <a:r>
              <a:rPr lang="en-US" altLang="en-GB" sz="2000"/>
              <a:t>n mạng nơ-ron hồi quy </a:t>
            </a:r>
            <a:r>
              <a:rPr lang="en-US" altLang="en-GB" sz="2000">
                <a:solidFill>
                  <a:srgbClr val="0070C0"/>
                </a:solidFill>
              </a:rPr>
              <a:t>RNN</a:t>
            </a:r>
            <a:r>
              <a:rPr lang="en-US" altLang="en-GB" sz="2000"/>
              <a:t> (nh</a:t>
            </a:r>
            <a:r>
              <a:rPr lang="en-US" altLang="en-US" sz="2000"/>
              <a:t>ư</a:t>
            </a:r>
            <a:r>
              <a:rPr lang="en-US" altLang="en-GB" sz="2000"/>
              <a:t> LSTM) hoặc mạng t</a:t>
            </a:r>
            <a:r>
              <a:rPr lang="en-US" altLang="en-US" sz="2000"/>
              <a:t>í</a:t>
            </a:r>
            <a:r>
              <a:rPr lang="en-US" altLang="en-GB" sz="2000"/>
              <a:t>ch chập </a:t>
            </a:r>
            <a:r>
              <a:rPr lang="en-US" altLang="en-GB" sz="2000">
                <a:solidFill>
                  <a:srgbClr val="0070C0"/>
                </a:solidFill>
              </a:rPr>
              <a:t>CNN </a:t>
            </a:r>
            <a:r>
              <a:rPr lang="en-US" altLang="en-GB" sz="2000"/>
              <a:t>phức tạp bao gồm bộ m</a:t>
            </a:r>
            <a:r>
              <a:rPr lang="en-US" altLang="en-US" sz="2000"/>
              <a:t>ã</a:t>
            </a:r>
            <a:r>
              <a:rPr lang="en-US" altLang="en-GB" sz="2000"/>
              <a:t> h</a:t>
            </a:r>
            <a:r>
              <a:rPr lang="en-US" altLang="en-US" sz="2000"/>
              <a:t>ó</a:t>
            </a:r>
            <a:r>
              <a:rPr lang="en-US" altLang="en-GB" sz="2000"/>
              <a:t>a (encoder) và bộ giải mà (decoder).</a:t>
            </a:r>
            <a:br>
              <a:rPr lang="en-US" altLang="en-GB" sz="2000"/>
            </a:br>
            <a:br>
              <a:rPr lang="en-US" altLang="en-GB" sz="2000"/>
            </a:br>
            <a:r>
              <a:rPr lang="en-US" altLang="en-GB" sz="2000"/>
              <a:t>C</a:t>
            </a:r>
            <a:r>
              <a:rPr lang="en-US" altLang="en-US" sz="2000"/>
              <a:t>á</a:t>
            </a:r>
            <a:r>
              <a:rPr lang="en-US" altLang="en-GB" sz="2000"/>
              <a:t>c mô h</a:t>
            </a:r>
            <a:r>
              <a:rPr lang="en-US" altLang="en-US" sz="2000"/>
              <a:t>ì</a:t>
            </a:r>
            <a:r>
              <a:rPr lang="en-US" altLang="en-GB" sz="2000"/>
              <a:t>nh hồi quy c</a:t>
            </a:r>
            <a:r>
              <a:rPr lang="en-US" altLang="en-US" sz="2000"/>
              <a:t>ó</a:t>
            </a:r>
            <a:r>
              <a:rPr lang="en-US" altLang="en-GB" sz="2000"/>
              <a:t> bản chất là t</a:t>
            </a:r>
            <a:r>
              <a:rPr lang="en-US" altLang="en-US" sz="2000"/>
              <a:t>í</a:t>
            </a:r>
            <a:r>
              <a:rPr lang="en-US" altLang="en-GB" sz="2000"/>
              <a:t>nh to</a:t>
            </a:r>
            <a:r>
              <a:rPr lang="en-US" altLang="en-US" sz="2000"/>
              <a:t>á</a:t>
            </a:r>
            <a:r>
              <a:rPr lang="en-US" altLang="en-GB" sz="2000"/>
              <a:t>n </a:t>
            </a:r>
            <a:r>
              <a:rPr lang="en-US" altLang="en-GB" sz="2000">
                <a:solidFill>
                  <a:srgbClr val="0070C0"/>
                </a:solidFill>
              </a:rPr>
              <a:t>tuần tự</a:t>
            </a:r>
            <a:r>
              <a:rPr lang="en-US" altLang="en-GB" sz="2000"/>
              <a:t> theo c</a:t>
            </a:r>
            <a:r>
              <a:rPr lang="en-US" altLang="en-US" sz="2000"/>
              <a:t>á</a:t>
            </a:r>
            <a:r>
              <a:rPr lang="en-US" altLang="en-GB" sz="2000"/>
              <a:t>c vị tr</a:t>
            </a:r>
            <a:r>
              <a:rPr lang="en-US" altLang="en-US" sz="2000"/>
              <a:t>í</a:t>
            </a:r>
            <a:r>
              <a:rPr lang="en-US" altLang="en-GB" sz="2000"/>
              <a:t> biểu t</a:t>
            </a:r>
            <a:r>
              <a:rPr lang="en-US" altLang="en-US" sz="2000"/>
              <a:t>ư</a:t>
            </a:r>
            <a:r>
              <a:rPr lang="en-US" altLang="en-GB" sz="2000"/>
              <a:t>ợng của </a:t>
            </a:r>
            <a:r>
              <a:rPr lang="en-US" altLang="en-US" sz="2000"/>
              <a:t>đ</a:t>
            </a:r>
            <a:r>
              <a:rPr lang="en-US" altLang="en-GB" sz="2000"/>
              <a:t>ầu vào và </a:t>
            </a:r>
            <a:r>
              <a:rPr lang="en-US" altLang="en-US" sz="2000"/>
              <a:t>đ</a:t>
            </a:r>
            <a:r>
              <a:rPr lang="en-US" altLang="en-GB" sz="2000"/>
              <a:t>ầu ra. Bản chất tuần tự này </a:t>
            </a:r>
            <a:r>
              <a:rPr lang="en-US" altLang="en-GB" sz="2000">
                <a:solidFill>
                  <a:srgbClr val="0070C0"/>
                </a:solidFill>
              </a:rPr>
              <a:t>ng</a:t>
            </a:r>
            <a:r>
              <a:rPr lang="en-US" altLang="en-US" sz="2000">
                <a:solidFill>
                  <a:srgbClr val="0070C0"/>
                </a:solidFill>
              </a:rPr>
              <a:t>ă</a:t>
            </a:r>
            <a:r>
              <a:rPr lang="en-US" altLang="en-GB" sz="2000">
                <a:solidFill>
                  <a:srgbClr val="0070C0"/>
                </a:solidFill>
              </a:rPr>
              <a:t>n cản khả n</a:t>
            </a:r>
            <a:r>
              <a:rPr lang="en-US" altLang="en-US" sz="2000">
                <a:solidFill>
                  <a:srgbClr val="0070C0"/>
                </a:solidFill>
              </a:rPr>
              <a:t>ă</a:t>
            </a:r>
            <a:r>
              <a:rPr lang="en-US" altLang="en-GB" sz="2000">
                <a:solidFill>
                  <a:srgbClr val="0070C0"/>
                </a:solidFill>
              </a:rPr>
              <a:t>ng song song h</a:t>
            </a:r>
            <a:r>
              <a:rPr lang="en-US" altLang="en-US" sz="2000">
                <a:solidFill>
                  <a:srgbClr val="0070C0"/>
                </a:solidFill>
              </a:rPr>
              <a:t>ó</a:t>
            </a:r>
            <a:r>
              <a:rPr lang="en-US" altLang="en-GB" sz="2000">
                <a:solidFill>
                  <a:srgbClr val="0070C0"/>
                </a:solidFill>
              </a:rPr>
              <a:t>a</a:t>
            </a:r>
            <a:r>
              <a:rPr lang="en-US" altLang="en-GB" sz="2000"/>
              <a:t> trong qu</a:t>
            </a:r>
            <a:r>
              <a:rPr lang="en-US" altLang="en-US" sz="2000"/>
              <a:t>á</a:t>
            </a:r>
            <a:r>
              <a:rPr lang="en-US" altLang="en-GB" sz="2000"/>
              <a:t> tr</a:t>
            </a:r>
            <a:r>
              <a:rPr lang="en-US" altLang="en-US" sz="2000"/>
              <a:t>ì</a:t>
            </a:r>
            <a:r>
              <a:rPr lang="en-US" altLang="en-GB" sz="2000"/>
              <a:t>nh huấn luyện dẫn </a:t>
            </a:r>
            <a:r>
              <a:rPr lang="en-US" altLang="en-US" sz="2000"/>
              <a:t>đ</a:t>
            </a:r>
            <a:r>
              <a:rPr lang="en-US" altLang="en-GB" sz="2000"/>
              <a:t>ến thời gian huấn luyện rất lớn.</a:t>
            </a:r>
            <a:br>
              <a:rPr lang="en-US" altLang="en-GB" sz="2000"/>
            </a:br>
            <a:br>
              <a:rPr lang="en-US" altLang="en-GB" sz="2000"/>
            </a:br>
            <a:r>
              <a:rPr lang="en-US" altLang="en-GB" sz="2000">
                <a:solidFill>
                  <a:srgbClr val="0070C0"/>
                </a:solidFill>
              </a:rPr>
              <a:t>N</a:t>
            </a:r>
            <a:r>
              <a:rPr lang="en-US" altLang="en-US" sz="2000">
                <a:solidFill>
                  <a:srgbClr val="0070C0"/>
                </a:solidFill>
              </a:rPr>
              <a:t>ă</a:t>
            </a:r>
            <a:r>
              <a:rPr lang="en-US" altLang="en-GB" sz="2000">
                <a:solidFill>
                  <a:srgbClr val="0070C0"/>
                </a:solidFill>
              </a:rPr>
              <a:t>m 2017</a:t>
            </a:r>
            <a:r>
              <a:rPr lang="en-US" altLang="en-GB" sz="2000"/>
              <a:t>, Google cho ra mắt bài b</a:t>
            </a:r>
            <a:r>
              <a:rPr lang="en-US" altLang="en-US" sz="2000"/>
              <a:t>á</a:t>
            </a:r>
            <a:r>
              <a:rPr lang="en-US" altLang="en-GB" sz="2000"/>
              <a:t>o </a:t>
            </a:r>
            <a:r>
              <a:rPr lang="en-US" altLang="en-GB" sz="2000" b="1"/>
              <a:t>“Attention is all you need” </a:t>
            </a:r>
            <a:r>
              <a:rPr lang="en-US" altLang="en-GB" sz="2000" b="1" baseline="30000"/>
              <a:t>[1]</a:t>
            </a:r>
            <a:r>
              <a:rPr lang="en-US" altLang="en-GB" sz="2000"/>
              <a:t>, </a:t>
            </a:r>
            <a:r>
              <a:rPr lang="en-US" altLang="en-US" sz="2000"/>
              <a:t>đ</a:t>
            </a:r>
            <a:r>
              <a:rPr lang="en-US" altLang="en-GB" sz="2000"/>
              <a:t>ề xuất kiến tr</a:t>
            </a:r>
            <a:r>
              <a:rPr lang="en-US" altLang="en-US" sz="2000"/>
              <a:t>ú</a:t>
            </a:r>
            <a:r>
              <a:rPr lang="en-US" altLang="en-GB" sz="2000"/>
              <a:t>c mạng mang t</a:t>
            </a:r>
            <a:r>
              <a:rPr lang="en-US" altLang="en-US" sz="2000"/>
              <a:t>ê</a:t>
            </a:r>
            <a:r>
              <a:rPr lang="en-US" altLang="en-GB" sz="2000"/>
              <a:t>n </a:t>
            </a:r>
            <a:r>
              <a:rPr lang="en-US" altLang="en-GB" sz="2000">
                <a:highlight>
                  <a:srgbClr val="FFFF00"/>
                </a:highlight>
              </a:rPr>
              <a:t>Transformer</a:t>
            </a:r>
            <a:r>
              <a:rPr lang="en-US" altLang="en-GB" sz="2000"/>
              <a:t>. </a:t>
            </a:r>
            <a:br>
              <a:rPr lang="en-US" altLang="en-GB" sz="2000"/>
            </a:br>
            <a:br>
              <a:rPr lang="en-US" altLang="en-GB" sz="2000"/>
            </a:br>
            <a:r>
              <a:rPr lang="en-US" altLang="en-GB" sz="2000"/>
              <a:t>Transformer:</a:t>
            </a:r>
            <a:br>
              <a:rPr lang="en-US" altLang="en-GB" sz="2000"/>
            </a:br>
            <a:r>
              <a:rPr lang="en-US" altLang="en-GB" sz="2000"/>
              <a:t>+ Vẫn sử dụng cấu tr</a:t>
            </a:r>
            <a:r>
              <a:rPr lang="en-US" altLang="en-US" sz="2000"/>
              <a:t>ú</a:t>
            </a:r>
            <a:r>
              <a:rPr lang="en-US" altLang="en-GB" sz="2000"/>
              <a:t>c encoder-decoder, xếp chồng c</a:t>
            </a:r>
            <a:r>
              <a:rPr lang="en-US" altLang="en-US" sz="2000"/>
              <a:t>á</a:t>
            </a:r>
            <a:r>
              <a:rPr lang="en-US" altLang="en-GB" sz="2000"/>
              <a:t>c lớp Self-Attention và c</a:t>
            </a:r>
            <a:r>
              <a:rPr lang="en-US" altLang="en-US" sz="2000"/>
              <a:t>á</a:t>
            </a:r>
            <a:r>
              <a:rPr lang="en-US" altLang="en-GB" sz="2000"/>
              <a:t>c mạng feed-forward (truyền thẳng)</a:t>
            </a:r>
            <a:br>
              <a:rPr lang="en-US" altLang="en-GB" sz="2000"/>
            </a:br>
            <a:r>
              <a:rPr lang="en-US" altLang="en-GB" sz="2000"/>
              <a:t>+ Loại bỏ hoàn toàn c</a:t>
            </a:r>
            <a:r>
              <a:rPr lang="en-US" altLang="en-US" sz="2000"/>
              <a:t>á</a:t>
            </a:r>
            <a:r>
              <a:rPr lang="en-US" altLang="en-GB" sz="2000"/>
              <a:t>c lớp hồi quy và t</a:t>
            </a:r>
            <a:r>
              <a:rPr lang="en-US" altLang="en-US" sz="2000"/>
              <a:t>í</a:t>
            </a:r>
            <a:r>
              <a:rPr lang="en-US" altLang="en-GB" sz="2000"/>
              <a:t>ch chập, thay vào </a:t>
            </a:r>
            <a:r>
              <a:rPr lang="en-US" altLang="en-US" sz="2000"/>
              <a:t>đó</a:t>
            </a:r>
            <a:r>
              <a:rPr lang="en-US" altLang="en-GB" sz="2000"/>
              <a:t> chỉ dựa hoàn toàn vào c</a:t>
            </a:r>
            <a:r>
              <a:rPr lang="en-US" altLang="en-US" sz="2000"/>
              <a:t>ơ</a:t>
            </a:r>
            <a:r>
              <a:rPr lang="en-US" altLang="en-GB" sz="2000"/>
              <a:t> chế attention </a:t>
            </a:r>
            <a:r>
              <a:rPr lang="en-US" altLang="en-US" sz="2000"/>
              <a:t>đ</a:t>
            </a:r>
            <a:r>
              <a:rPr lang="en-US" altLang="en-GB" sz="2000"/>
              <a:t>ể r</a:t>
            </a:r>
            <a:r>
              <a:rPr lang="en-US" altLang="en-US" sz="2000"/>
              <a:t>ú</a:t>
            </a:r>
            <a:r>
              <a:rPr lang="en-US" altLang="en-GB" sz="2000"/>
              <a:t>t ra c</a:t>
            </a:r>
            <a:r>
              <a:rPr lang="en-US" altLang="en-US" sz="2000"/>
              <a:t>á</a:t>
            </a:r>
            <a:r>
              <a:rPr lang="en-US" altLang="en-GB" sz="2000"/>
              <a:t>c phụ thuộc toàn cục giữa </a:t>
            </a:r>
            <a:r>
              <a:rPr lang="en-US" altLang="en-US" sz="2000"/>
              <a:t>đ</a:t>
            </a:r>
            <a:r>
              <a:rPr lang="en-US" altLang="en-GB" sz="2000"/>
              <a:t>ầu vào và </a:t>
            </a:r>
            <a:r>
              <a:rPr lang="en-US" altLang="en-US" sz="2000"/>
              <a:t>đ</a:t>
            </a:r>
            <a:r>
              <a:rPr lang="en-US" altLang="en-GB" sz="2000"/>
              <a:t>ầu ra.</a:t>
            </a:r>
            <a:br>
              <a:rPr lang="en-US" altLang="en-GB" sz="2000"/>
            </a:br>
            <a:br>
              <a:rPr lang="en-US" altLang="en-GB" sz="2000"/>
            </a:br>
            <a:r>
              <a:rPr lang="en-US" altLang="en-GB" sz="2000"/>
              <a:t>=&gt; C</a:t>
            </a:r>
            <a:r>
              <a:rPr lang="en-US" altLang="en-US" sz="2000"/>
              <a:t>ơ</a:t>
            </a:r>
            <a:r>
              <a:rPr lang="en-US" altLang="en-GB" sz="2000"/>
              <a:t> chế này cho ph</a:t>
            </a:r>
            <a:r>
              <a:rPr lang="en-US" altLang="en-US" sz="2000"/>
              <a:t>é</a:t>
            </a:r>
            <a:r>
              <a:rPr lang="en-US" altLang="en-GB" sz="2000"/>
              <a:t>p khả n</a:t>
            </a:r>
            <a:r>
              <a:rPr lang="en-US" altLang="en-US" sz="2000"/>
              <a:t>ă</a:t>
            </a:r>
            <a:r>
              <a:rPr lang="en-US" altLang="en-GB" sz="2000"/>
              <a:t>ng song song h</a:t>
            </a:r>
            <a:r>
              <a:rPr lang="en-US" altLang="en-US" sz="2000"/>
              <a:t>ó</a:t>
            </a:r>
            <a:r>
              <a:rPr lang="en-US" altLang="en-GB" sz="2000"/>
              <a:t>a, từ </a:t>
            </a:r>
            <a:r>
              <a:rPr lang="en-US" altLang="en-US" sz="2000"/>
              <a:t>đó</a:t>
            </a:r>
            <a:r>
              <a:rPr lang="en-US" altLang="en-GB" sz="2000"/>
              <a:t> </a:t>
            </a:r>
            <a:r>
              <a:rPr lang="en-US" altLang="en-GB" sz="2000">
                <a:solidFill>
                  <a:srgbClr val="0070C0"/>
                </a:solidFill>
              </a:rPr>
              <a:t>giảm mạnh thời gian huấn luyện</a:t>
            </a:r>
            <a:br>
              <a:rPr lang="en-US" altLang="en-GB" sz="2000">
                <a:solidFill>
                  <a:srgbClr val="0070C0"/>
                </a:solidFill>
              </a:rPr>
            </a:br>
            <a:br>
              <a:rPr lang="en-US" altLang="en-GB" sz="2000">
                <a:solidFill>
                  <a:srgbClr val="0070C0"/>
                </a:solidFill>
              </a:rPr>
            </a:br>
            <a:r>
              <a:rPr lang="en-US" altLang="en-GB" sz="2000">
                <a:effectLst/>
                <a:sym typeface="+mn-ea"/>
              </a:rPr>
              <a:t>Tr</a:t>
            </a:r>
            <a:r>
              <a:rPr lang="en-US" altLang="en-US" sz="2000">
                <a:effectLst/>
                <a:sym typeface="+mn-ea"/>
              </a:rPr>
              <a:t>ư</a:t>
            </a:r>
            <a:r>
              <a:rPr lang="en-US" altLang="en-GB" sz="2000">
                <a:effectLst/>
                <a:sym typeface="+mn-ea"/>
              </a:rPr>
              <a:t>ớc khi Transformer ra </a:t>
            </a:r>
            <a:r>
              <a:rPr lang="en-US" altLang="en-US" sz="2000">
                <a:effectLst/>
                <a:sym typeface="+mn-ea"/>
              </a:rPr>
              <a:t>đ</a:t>
            </a:r>
            <a:r>
              <a:rPr lang="en-US" altLang="en-GB" sz="2000">
                <a:effectLst/>
                <a:sym typeface="+mn-ea"/>
              </a:rPr>
              <a:t>ời, c</a:t>
            </a:r>
            <a:r>
              <a:rPr lang="en-US" altLang="en-US" sz="2000">
                <a:effectLst/>
                <a:sym typeface="+mn-ea"/>
              </a:rPr>
              <a:t>á</a:t>
            </a:r>
            <a:r>
              <a:rPr lang="en-US" altLang="en-GB" sz="2000">
                <a:effectLst/>
                <a:sym typeface="+mn-ea"/>
              </a:rPr>
              <a:t>c mô h</a:t>
            </a:r>
            <a:r>
              <a:rPr lang="en-US" altLang="en-US" sz="2000">
                <a:effectLst/>
                <a:sym typeface="+mn-ea"/>
              </a:rPr>
              <a:t>ì</a:t>
            </a:r>
            <a:r>
              <a:rPr lang="en-US" altLang="en-GB" sz="2000">
                <a:effectLst/>
                <a:sym typeface="+mn-ea"/>
              </a:rPr>
              <a:t>nh c</a:t>
            </a:r>
            <a:r>
              <a:rPr lang="en-US" altLang="en-US" sz="2000">
                <a:effectLst/>
                <a:sym typeface="+mn-ea"/>
              </a:rPr>
              <a:t>ũ</a:t>
            </a:r>
            <a:r>
              <a:rPr lang="en-US" altLang="en-GB" sz="2000">
                <a:effectLst/>
                <a:sym typeface="+mn-ea"/>
              </a:rPr>
              <a:t> nh</a:t>
            </a:r>
            <a:r>
              <a:rPr lang="en-US" altLang="en-US" sz="2000">
                <a:effectLst/>
                <a:sym typeface="+mn-ea"/>
              </a:rPr>
              <a:t>ư</a:t>
            </a:r>
            <a:r>
              <a:rPr lang="en-US" altLang="en-GB" sz="2000">
                <a:effectLst/>
                <a:sym typeface="+mn-ea"/>
              </a:rPr>
              <a:t> word2vec sử dụng Static Representation (biểu diễn t</a:t>
            </a:r>
            <a:r>
              <a:rPr lang="en-US" altLang="en-US" sz="2000">
                <a:effectLst/>
                <a:sym typeface="+mn-ea"/>
              </a:rPr>
              <a:t>ĩ</a:t>
            </a:r>
            <a:r>
              <a:rPr lang="en-US" altLang="en-GB" sz="2000">
                <a:effectLst/>
                <a:sym typeface="+mn-ea"/>
              </a:rPr>
              <a:t>nh) tức là một từ luôn cố </a:t>
            </a:r>
            <a:r>
              <a:rPr lang="en-US" altLang="en-US" sz="2000">
                <a:effectLst/>
                <a:sym typeface="+mn-ea"/>
              </a:rPr>
              <a:t>đ</a:t>
            </a:r>
            <a:r>
              <a:rPr lang="en-US" altLang="en-GB" sz="2000">
                <a:effectLst/>
                <a:sym typeface="+mn-ea"/>
              </a:rPr>
              <a:t>ịnh 1 vector duy nhất d</a:t>
            </a:r>
            <a:r>
              <a:rPr lang="en-US" altLang="en-US" sz="2000">
                <a:effectLst/>
                <a:sym typeface="+mn-ea"/>
              </a:rPr>
              <a:t>ù</a:t>
            </a:r>
            <a:r>
              <a:rPr lang="en-US" altLang="en-GB" sz="2000">
                <a:effectLst/>
                <a:sym typeface="+mn-ea"/>
              </a:rPr>
              <a:t> n</a:t>
            </a:r>
            <a:r>
              <a:rPr lang="en-US" altLang="en-US" sz="2000">
                <a:effectLst/>
                <a:sym typeface="+mn-ea"/>
              </a:rPr>
              <a:t>ó</a:t>
            </a:r>
            <a:r>
              <a:rPr lang="en-US" altLang="en-GB" sz="2000">
                <a:effectLst/>
                <a:sym typeface="+mn-ea"/>
              </a:rPr>
              <a:t> nằm trong c</a:t>
            </a:r>
            <a:r>
              <a:rPr lang="en-US" altLang="en-US" sz="2000">
                <a:effectLst/>
                <a:sym typeface="+mn-ea"/>
              </a:rPr>
              <a:t>â</a:t>
            </a:r>
            <a:r>
              <a:rPr lang="en-US" altLang="en-GB" sz="2000">
                <a:effectLst/>
                <a:sym typeface="+mn-ea"/>
              </a:rPr>
              <a:t>u nào.</a:t>
            </a:r>
            <a:br>
              <a:rPr lang="en-US" altLang="en-GB" sz="2000">
                <a:solidFill>
                  <a:srgbClr val="0070C0"/>
                </a:solidFill>
              </a:rPr>
            </a:br>
            <a:br>
              <a:rPr lang="en-US" altLang="en-GB" sz="2000">
                <a:solidFill>
                  <a:srgbClr val="0070C0"/>
                </a:solidFill>
              </a:rPr>
            </a:br>
            <a:br>
              <a:rPr lang="en-US" altLang="en-GB" sz="1500">
                <a:solidFill>
                  <a:schemeClr val="tx1"/>
                </a:solidFill>
              </a:rPr>
            </a:br>
            <a:r>
              <a:rPr lang="en-US" altLang="en-GB" sz="1500">
                <a:solidFill>
                  <a:schemeClr val="tx1"/>
                </a:solidFill>
              </a:rPr>
              <a:t>[</a:t>
            </a:r>
            <a:r>
              <a:rPr lang="en-US" altLang="en-GB" sz="1500">
                <a:solidFill>
                  <a:schemeClr val="tx1"/>
                </a:solidFill>
              </a:rPr>
              <a:t>1]: Vaswani, A., Shazeer, N., Parmar, N., Uszkoreit, J., Jones, L., Gomez, A. N., Kaiser, </a:t>
            </a:r>
            <a:r>
              <a:rPr lang="en-US" altLang="en-US" sz="1500">
                <a:solidFill>
                  <a:schemeClr val="tx1"/>
                </a:solidFill>
              </a:rPr>
              <a:t>Ł</a:t>
            </a:r>
            <a:r>
              <a:rPr lang="en-US" altLang="en-GB" sz="1500">
                <a:solidFill>
                  <a:schemeClr val="tx1"/>
                </a:solidFill>
              </a:rPr>
              <a:t>., &amp; Polosukhin, I. (2017). "Attention Is All You Need". Advances in </a:t>
            </a:r>
            <a:br>
              <a:rPr lang="en-US" altLang="en-GB" sz="1500">
                <a:solidFill>
                  <a:schemeClr val="tx1"/>
                </a:solidFill>
              </a:rPr>
            </a:br>
            <a:r>
              <a:rPr lang="en-US" altLang="en-GB" sz="1500">
                <a:solidFill>
                  <a:schemeClr val="tx1"/>
                </a:solidFill>
              </a:rPr>
              <a:t>Neural Information Processing Systems (NeurIPS) 30. https://arxiv.org/abs/1706.03762</a:t>
            </a:r>
            <a:endParaRPr lang="en-US" altLang="en-GB" sz="150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34620" y="69850"/>
            <a:ext cx="11724640" cy="6718300"/>
          </a:xfrm>
        </p:spPr>
        <p:txBody>
          <a:bodyPr>
            <a:noAutofit/>
          </a:bodyPr>
          <a:p>
            <a:r>
              <a:rPr lang="en-US" altLang="en-GB" sz="3500"/>
              <a:t>1. </a:t>
            </a:r>
            <a:r>
              <a:rPr lang="en-US" altLang="en-US" sz="3500"/>
              <a:t>Đ</a:t>
            </a:r>
            <a:r>
              <a:rPr lang="en-US" altLang="en-GB" sz="3500"/>
              <a:t>ặt vấn </a:t>
            </a:r>
            <a:r>
              <a:rPr lang="en-US" altLang="en-US" sz="3500"/>
              <a:t>đ</a:t>
            </a:r>
            <a:r>
              <a:rPr lang="en-US" altLang="en-GB" sz="3500"/>
              <a:t>ề</a:t>
            </a:r>
            <a:br>
              <a:rPr lang="en-US" altLang="en-GB" sz="2500"/>
            </a:br>
            <a:br>
              <a:rPr lang="en-US" altLang="en-GB" sz="1800"/>
            </a:br>
            <a:r>
              <a:rPr lang="en-US" altLang="en-GB" sz="1800">
                <a:solidFill>
                  <a:schemeClr val="tx1"/>
                </a:solidFill>
              </a:rPr>
              <a:t>Trong NLP, nhu cầu so s</a:t>
            </a:r>
            <a:r>
              <a:rPr lang="en-US" altLang="en-US" sz="1800">
                <a:solidFill>
                  <a:schemeClr val="tx1"/>
                </a:solidFill>
              </a:rPr>
              <a:t>á</a:t>
            </a:r>
            <a:r>
              <a:rPr lang="en-US" altLang="en-GB" sz="1800">
                <a:solidFill>
                  <a:schemeClr val="tx1"/>
                </a:solidFill>
              </a:rPr>
              <a:t>nh 2 c</a:t>
            </a:r>
            <a:r>
              <a:rPr lang="en-US" altLang="en-US" sz="1800">
                <a:solidFill>
                  <a:schemeClr val="tx1"/>
                </a:solidFill>
              </a:rPr>
              <a:t>â</a:t>
            </a:r>
            <a:r>
              <a:rPr lang="en-US" altLang="en-GB" sz="1800">
                <a:solidFill>
                  <a:schemeClr val="tx1"/>
                </a:solidFill>
              </a:rPr>
              <a:t>u rất lớn, </a:t>
            </a:r>
            <a:r>
              <a:rPr lang="en-US" altLang="en-US" sz="1800">
                <a:solidFill>
                  <a:schemeClr val="tx1"/>
                </a:solidFill>
              </a:rPr>
              <a:t>đâ</a:t>
            </a:r>
            <a:r>
              <a:rPr lang="en-US" altLang="en-GB" sz="1800">
                <a:solidFill>
                  <a:schemeClr val="tx1"/>
                </a:solidFill>
              </a:rPr>
              <a:t>y là x</a:t>
            </a:r>
            <a:r>
              <a:rPr lang="en-US" altLang="en-US" sz="1800">
                <a:solidFill>
                  <a:schemeClr val="tx1"/>
                </a:solidFill>
              </a:rPr>
              <a:t>ươ</a:t>
            </a:r>
            <a:r>
              <a:rPr lang="en-US" altLang="en-GB" sz="1800">
                <a:solidFill>
                  <a:schemeClr val="tx1"/>
                </a:solidFill>
              </a:rPr>
              <a:t>ng sống vận hành hầu hết c</a:t>
            </a:r>
            <a:r>
              <a:rPr lang="en-US" altLang="en-US" sz="1800">
                <a:solidFill>
                  <a:schemeClr val="tx1"/>
                </a:solidFill>
              </a:rPr>
              <a:t>á</a:t>
            </a:r>
            <a:r>
              <a:rPr lang="en-US" altLang="en-GB" sz="1800">
                <a:solidFill>
                  <a:schemeClr val="tx1"/>
                </a:solidFill>
              </a:rPr>
              <a:t>c hệ thống AI xử l</a:t>
            </a:r>
            <a:r>
              <a:rPr lang="en-US" altLang="en-US" sz="1800">
                <a:solidFill>
                  <a:schemeClr val="tx1"/>
                </a:solidFill>
              </a:rPr>
              <a:t>ý</a:t>
            </a:r>
            <a:r>
              <a:rPr lang="en-US" altLang="en-GB" sz="1800">
                <a:solidFill>
                  <a:schemeClr val="tx1"/>
                </a:solidFill>
              </a:rPr>
              <a:t> ngôn ngữ thực tế tại c</a:t>
            </a:r>
            <a:r>
              <a:rPr lang="en-US" altLang="en-US" sz="1800">
                <a:solidFill>
                  <a:schemeClr val="tx1"/>
                </a:solidFill>
              </a:rPr>
              <a:t>á</a:t>
            </a:r>
            <a:r>
              <a:rPr lang="en-US" altLang="en-GB" sz="1800">
                <a:solidFill>
                  <a:schemeClr val="tx1"/>
                </a:solidFill>
              </a:rPr>
              <a:t>c doanh nghiệp  -&gt; Tạo ra sự chuyển dịch bắt buộc: từ </a:t>
            </a:r>
            <a:r>
              <a:rPr lang="en-US" altLang="en-GB" sz="1800">
                <a:solidFill>
                  <a:srgbClr val="0070C0"/>
                </a:solidFill>
              </a:rPr>
              <a:t>t</a:t>
            </a:r>
            <a:r>
              <a:rPr lang="en-US" altLang="en-US" sz="1800">
                <a:solidFill>
                  <a:srgbClr val="0070C0"/>
                </a:solidFill>
              </a:rPr>
              <a:t>ì</a:t>
            </a:r>
            <a:r>
              <a:rPr lang="en-US" altLang="en-GB" sz="1800">
                <a:solidFill>
                  <a:srgbClr val="0070C0"/>
                </a:solidFill>
              </a:rPr>
              <a:t>m kiếm theo từ kh</a:t>
            </a:r>
            <a:r>
              <a:rPr lang="en-US" altLang="en-US" sz="1800">
                <a:solidFill>
                  <a:srgbClr val="0070C0"/>
                </a:solidFill>
              </a:rPr>
              <a:t>ó</a:t>
            </a:r>
            <a:r>
              <a:rPr lang="en-US" altLang="en-GB" sz="1800">
                <a:solidFill>
                  <a:srgbClr val="0070C0"/>
                </a:solidFill>
              </a:rPr>
              <a:t>a </a:t>
            </a:r>
            <a:r>
              <a:rPr lang="en-US" altLang="en-GB" sz="1800">
                <a:solidFill>
                  <a:schemeClr val="tx1"/>
                </a:solidFill>
              </a:rPr>
              <a:t>(Lexical) sang </a:t>
            </a:r>
            <a:r>
              <a:rPr lang="en-US" altLang="en-GB" sz="1800">
                <a:solidFill>
                  <a:srgbClr val="0070C0"/>
                </a:solidFill>
              </a:rPr>
              <a:t>t</a:t>
            </a:r>
            <a:r>
              <a:rPr lang="en-US" altLang="en-US" sz="1800">
                <a:solidFill>
                  <a:srgbClr val="0070C0"/>
                </a:solidFill>
              </a:rPr>
              <a:t>ì</a:t>
            </a:r>
            <a:r>
              <a:rPr lang="en-US" altLang="en-GB" sz="1800">
                <a:solidFill>
                  <a:srgbClr val="0070C0"/>
                </a:solidFill>
              </a:rPr>
              <a:t>m kiếm theo ngữ ngh</a:t>
            </a:r>
            <a:r>
              <a:rPr lang="en-US" altLang="en-US" sz="1800">
                <a:solidFill>
                  <a:srgbClr val="0070C0"/>
                </a:solidFill>
              </a:rPr>
              <a:t>ĩ</a:t>
            </a:r>
            <a:r>
              <a:rPr lang="en-US" altLang="en-GB" sz="1800">
                <a:solidFill>
                  <a:srgbClr val="0070C0"/>
                </a:solidFill>
              </a:rPr>
              <a:t>a</a:t>
            </a:r>
            <a:r>
              <a:rPr lang="en-US" altLang="en-GB" sz="1800">
                <a:solidFill>
                  <a:schemeClr val="tx1"/>
                </a:solidFill>
              </a:rPr>
              <a:t> (semantic)</a:t>
            </a:r>
            <a:br>
              <a:rPr lang="en-US" altLang="en-GB" sz="1800">
                <a:solidFill>
                  <a:schemeClr val="tx1"/>
                </a:solidFill>
              </a:rPr>
            </a:br>
            <a:br>
              <a:rPr lang="en-US" altLang="en-GB" sz="1800">
                <a:solidFill>
                  <a:schemeClr val="tx1"/>
                </a:solidFill>
              </a:rPr>
            </a:br>
            <a:r>
              <a:rPr lang="en-US" altLang="en-GB" sz="1800">
                <a:solidFill>
                  <a:srgbClr val="0070C0"/>
                </a:solidFill>
              </a:rPr>
              <a:t>N</a:t>
            </a:r>
            <a:r>
              <a:rPr lang="en-US" altLang="en-US" sz="1800">
                <a:solidFill>
                  <a:srgbClr val="0070C0"/>
                </a:solidFill>
              </a:rPr>
              <a:t>ă</a:t>
            </a:r>
            <a:r>
              <a:rPr lang="en-US" altLang="en-GB" sz="1800">
                <a:solidFill>
                  <a:srgbClr val="0070C0"/>
                </a:solidFill>
              </a:rPr>
              <a:t>m 2018</a:t>
            </a:r>
            <a:r>
              <a:rPr lang="en-US" altLang="en-GB" sz="1800">
                <a:solidFill>
                  <a:schemeClr val="tx1"/>
                </a:solidFill>
              </a:rPr>
              <a:t>, </a:t>
            </a:r>
            <a:r>
              <a:rPr lang="en-US" altLang="en-GB" sz="1800">
                <a:solidFill>
                  <a:schemeClr val="tx1"/>
                </a:solidFill>
                <a:highlight>
                  <a:srgbClr val="FFFF00"/>
                </a:highlight>
              </a:rPr>
              <a:t>BERT </a:t>
            </a:r>
            <a:r>
              <a:rPr lang="en-US" altLang="en-GB" sz="1800" baseline="30000">
                <a:solidFill>
                  <a:schemeClr val="tx1"/>
                </a:solidFill>
                <a:highlight>
                  <a:srgbClr val="FFFF00"/>
                </a:highlight>
              </a:rPr>
              <a:t>[2]</a:t>
            </a:r>
            <a:r>
              <a:rPr lang="en-US" altLang="en-GB" sz="1800" baseline="30000">
                <a:solidFill>
                  <a:schemeClr val="tx1"/>
                </a:solidFill>
              </a:rPr>
              <a:t> </a:t>
            </a:r>
            <a:r>
              <a:rPr lang="en-US" altLang="en-GB" sz="1800">
                <a:solidFill>
                  <a:schemeClr val="tx1"/>
                </a:solidFill>
              </a:rPr>
              <a:t>ra </a:t>
            </a:r>
            <a:r>
              <a:rPr lang="en-US" altLang="en-US" sz="1800">
                <a:solidFill>
                  <a:schemeClr val="tx1"/>
                </a:solidFill>
              </a:rPr>
              <a:t>đ</a:t>
            </a:r>
            <a:r>
              <a:rPr lang="en-US" altLang="en-GB" sz="1800">
                <a:solidFill>
                  <a:schemeClr val="tx1"/>
                </a:solidFill>
              </a:rPr>
              <a:t>ời bằng c</a:t>
            </a:r>
            <a:r>
              <a:rPr lang="en-US" altLang="en-US" sz="1800">
                <a:solidFill>
                  <a:schemeClr val="tx1"/>
                </a:solidFill>
              </a:rPr>
              <a:t>á</a:t>
            </a:r>
            <a:r>
              <a:rPr lang="en-US" altLang="en-GB" sz="1800">
                <a:solidFill>
                  <a:schemeClr val="tx1"/>
                </a:solidFill>
              </a:rPr>
              <a:t>ch </a:t>
            </a:r>
            <a:r>
              <a:rPr lang="en-US" altLang="en-GB" sz="1800" b="1">
                <a:solidFill>
                  <a:srgbClr val="0070C0"/>
                </a:solidFill>
              </a:rPr>
              <a:t>kế thừa và xếp chồng c</a:t>
            </a:r>
            <a:r>
              <a:rPr lang="en-US" altLang="en-US" sz="1800" b="1">
                <a:solidFill>
                  <a:srgbClr val="0070C0"/>
                </a:solidFill>
              </a:rPr>
              <a:t>á</a:t>
            </a:r>
            <a:r>
              <a:rPr lang="en-US" altLang="en-GB" sz="1800" b="1">
                <a:solidFill>
                  <a:srgbClr val="0070C0"/>
                </a:solidFill>
              </a:rPr>
              <a:t>c lớp </a:t>
            </a:r>
            <a:r>
              <a:rPr lang="en-US" altLang="en-GB" sz="1800" b="1" u="sng">
                <a:solidFill>
                  <a:srgbClr val="0070C0"/>
                </a:solidFill>
              </a:rPr>
              <a:t>Encoder</a:t>
            </a:r>
            <a:r>
              <a:rPr lang="en-US" altLang="en-GB" sz="1800" b="1">
                <a:solidFill>
                  <a:srgbClr val="0070C0"/>
                </a:solidFill>
              </a:rPr>
              <a:t> của Transformer</a:t>
            </a:r>
            <a:r>
              <a:rPr lang="en-US" altLang="en-GB" sz="1800">
                <a:solidFill>
                  <a:schemeClr val="tx1"/>
                </a:solidFill>
              </a:rPr>
              <a:t>. Khi </a:t>
            </a:r>
            <a:r>
              <a:rPr lang="en-US" altLang="en-US" sz="1800">
                <a:solidFill>
                  <a:schemeClr val="tx1"/>
                </a:solidFill>
              </a:rPr>
              <a:t>á</a:t>
            </a:r>
            <a:r>
              <a:rPr lang="en-US" altLang="en-GB" sz="1800">
                <a:solidFill>
                  <a:schemeClr val="tx1"/>
                </a:solidFill>
              </a:rPr>
              <a:t>p dụng BERT vào bài to</a:t>
            </a:r>
            <a:r>
              <a:rPr lang="en-US" altLang="en-US" sz="1800">
                <a:solidFill>
                  <a:schemeClr val="tx1"/>
                </a:solidFill>
              </a:rPr>
              <a:t>á</a:t>
            </a:r>
            <a:r>
              <a:rPr lang="en-US" altLang="en-GB" sz="1800">
                <a:solidFill>
                  <a:schemeClr val="tx1"/>
                </a:solidFill>
              </a:rPr>
              <a:t>n so s</a:t>
            </a:r>
            <a:r>
              <a:rPr lang="en-US" altLang="en-US" sz="1800">
                <a:solidFill>
                  <a:schemeClr val="tx1"/>
                </a:solidFill>
              </a:rPr>
              <a:t>á</a:t>
            </a:r>
            <a:r>
              <a:rPr lang="en-US" altLang="en-GB" sz="1800">
                <a:solidFill>
                  <a:schemeClr val="tx1"/>
                </a:solidFill>
              </a:rPr>
              <a:t>nh 2 c</a:t>
            </a:r>
            <a:r>
              <a:rPr lang="en-US" altLang="en-US" sz="1800">
                <a:solidFill>
                  <a:schemeClr val="tx1"/>
                </a:solidFill>
              </a:rPr>
              <a:t>â</a:t>
            </a:r>
            <a:r>
              <a:rPr lang="en-US" altLang="en-GB" sz="1800">
                <a:solidFill>
                  <a:schemeClr val="tx1"/>
                </a:solidFill>
              </a:rPr>
              <a:t>u, BERT sẽ gh</a:t>
            </a:r>
            <a:r>
              <a:rPr lang="en-US" altLang="en-US" sz="1800">
                <a:solidFill>
                  <a:schemeClr val="tx1"/>
                </a:solidFill>
              </a:rPr>
              <a:t>é</a:t>
            </a:r>
            <a:r>
              <a:rPr lang="en-US" altLang="en-GB" sz="1800">
                <a:solidFill>
                  <a:schemeClr val="tx1"/>
                </a:solidFill>
              </a:rPr>
              <a:t>p 2 c</a:t>
            </a:r>
            <a:r>
              <a:rPr lang="en-US" altLang="en-US" sz="1800">
                <a:solidFill>
                  <a:schemeClr val="tx1"/>
                </a:solidFill>
              </a:rPr>
              <a:t>â</a:t>
            </a:r>
            <a:r>
              <a:rPr lang="en-US" altLang="en-GB" sz="1800">
                <a:solidFill>
                  <a:schemeClr val="tx1"/>
                </a:solidFill>
              </a:rPr>
              <a:t>u lại thành 01 chuỗi duy nhất theo </a:t>
            </a:r>
            <a:r>
              <a:rPr lang="en-US" altLang="en-US" sz="1800">
                <a:solidFill>
                  <a:schemeClr val="tx1"/>
                </a:solidFill>
              </a:rPr>
              <a:t>đ</a:t>
            </a:r>
            <a:r>
              <a:rPr lang="en-US" altLang="en-GB" sz="1800">
                <a:solidFill>
                  <a:schemeClr val="tx1"/>
                </a:solidFill>
              </a:rPr>
              <a:t>ịnh dạng: </a:t>
            </a:r>
            <a:br>
              <a:rPr lang="en-US" altLang="en-GB" sz="2000">
                <a:solidFill>
                  <a:schemeClr val="tx1"/>
                </a:solidFill>
              </a:rPr>
            </a:br>
            <a:br>
              <a:rPr lang="en-US" altLang="en-GB" sz="2000">
                <a:solidFill>
                  <a:schemeClr val="tx1"/>
                </a:solidFill>
              </a:rPr>
            </a:br>
            <a:r>
              <a:rPr lang="en-US" altLang="en-GB" sz="2000">
                <a:solidFill>
                  <a:schemeClr val="tx1"/>
                </a:solidFill>
              </a:rPr>
              <a:t>				</a:t>
            </a:r>
            <a:r>
              <a:rPr lang="en-US" altLang="en-GB" sz="2000">
                <a:solidFill>
                  <a:schemeClr val="tx1"/>
                </a:solidFill>
                <a:effectLst>
                  <a:outerShdw blurRad="38100" dist="38100" dir="2700000" algn="tl">
                    <a:srgbClr val="000000">
                      <a:alpha val="43137"/>
                    </a:srgbClr>
                  </a:outerShdw>
                </a:effectLst>
              </a:rPr>
              <a:t>[CLS] C</a:t>
            </a:r>
            <a:r>
              <a:rPr lang="en-US" altLang="en-US" sz="2000">
                <a:solidFill>
                  <a:schemeClr val="tx1"/>
                </a:solidFill>
                <a:effectLst>
                  <a:outerShdw blurRad="38100" dist="38100" dir="2700000" algn="tl">
                    <a:srgbClr val="000000">
                      <a:alpha val="43137"/>
                    </a:srgbClr>
                  </a:outerShdw>
                </a:effectLst>
              </a:rPr>
              <a:t>â</a:t>
            </a:r>
            <a:r>
              <a:rPr lang="en-US" altLang="en-GB" sz="2000">
                <a:solidFill>
                  <a:schemeClr val="tx1"/>
                </a:solidFill>
                <a:effectLst>
                  <a:outerShdw blurRad="38100" dist="38100" dir="2700000" algn="tl">
                    <a:srgbClr val="000000">
                      <a:alpha val="43137"/>
                    </a:srgbClr>
                  </a:outerShdw>
                </a:effectLst>
              </a:rPr>
              <a:t>u A [SEP] C</a:t>
            </a:r>
            <a:r>
              <a:rPr lang="en-US" altLang="en-US" sz="2000">
                <a:solidFill>
                  <a:schemeClr val="tx1"/>
                </a:solidFill>
                <a:effectLst>
                  <a:outerShdw blurRad="38100" dist="38100" dir="2700000" algn="tl">
                    <a:srgbClr val="000000">
                      <a:alpha val="43137"/>
                    </a:srgbClr>
                  </a:outerShdw>
                </a:effectLst>
              </a:rPr>
              <a:t>â</a:t>
            </a:r>
            <a:r>
              <a:rPr lang="en-US" altLang="en-GB" sz="2000">
                <a:solidFill>
                  <a:schemeClr val="tx1"/>
                </a:solidFill>
                <a:effectLst>
                  <a:outerShdw blurRad="38100" dist="38100" dir="2700000" algn="tl">
                    <a:srgbClr val="000000">
                      <a:alpha val="43137"/>
                    </a:srgbClr>
                  </a:outerShdw>
                </a:effectLst>
              </a:rPr>
              <a:t>u B [SEP]</a:t>
            </a:r>
            <a:br>
              <a:rPr lang="en-US" altLang="en-GB" sz="2000">
                <a:solidFill>
                  <a:schemeClr val="tx1"/>
                </a:solidFill>
                <a:effectLst>
                  <a:outerShdw blurRad="38100" dist="38100" dir="2700000" algn="tl">
                    <a:srgbClr val="000000">
                      <a:alpha val="43137"/>
                    </a:srgbClr>
                  </a:outerShdw>
                </a:effectLst>
              </a:rPr>
            </a:br>
            <a:br>
              <a:rPr lang="en-US" altLang="en-GB" sz="2000">
                <a:solidFill>
                  <a:schemeClr val="tx1"/>
                </a:solidFill>
              </a:rPr>
            </a:br>
            <a:r>
              <a:rPr lang="en-US" altLang="en-GB" sz="1500">
                <a:solidFill>
                  <a:schemeClr val="tx1"/>
                </a:solidFill>
              </a:rPr>
              <a:t>Trong </a:t>
            </a:r>
            <a:r>
              <a:rPr lang="en-US" altLang="en-US" sz="1500">
                <a:solidFill>
                  <a:schemeClr val="tx1"/>
                </a:solidFill>
              </a:rPr>
              <a:t>đó</a:t>
            </a:r>
            <a:r>
              <a:rPr lang="en-US" altLang="en-GB" sz="1500">
                <a:solidFill>
                  <a:schemeClr val="tx1"/>
                </a:solidFill>
              </a:rPr>
              <a:t>, [CLS] và [SEP] là hai token </a:t>
            </a:r>
            <a:r>
              <a:rPr lang="en-US" altLang="en-US" sz="1500">
                <a:solidFill>
                  <a:schemeClr val="tx1"/>
                </a:solidFill>
              </a:rPr>
              <a:t>đ</a:t>
            </a:r>
            <a:r>
              <a:rPr lang="en-US" altLang="en-GB" sz="1500">
                <a:solidFill>
                  <a:schemeClr val="tx1"/>
                </a:solidFill>
              </a:rPr>
              <a:t>ặc biệt </a:t>
            </a:r>
            <a:r>
              <a:rPr lang="en-US" altLang="en-US" sz="1500">
                <a:solidFill>
                  <a:schemeClr val="tx1"/>
                </a:solidFill>
              </a:rPr>
              <a:t>đ</a:t>
            </a:r>
            <a:r>
              <a:rPr lang="en-US" altLang="en-GB" sz="1500">
                <a:solidFill>
                  <a:schemeClr val="tx1"/>
                </a:solidFill>
              </a:rPr>
              <a:t>ể gi</a:t>
            </a:r>
            <a:r>
              <a:rPr lang="en-US" altLang="en-US" sz="1500">
                <a:solidFill>
                  <a:schemeClr val="tx1"/>
                </a:solidFill>
              </a:rPr>
              <a:t>ú</a:t>
            </a:r>
            <a:r>
              <a:rPr lang="en-US" altLang="en-GB" sz="1500">
                <a:solidFill>
                  <a:schemeClr val="tx1"/>
                </a:solidFill>
              </a:rPr>
              <a:t>p mô h</a:t>
            </a:r>
            <a:r>
              <a:rPr lang="en-US" altLang="en-US" sz="1500">
                <a:solidFill>
                  <a:schemeClr val="tx1"/>
                </a:solidFill>
              </a:rPr>
              <a:t>ì</a:t>
            </a:r>
            <a:r>
              <a:rPr lang="en-US" altLang="en-GB" sz="1500">
                <a:solidFill>
                  <a:schemeClr val="tx1"/>
                </a:solidFill>
              </a:rPr>
              <a:t>nh hiểu </a:t>
            </a:r>
            <a:r>
              <a:rPr lang="en-US" altLang="en-US" sz="1500">
                <a:solidFill>
                  <a:schemeClr val="tx1"/>
                </a:solidFill>
              </a:rPr>
              <a:t>đư</a:t>
            </a:r>
            <a:r>
              <a:rPr lang="en-US" altLang="en-GB" sz="1500">
                <a:solidFill>
                  <a:schemeClr val="tx1"/>
                </a:solidFill>
              </a:rPr>
              <a:t>ợc cấu tr</a:t>
            </a:r>
            <a:r>
              <a:rPr lang="en-US" altLang="en-US" sz="1500">
                <a:solidFill>
                  <a:schemeClr val="tx1"/>
                </a:solidFill>
              </a:rPr>
              <a:t>ú</a:t>
            </a:r>
            <a:r>
              <a:rPr lang="en-US" altLang="en-GB" sz="1500">
                <a:solidFill>
                  <a:schemeClr val="tx1"/>
                </a:solidFill>
              </a:rPr>
              <a:t>c của v</a:t>
            </a:r>
            <a:r>
              <a:rPr lang="en-US" altLang="en-US" sz="1500">
                <a:solidFill>
                  <a:schemeClr val="tx1"/>
                </a:solidFill>
              </a:rPr>
              <a:t>ă</a:t>
            </a:r>
            <a:r>
              <a:rPr lang="en-US" altLang="en-GB" sz="1500">
                <a:solidFill>
                  <a:schemeClr val="tx1"/>
                </a:solidFill>
              </a:rPr>
              <a:t>n bản </a:t>
            </a:r>
            <a:r>
              <a:rPr lang="en-US" altLang="en-US" sz="1500">
                <a:solidFill>
                  <a:schemeClr val="tx1"/>
                </a:solidFill>
              </a:rPr>
              <a:t>đ</a:t>
            </a:r>
            <a:r>
              <a:rPr lang="en-US" altLang="en-GB" sz="1500">
                <a:solidFill>
                  <a:schemeClr val="tx1"/>
                </a:solidFill>
              </a:rPr>
              <a:t>ầu vào. Khi </a:t>
            </a:r>
            <a:r>
              <a:rPr lang="en-US" altLang="en-US" sz="1500">
                <a:solidFill>
                  <a:schemeClr val="tx1"/>
                </a:solidFill>
              </a:rPr>
              <a:t>đư</a:t>
            </a:r>
            <a:r>
              <a:rPr lang="en-US" altLang="en-GB" sz="1500">
                <a:solidFill>
                  <a:schemeClr val="tx1"/>
                </a:solidFill>
              </a:rPr>
              <a:t>a v</a:t>
            </a:r>
            <a:r>
              <a:rPr lang="en-US" altLang="en-US" sz="1500">
                <a:solidFill>
                  <a:schemeClr val="tx1"/>
                </a:solidFill>
              </a:rPr>
              <a:t>ă</a:t>
            </a:r>
            <a:r>
              <a:rPr lang="en-US" altLang="en-GB" sz="1500">
                <a:solidFill>
                  <a:schemeClr val="tx1"/>
                </a:solidFill>
              </a:rPr>
              <a:t>n bản dạng thô vào BERT, b</a:t>
            </a:r>
            <a:r>
              <a:rPr lang="en-US" altLang="en-US" sz="1500">
                <a:solidFill>
                  <a:schemeClr val="tx1"/>
                </a:solidFill>
              </a:rPr>
              <a:t>ư</a:t>
            </a:r>
            <a:r>
              <a:rPr lang="en-US" altLang="en-GB" sz="1500">
                <a:solidFill>
                  <a:schemeClr val="tx1"/>
                </a:solidFill>
              </a:rPr>
              <a:t>ớc tiền xử l</a:t>
            </a:r>
            <a:r>
              <a:rPr lang="en-US" altLang="en-US" sz="1500">
                <a:solidFill>
                  <a:schemeClr val="tx1"/>
                </a:solidFill>
              </a:rPr>
              <a:t>ý</a:t>
            </a:r>
            <a:r>
              <a:rPr lang="en-US" altLang="en-GB" sz="1500">
                <a:solidFill>
                  <a:schemeClr val="tx1"/>
                </a:solidFill>
              </a:rPr>
              <a:t> (tokenization) sẽ tự </a:t>
            </a:r>
            <a:r>
              <a:rPr lang="en-US" altLang="en-US" sz="1500">
                <a:solidFill>
                  <a:schemeClr val="tx1"/>
                </a:solidFill>
              </a:rPr>
              <a:t>đ</a:t>
            </a:r>
            <a:r>
              <a:rPr lang="en-US" altLang="en-GB" sz="1500">
                <a:solidFill>
                  <a:schemeClr val="tx1"/>
                </a:solidFill>
              </a:rPr>
              <a:t>ộng ch</a:t>
            </a:r>
            <a:r>
              <a:rPr lang="en-US" altLang="en-US" sz="1500">
                <a:solidFill>
                  <a:schemeClr val="tx1"/>
                </a:solidFill>
              </a:rPr>
              <a:t>è</a:t>
            </a:r>
            <a:r>
              <a:rPr lang="en-US" altLang="en-GB" sz="1500">
                <a:solidFill>
                  <a:schemeClr val="tx1"/>
                </a:solidFill>
              </a:rPr>
              <a:t>n th</a:t>
            </a:r>
            <a:r>
              <a:rPr lang="en-US" altLang="en-US" sz="1500">
                <a:solidFill>
                  <a:schemeClr val="tx1"/>
                </a:solidFill>
              </a:rPr>
              <a:t>ê</a:t>
            </a:r>
            <a:r>
              <a:rPr lang="en-US" altLang="en-GB" sz="1500">
                <a:solidFill>
                  <a:schemeClr val="tx1"/>
                </a:solidFill>
              </a:rPr>
              <a:t>m hai token này.</a:t>
            </a:r>
            <a:br>
              <a:rPr lang="en-US" altLang="en-GB" sz="2000">
                <a:solidFill>
                  <a:schemeClr val="tx1"/>
                </a:solidFill>
              </a:rPr>
            </a:br>
            <a:br>
              <a:rPr lang="en-US" altLang="en-GB" sz="2000">
                <a:solidFill>
                  <a:schemeClr val="tx1"/>
                </a:solidFill>
              </a:rPr>
            </a:br>
            <a:r>
              <a:rPr lang="en-US" altLang="en-GB" sz="1800">
                <a:solidFill>
                  <a:schemeClr val="tx1"/>
                </a:solidFill>
              </a:rPr>
              <a:t>Sau </a:t>
            </a:r>
            <a:r>
              <a:rPr lang="en-US" altLang="en-US" sz="1800">
                <a:solidFill>
                  <a:schemeClr val="tx1"/>
                </a:solidFill>
              </a:rPr>
              <a:t>đó</a:t>
            </a:r>
            <a:r>
              <a:rPr lang="en-US" altLang="en-GB" sz="1800">
                <a:solidFill>
                  <a:schemeClr val="tx1"/>
                </a:solidFill>
              </a:rPr>
              <a:t>, toàn bộ chuỗi này </a:t>
            </a:r>
            <a:r>
              <a:rPr lang="en-US" altLang="en-US" sz="1800">
                <a:solidFill>
                  <a:schemeClr val="tx1"/>
                </a:solidFill>
              </a:rPr>
              <a:t>đư</a:t>
            </a:r>
            <a:r>
              <a:rPr lang="en-US" altLang="en-GB" sz="1800">
                <a:solidFill>
                  <a:schemeClr val="tx1"/>
                </a:solidFill>
              </a:rPr>
              <a:t>ợc </a:t>
            </a:r>
            <a:r>
              <a:rPr lang="en-US" altLang="en-US" sz="1800">
                <a:solidFill>
                  <a:schemeClr val="tx1"/>
                </a:solidFill>
              </a:rPr>
              <a:t>đư</a:t>
            </a:r>
            <a:r>
              <a:rPr lang="en-US" altLang="en-GB" sz="1800">
                <a:solidFill>
                  <a:schemeClr val="tx1"/>
                </a:solidFill>
              </a:rPr>
              <a:t>a qua c</a:t>
            </a:r>
            <a:r>
              <a:rPr lang="en-US" altLang="en-US" sz="1800">
                <a:solidFill>
                  <a:schemeClr val="tx1"/>
                </a:solidFill>
              </a:rPr>
              <a:t>á</a:t>
            </a:r>
            <a:r>
              <a:rPr lang="en-US" altLang="en-GB" sz="1800">
                <a:solidFill>
                  <a:schemeClr val="tx1"/>
                </a:solidFill>
              </a:rPr>
              <a:t>c lớp Transformer của BERT. Nhờ c</a:t>
            </a:r>
            <a:r>
              <a:rPr lang="en-US" altLang="en-US" sz="1800">
                <a:solidFill>
                  <a:schemeClr val="tx1"/>
                </a:solidFill>
              </a:rPr>
              <a:t>ơ</a:t>
            </a:r>
            <a:r>
              <a:rPr lang="en-US" altLang="en-GB" sz="1800">
                <a:solidFill>
                  <a:schemeClr val="tx1"/>
                </a:solidFill>
              </a:rPr>
              <a:t> chế Self-Attention, ngay từ lớp </a:t>
            </a:r>
            <a:r>
              <a:rPr lang="en-US" altLang="en-US" sz="1800">
                <a:solidFill>
                  <a:schemeClr val="tx1"/>
                </a:solidFill>
              </a:rPr>
              <a:t>đ</a:t>
            </a:r>
            <a:r>
              <a:rPr lang="en-US" altLang="en-GB" sz="1800">
                <a:solidFill>
                  <a:schemeClr val="tx1"/>
                </a:solidFill>
              </a:rPr>
              <a:t>ầu ti</a:t>
            </a:r>
            <a:r>
              <a:rPr lang="en-US" altLang="en-US" sz="1800">
                <a:solidFill>
                  <a:schemeClr val="tx1"/>
                </a:solidFill>
              </a:rPr>
              <a:t>ê</a:t>
            </a:r>
            <a:r>
              <a:rPr lang="en-US" altLang="en-GB" sz="1800">
                <a:solidFill>
                  <a:schemeClr val="tx1"/>
                </a:solidFill>
              </a:rPr>
              <a:t>n, mỗi từ trong c</a:t>
            </a:r>
            <a:r>
              <a:rPr lang="en-US" altLang="en-US" sz="1800">
                <a:solidFill>
                  <a:schemeClr val="tx1"/>
                </a:solidFill>
              </a:rPr>
              <a:t>â</a:t>
            </a:r>
            <a:r>
              <a:rPr lang="en-US" altLang="en-GB" sz="1800">
                <a:solidFill>
                  <a:schemeClr val="tx1"/>
                </a:solidFill>
              </a:rPr>
              <a:t>u A </a:t>
            </a:r>
            <a:r>
              <a:rPr lang="en-US" altLang="en-US" sz="1800">
                <a:solidFill>
                  <a:schemeClr val="tx1"/>
                </a:solidFill>
              </a:rPr>
              <a:t>đã</a:t>
            </a:r>
            <a:r>
              <a:rPr lang="en-US" altLang="en-GB" sz="1800">
                <a:solidFill>
                  <a:schemeClr val="tx1"/>
                </a:solidFill>
              </a:rPr>
              <a:t> li</a:t>
            </a:r>
            <a:r>
              <a:rPr lang="en-US" altLang="en-US" sz="1800">
                <a:solidFill>
                  <a:schemeClr val="tx1"/>
                </a:solidFill>
              </a:rPr>
              <a:t>ê</a:t>
            </a:r>
            <a:r>
              <a:rPr lang="en-US" altLang="en-GB" sz="1800">
                <a:solidFill>
                  <a:schemeClr val="tx1"/>
                </a:solidFill>
              </a:rPr>
              <a:t>n tục t</a:t>
            </a:r>
            <a:r>
              <a:rPr lang="en-US" altLang="en-US" sz="1800">
                <a:solidFill>
                  <a:schemeClr val="tx1"/>
                </a:solidFill>
              </a:rPr>
              <a:t>í</a:t>
            </a:r>
            <a:r>
              <a:rPr lang="en-US" altLang="en-GB" sz="1800">
                <a:solidFill>
                  <a:schemeClr val="tx1"/>
                </a:solidFill>
              </a:rPr>
              <a:t>nh to</a:t>
            </a:r>
            <a:r>
              <a:rPr lang="en-US" altLang="en-US" sz="1800">
                <a:solidFill>
                  <a:schemeClr val="tx1"/>
                </a:solidFill>
              </a:rPr>
              <a:t>á</a:t>
            </a:r>
            <a:r>
              <a:rPr lang="en-US" altLang="en-GB" sz="1800">
                <a:solidFill>
                  <a:schemeClr val="tx1"/>
                </a:solidFill>
              </a:rPr>
              <a:t>n sự t</a:t>
            </a:r>
            <a:r>
              <a:rPr lang="en-US" altLang="en-US" sz="1800">
                <a:solidFill>
                  <a:schemeClr val="tx1"/>
                </a:solidFill>
              </a:rPr>
              <a:t>ươ</a:t>
            </a:r>
            <a:r>
              <a:rPr lang="en-US" altLang="en-GB" sz="1800">
                <a:solidFill>
                  <a:schemeClr val="tx1"/>
                </a:solidFill>
              </a:rPr>
              <a:t>ng quan với từng từ trong c</a:t>
            </a:r>
            <a:r>
              <a:rPr lang="en-US" altLang="en-US" sz="1800">
                <a:solidFill>
                  <a:schemeClr val="tx1"/>
                </a:solidFill>
              </a:rPr>
              <a:t>â</a:t>
            </a:r>
            <a:r>
              <a:rPr lang="en-US" altLang="en-GB" sz="1800">
                <a:solidFill>
                  <a:schemeClr val="tx1"/>
                </a:solidFill>
              </a:rPr>
              <a:t>u B và ng</a:t>
            </a:r>
            <a:r>
              <a:rPr lang="en-US" altLang="en-US" sz="1800">
                <a:solidFill>
                  <a:schemeClr val="tx1"/>
                </a:solidFill>
              </a:rPr>
              <a:t>ư</a:t>
            </a:r>
            <a:r>
              <a:rPr lang="en-US" altLang="en-GB" sz="1800">
                <a:solidFill>
                  <a:schemeClr val="tx1"/>
                </a:solidFill>
              </a:rPr>
              <a:t>ợc lại.</a:t>
            </a:r>
            <a:br>
              <a:rPr lang="en-US" altLang="en-GB" sz="1800">
                <a:solidFill>
                  <a:schemeClr val="tx1"/>
                </a:solidFill>
              </a:rPr>
            </a:br>
            <a:br>
              <a:rPr lang="en-US" altLang="en-GB" sz="1800">
                <a:solidFill>
                  <a:schemeClr val="tx1"/>
                </a:solidFill>
              </a:rPr>
            </a:br>
            <a:r>
              <a:rPr lang="en-US" altLang="en-US" sz="1800">
                <a:solidFill>
                  <a:srgbClr val="0070C0"/>
                </a:solidFill>
              </a:rPr>
              <a:t>Đ</a:t>
            </a:r>
            <a:r>
              <a:rPr lang="en-US" altLang="en-GB" sz="1800">
                <a:solidFill>
                  <a:srgbClr val="0070C0"/>
                </a:solidFill>
              </a:rPr>
              <a:t>iểm cộng</a:t>
            </a:r>
            <a:r>
              <a:rPr lang="en-US" altLang="en-GB" sz="1800">
                <a:solidFill>
                  <a:schemeClr val="tx1"/>
                </a:solidFill>
              </a:rPr>
              <a:t>: Mô h</a:t>
            </a:r>
            <a:r>
              <a:rPr lang="en-US" altLang="en-US" sz="1800">
                <a:solidFill>
                  <a:schemeClr val="tx1"/>
                </a:solidFill>
              </a:rPr>
              <a:t>ì</a:t>
            </a:r>
            <a:r>
              <a:rPr lang="en-US" altLang="en-GB" sz="1800">
                <a:solidFill>
                  <a:schemeClr val="tx1"/>
                </a:solidFill>
              </a:rPr>
              <a:t>nh hiểu cực kỳ s</a:t>
            </a:r>
            <a:r>
              <a:rPr lang="en-US" altLang="en-US" sz="1800">
                <a:solidFill>
                  <a:schemeClr val="tx1"/>
                </a:solidFill>
              </a:rPr>
              <a:t>â</a:t>
            </a:r>
            <a:r>
              <a:rPr lang="en-US" altLang="en-GB" sz="1800">
                <a:solidFill>
                  <a:schemeClr val="tx1"/>
                </a:solidFill>
              </a:rPr>
              <a:t>u sắc mối quan hệ ngữ cảnh giữa 2 c</a:t>
            </a:r>
            <a:r>
              <a:rPr lang="en-US" altLang="en-US" sz="1800">
                <a:solidFill>
                  <a:schemeClr val="tx1"/>
                </a:solidFill>
              </a:rPr>
              <a:t>â</a:t>
            </a:r>
            <a:r>
              <a:rPr lang="en-US" altLang="en-GB" sz="1800">
                <a:solidFill>
                  <a:schemeClr val="tx1"/>
                </a:solidFill>
              </a:rPr>
              <a:t>u, </a:t>
            </a:r>
            <a:r>
              <a:rPr lang="en-US" altLang="en-US" sz="1800">
                <a:solidFill>
                  <a:schemeClr val="tx1"/>
                </a:solidFill>
              </a:rPr>
              <a:t>đ</a:t>
            </a:r>
            <a:r>
              <a:rPr lang="en-US" altLang="en-GB" sz="1800">
                <a:solidFill>
                  <a:schemeClr val="tx1"/>
                </a:solidFill>
              </a:rPr>
              <a:t>ộ ch</a:t>
            </a:r>
            <a:r>
              <a:rPr lang="en-US" altLang="en-US" sz="1800">
                <a:solidFill>
                  <a:schemeClr val="tx1"/>
                </a:solidFill>
              </a:rPr>
              <a:t>í</a:t>
            </a:r>
            <a:r>
              <a:rPr lang="en-US" altLang="en-GB" sz="1800">
                <a:solidFill>
                  <a:schemeClr val="tx1"/>
                </a:solidFill>
              </a:rPr>
              <a:t>nh x</a:t>
            </a:r>
            <a:r>
              <a:rPr lang="en-US" altLang="en-US" sz="1800">
                <a:solidFill>
                  <a:schemeClr val="tx1"/>
                </a:solidFill>
              </a:rPr>
              <a:t>á</a:t>
            </a:r>
            <a:r>
              <a:rPr lang="en-US" altLang="en-GB" sz="1800">
                <a:solidFill>
                  <a:schemeClr val="tx1"/>
                </a:solidFill>
              </a:rPr>
              <a:t>c rất cao.</a:t>
            </a:r>
            <a:br>
              <a:rPr lang="en-US" altLang="en-GB" sz="1800">
                <a:solidFill>
                  <a:schemeClr val="tx1"/>
                </a:solidFill>
              </a:rPr>
            </a:br>
            <a:r>
              <a:rPr lang="en-US" altLang="en-US" sz="1800">
                <a:solidFill>
                  <a:srgbClr val="0070C0"/>
                </a:solidFill>
              </a:rPr>
              <a:t>Đ</a:t>
            </a:r>
            <a:r>
              <a:rPr lang="en-US" altLang="en-GB" sz="1800">
                <a:solidFill>
                  <a:srgbClr val="0070C0"/>
                </a:solidFill>
              </a:rPr>
              <a:t>iểm trừ</a:t>
            </a:r>
            <a:r>
              <a:rPr lang="en-US" altLang="en-GB" sz="1800">
                <a:solidFill>
                  <a:schemeClr val="tx1"/>
                </a:solidFill>
              </a:rPr>
              <a:t>: V</a:t>
            </a:r>
            <a:r>
              <a:rPr lang="en-US" altLang="en-US" sz="1800">
                <a:solidFill>
                  <a:schemeClr val="tx1"/>
                </a:solidFill>
              </a:rPr>
              <a:t>ì</a:t>
            </a:r>
            <a:r>
              <a:rPr lang="en-US" altLang="en-GB" sz="1800">
                <a:solidFill>
                  <a:schemeClr val="tx1"/>
                </a:solidFill>
              </a:rPr>
              <a:t> hai c</a:t>
            </a:r>
            <a:r>
              <a:rPr lang="en-US" altLang="en-US" sz="1800">
                <a:solidFill>
                  <a:schemeClr val="tx1"/>
                </a:solidFill>
              </a:rPr>
              <a:t>â</a:t>
            </a:r>
            <a:r>
              <a:rPr lang="en-US" altLang="en-GB" sz="1800">
                <a:solidFill>
                  <a:schemeClr val="tx1"/>
                </a:solidFill>
              </a:rPr>
              <a:t>u bị kh</a:t>
            </a:r>
            <a:r>
              <a:rPr lang="en-US" altLang="en-US" sz="1800">
                <a:solidFill>
                  <a:schemeClr val="tx1"/>
                </a:solidFill>
              </a:rPr>
              <a:t>ó</a:t>
            </a:r>
            <a:r>
              <a:rPr lang="en-US" altLang="en-GB" sz="1800">
                <a:solidFill>
                  <a:schemeClr val="tx1"/>
                </a:solidFill>
              </a:rPr>
              <a:t>a chặt vào nhau, ch</a:t>
            </a:r>
            <a:r>
              <a:rPr lang="en-US" altLang="en-US" sz="1800">
                <a:solidFill>
                  <a:schemeClr val="tx1"/>
                </a:solidFill>
              </a:rPr>
              <a:t>ú</a:t>
            </a:r>
            <a:r>
              <a:rPr lang="en-US" altLang="en-GB" sz="1800">
                <a:solidFill>
                  <a:schemeClr val="tx1"/>
                </a:solidFill>
              </a:rPr>
              <a:t>ng ta không thể t</a:t>
            </a:r>
            <a:r>
              <a:rPr lang="en-US" altLang="en-US" sz="1800">
                <a:solidFill>
                  <a:schemeClr val="tx1"/>
                </a:solidFill>
              </a:rPr>
              <a:t>á</a:t>
            </a:r>
            <a:r>
              <a:rPr lang="en-US" altLang="en-GB" sz="1800">
                <a:solidFill>
                  <a:schemeClr val="tx1"/>
                </a:solidFill>
              </a:rPr>
              <a:t>ch tài liệu ra </a:t>
            </a:r>
            <a:r>
              <a:rPr lang="en-US" altLang="en-US" sz="1800">
                <a:solidFill>
                  <a:schemeClr val="tx1"/>
                </a:solidFill>
              </a:rPr>
              <a:t>đ</a:t>
            </a:r>
            <a:r>
              <a:rPr lang="en-US" altLang="en-GB" sz="1800">
                <a:solidFill>
                  <a:schemeClr val="tx1"/>
                </a:solidFill>
              </a:rPr>
              <a:t>ể mô h</a:t>
            </a:r>
            <a:r>
              <a:rPr lang="en-US" altLang="en-US" sz="1800">
                <a:solidFill>
                  <a:schemeClr val="tx1"/>
                </a:solidFill>
              </a:rPr>
              <a:t>ì</a:t>
            </a:r>
            <a:r>
              <a:rPr lang="en-US" altLang="en-GB" sz="1800">
                <a:solidFill>
                  <a:schemeClr val="tx1"/>
                </a:solidFill>
              </a:rPr>
              <a:t>nh xử l</a:t>
            </a:r>
            <a:r>
              <a:rPr lang="en-US" altLang="en-US" sz="1800">
                <a:solidFill>
                  <a:schemeClr val="tx1"/>
                </a:solidFill>
              </a:rPr>
              <a:t>ý</a:t>
            </a:r>
            <a:r>
              <a:rPr lang="en-US" altLang="en-GB" sz="1800">
                <a:solidFill>
                  <a:schemeClr val="tx1"/>
                </a:solidFill>
              </a:rPr>
              <a:t> tr</a:t>
            </a:r>
            <a:r>
              <a:rPr lang="en-US" altLang="en-US" sz="1800">
                <a:solidFill>
                  <a:schemeClr val="tx1"/>
                </a:solidFill>
              </a:rPr>
              <a:t>ư</a:t>
            </a:r>
            <a:r>
              <a:rPr lang="en-US" altLang="en-GB" sz="1800">
                <a:solidFill>
                  <a:schemeClr val="tx1"/>
                </a:solidFill>
              </a:rPr>
              <a:t>ớc.</a:t>
            </a: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500">
                <a:solidFill>
                  <a:schemeClr val="tx1"/>
                </a:solidFill>
              </a:rPr>
            </a:br>
            <a:r>
              <a:rPr lang="en-US" altLang="en-GB" sz="1500">
                <a:solidFill>
                  <a:schemeClr val="tx1"/>
                </a:solidFill>
              </a:rPr>
              <a:t>[</a:t>
            </a:r>
            <a:r>
              <a:rPr lang="en-US" altLang="en-GB" sz="1500">
                <a:solidFill>
                  <a:schemeClr val="tx1"/>
                </a:solidFill>
              </a:rPr>
              <a:t>2]: Devlin, J., Chang, M. W., Lee, K., &amp; Toutanova, K. (2018/2019). "BERT: Pre-training of Deep Bidirectional Transformers for Language Understanding". Proceedings of NAACL-HLT 2019. https://arxiv.org/abs/1810.04805</a:t>
            </a:r>
            <a:endParaRPr lang="en-US" altLang="en-GB" sz="150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369570"/>
            <a:ext cx="11724640" cy="6325870"/>
          </a:xfrm>
        </p:spPr>
        <p:txBody>
          <a:bodyPr>
            <a:noAutofit/>
          </a:bodyPr>
          <a:p>
            <a:r>
              <a:rPr lang="en-US" altLang="en-GB" sz="3500"/>
              <a:t>2. Giải pháp: Sentence-Bert </a:t>
            </a:r>
            <a:r>
              <a:rPr lang="en-US" altLang="en-GB" sz="3500" baseline="30000"/>
              <a:t>[3] </a:t>
            </a:r>
            <a:r>
              <a:rPr lang="en-US" altLang="en-GB" sz="3500"/>
              <a:t>(Bi-Encoder) ra đời</a:t>
            </a:r>
            <a:br>
              <a:rPr lang="en-US" altLang="en-GB" sz="2500"/>
            </a:br>
            <a:br>
              <a:rPr lang="en-US" altLang="en-GB" sz="1800"/>
            </a:br>
            <a:r>
              <a:rPr lang="en-US" altLang="en-US" sz="1800">
                <a:solidFill>
                  <a:schemeClr val="tx1"/>
                </a:solidFill>
              </a:rPr>
              <a:t>Ý</a:t>
            </a:r>
            <a:r>
              <a:rPr lang="en-US" altLang="en-GB" sz="1800">
                <a:solidFill>
                  <a:schemeClr val="tx1"/>
                </a:solidFill>
              </a:rPr>
              <a:t> ngh</a:t>
            </a:r>
            <a:r>
              <a:rPr lang="en-US" altLang="en-US" sz="1800">
                <a:solidFill>
                  <a:schemeClr val="tx1"/>
                </a:solidFill>
              </a:rPr>
              <a:t>ĩ</a:t>
            </a:r>
            <a:r>
              <a:rPr lang="en-US" altLang="en-GB" sz="1800">
                <a:solidFill>
                  <a:schemeClr val="tx1"/>
                </a:solidFill>
              </a:rPr>
              <a:t>a cốt l</a:t>
            </a:r>
            <a:r>
              <a:rPr lang="en-US" altLang="en-US" sz="1800">
                <a:solidFill>
                  <a:schemeClr val="tx1"/>
                </a:solidFill>
              </a:rPr>
              <a:t>õ</a:t>
            </a:r>
            <a:r>
              <a:rPr lang="en-US" altLang="en-GB" sz="1800">
                <a:solidFill>
                  <a:schemeClr val="tx1"/>
                </a:solidFill>
              </a:rPr>
              <a:t>i: </a:t>
            </a:r>
            <a:r>
              <a:rPr lang="en-US" altLang="en-GB" sz="1800">
                <a:solidFill>
                  <a:schemeClr val="tx1"/>
                </a:solidFill>
                <a:highlight>
                  <a:srgbClr val="FFFF00"/>
                </a:highlight>
              </a:rPr>
              <a:t>T</a:t>
            </a:r>
            <a:r>
              <a:rPr lang="en-US" altLang="en-US" sz="1800">
                <a:solidFill>
                  <a:schemeClr val="tx1"/>
                </a:solidFill>
                <a:highlight>
                  <a:srgbClr val="FFFF00"/>
                </a:highlight>
              </a:rPr>
              <a:t>á</a:t>
            </a:r>
            <a:r>
              <a:rPr lang="en-US" altLang="en-GB" sz="1800">
                <a:solidFill>
                  <a:schemeClr val="tx1"/>
                </a:solidFill>
                <a:highlight>
                  <a:srgbClr val="FFFF00"/>
                </a:highlight>
              </a:rPr>
              <a:t>ch biệt việc m</a:t>
            </a:r>
            <a:r>
              <a:rPr lang="en-US" altLang="en-US" sz="1800">
                <a:solidFill>
                  <a:schemeClr val="tx1"/>
                </a:solidFill>
                <a:highlight>
                  <a:srgbClr val="FFFF00"/>
                </a:highlight>
              </a:rPr>
              <a:t>ã</a:t>
            </a:r>
            <a:r>
              <a:rPr lang="en-US" altLang="en-GB" sz="1800">
                <a:solidFill>
                  <a:schemeClr val="tx1"/>
                </a:solidFill>
                <a:highlight>
                  <a:srgbClr val="FFFF00"/>
                </a:highlight>
              </a:rPr>
              <a:t> h</a:t>
            </a:r>
            <a:r>
              <a:rPr lang="en-US" altLang="en-US" sz="1800">
                <a:solidFill>
                  <a:schemeClr val="tx1"/>
                </a:solidFill>
                <a:highlight>
                  <a:srgbClr val="FFFF00"/>
                </a:highlight>
              </a:rPr>
              <a:t>ó</a:t>
            </a:r>
            <a:r>
              <a:rPr lang="en-US" altLang="en-GB" sz="1800">
                <a:solidFill>
                  <a:schemeClr val="tx1"/>
                </a:solidFill>
                <a:highlight>
                  <a:srgbClr val="FFFF00"/>
                </a:highlight>
              </a:rPr>
              <a:t>a giữa 2 câu</a:t>
            </a:r>
            <a:br>
              <a:rPr lang="en-US" altLang="en-GB" sz="1800">
                <a:solidFill>
                  <a:schemeClr val="tx1"/>
                </a:solidFill>
              </a:rPr>
            </a:br>
            <a:br>
              <a:rPr lang="en-US" altLang="en-GB" sz="1800">
                <a:solidFill>
                  <a:schemeClr val="tx1"/>
                </a:solidFill>
              </a:rPr>
            </a:br>
            <a:r>
              <a:rPr lang="en-US" altLang="en-GB" sz="1800">
                <a:solidFill>
                  <a:schemeClr val="tx1"/>
                </a:solidFill>
              </a:rPr>
              <a:t>Sử dụng kiến tr</a:t>
            </a:r>
            <a:r>
              <a:rPr lang="en-US" altLang="en-US" sz="1800">
                <a:solidFill>
                  <a:schemeClr val="tx1"/>
                </a:solidFill>
              </a:rPr>
              <a:t>ú</a:t>
            </a:r>
            <a:r>
              <a:rPr lang="en-US" altLang="en-GB" sz="1800">
                <a:solidFill>
                  <a:schemeClr val="tx1"/>
                </a:solidFill>
              </a:rPr>
              <a:t>c Siamese hoặc Triple network </a:t>
            </a:r>
            <a:r>
              <a:rPr lang="en-US" altLang="en-US" sz="1800">
                <a:solidFill>
                  <a:schemeClr val="tx1"/>
                </a:solidFill>
              </a:rPr>
              <a:t>đ</a:t>
            </a:r>
            <a:r>
              <a:rPr lang="en-US" altLang="en-GB" sz="1800">
                <a:solidFill>
                  <a:schemeClr val="tx1"/>
                </a:solidFill>
              </a:rPr>
              <a:t>ể m</a:t>
            </a:r>
            <a:r>
              <a:rPr lang="en-US" altLang="en-US" sz="1800">
                <a:solidFill>
                  <a:schemeClr val="tx1"/>
                </a:solidFill>
              </a:rPr>
              <a:t>ã</a:t>
            </a:r>
            <a:r>
              <a:rPr lang="en-US" altLang="en-GB" sz="1800">
                <a:solidFill>
                  <a:schemeClr val="tx1"/>
                </a:solidFill>
              </a:rPr>
              <a:t> h</a:t>
            </a:r>
            <a:r>
              <a:rPr lang="en-US" altLang="en-US" sz="1800">
                <a:solidFill>
                  <a:schemeClr val="tx1"/>
                </a:solidFill>
              </a:rPr>
              <a:t>ó</a:t>
            </a:r>
            <a:r>
              <a:rPr lang="en-US" altLang="en-GB" sz="1800">
                <a:solidFill>
                  <a:schemeClr val="tx1"/>
                </a:solidFill>
              </a:rPr>
              <a:t>a  c</a:t>
            </a:r>
            <a:r>
              <a:rPr lang="en-US" altLang="en-US" sz="1800">
                <a:solidFill>
                  <a:schemeClr val="tx1"/>
                </a:solidFill>
              </a:rPr>
              <a:t>á</a:t>
            </a:r>
            <a:r>
              <a:rPr lang="en-US" altLang="en-GB" sz="1800">
                <a:solidFill>
                  <a:schemeClr val="tx1"/>
                </a:solidFill>
              </a:rPr>
              <a:t>c c</a:t>
            </a:r>
            <a:r>
              <a:rPr lang="en-US" altLang="en-US" sz="1800">
                <a:solidFill>
                  <a:schemeClr val="tx1"/>
                </a:solidFill>
              </a:rPr>
              <a:t>â</a:t>
            </a:r>
            <a:r>
              <a:rPr lang="en-US" altLang="en-GB" sz="1800">
                <a:solidFill>
                  <a:schemeClr val="tx1"/>
                </a:solidFill>
              </a:rPr>
              <a:t>u 1 c</a:t>
            </a:r>
            <a:r>
              <a:rPr lang="en-US" altLang="en-US" sz="1800">
                <a:solidFill>
                  <a:schemeClr val="tx1"/>
                </a:solidFill>
              </a:rPr>
              <a:t>á</a:t>
            </a:r>
            <a:r>
              <a:rPr lang="en-US" altLang="en-GB" sz="1800">
                <a:solidFill>
                  <a:schemeClr val="tx1"/>
                </a:solidFill>
              </a:rPr>
              <a:t>ch </a:t>
            </a:r>
            <a:r>
              <a:rPr lang="en-US" altLang="en-US" sz="1800">
                <a:solidFill>
                  <a:schemeClr val="tx1"/>
                </a:solidFill>
              </a:rPr>
              <a:t>đ</a:t>
            </a:r>
            <a:r>
              <a:rPr lang="en-US" altLang="en-GB" sz="1800">
                <a:solidFill>
                  <a:schemeClr val="tx1"/>
                </a:solidFill>
              </a:rPr>
              <a:t>ộc lập thành c</a:t>
            </a:r>
            <a:r>
              <a:rPr lang="en-US" altLang="en-US" sz="1800">
                <a:solidFill>
                  <a:schemeClr val="tx1"/>
                </a:solidFill>
              </a:rPr>
              <a:t>á</a:t>
            </a:r>
            <a:r>
              <a:rPr lang="en-US" altLang="en-GB" sz="1800">
                <a:solidFill>
                  <a:schemeClr val="tx1"/>
                </a:solidFill>
              </a:rPr>
              <a:t>c vector c</a:t>
            </a:r>
            <a:r>
              <a:rPr lang="en-US" altLang="en-US" sz="1800">
                <a:solidFill>
                  <a:schemeClr val="tx1"/>
                </a:solidFill>
              </a:rPr>
              <a:t>ó</a:t>
            </a:r>
            <a:r>
              <a:rPr lang="en-US" altLang="en-GB" sz="1800">
                <a:solidFill>
                  <a:schemeClr val="tx1"/>
                </a:solidFill>
              </a:rPr>
              <a:t> </a:t>
            </a:r>
            <a:r>
              <a:rPr lang="en-US" altLang="en-US" sz="1800">
                <a:solidFill>
                  <a:schemeClr val="tx1"/>
                </a:solidFill>
              </a:rPr>
              <a:t>đ</a:t>
            </a:r>
            <a:r>
              <a:rPr lang="en-US" altLang="en-GB" sz="1800">
                <a:solidFill>
                  <a:schemeClr val="tx1"/>
                </a:solidFill>
              </a:rPr>
              <a:t>ộ dài cố </a:t>
            </a:r>
            <a:r>
              <a:rPr lang="en-US" altLang="en-US" sz="1800">
                <a:solidFill>
                  <a:schemeClr val="tx1"/>
                </a:solidFill>
              </a:rPr>
              <a:t>đ</a:t>
            </a:r>
            <a:r>
              <a:rPr lang="en-US" altLang="en-GB" sz="1800">
                <a:solidFill>
                  <a:schemeClr val="tx1"/>
                </a:solidFill>
              </a:rPr>
              <a:t>ịnh gọi là </a:t>
            </a:r>
            <a:r>
              <a:rPr lang="en-US" altLang="en-GB" sz="1800">
                <a:solidFill>
                  <a:srgbClr val="0070C0"/>
                </a:solidFill>
              </a:rPr>
              <a:t>semantically meaningful sentence embeddings</a:t>
            </a:r>
            <a:r>
              <a:rPr lang="en-US" altLang="en-GB" sz="1800">
                <a:solidFill>
                  <a:schemeClr val="tx1"/>
                </a:solidFill>
              </a:rPr>
              <a:t>. Sau </a:t>
            </a:r>
            <a:r>
              <a:rPr lang="en-US" altLang="en-US" sz="1800">
                <a:solidFill>
                  <a:schemeClr val="tx1"/>
                </a:solidFill>
              </a:rPr>
              <a:t>đ</a:t>
            </a:r>
            <a:r>
              <a:rPr lang="en-US" altLang="en-US" sz="1800">
                <a:solidFill>
                  <a:schemeClr val="tx1"/>
                </a:solidFill>
              </a:rPr>
              <a:t>ó</a:t>
            </a:r>
            <a:r>
              <a:rPr lang="en-US" altLang="en-GB" sz="1800">
                <a:solidFill>
                  <a:schemeClr val="tx1"/>
                </a:solidFill>
              </a:rPr>
              <a:t> d</a:t>
            </a:r>
            <a:r>
              <a:rPr lang="en-US" altLang="en-US" sz="1800">
                <a:solidFill>
                  <a:schemeClr val="tx1"/>
                </a:solidFill>
              </a:rPr>
              <a:t>ù</a:t>
            </a:r>
            <a:r>
              <a:rPr lang="en-US" altLang="en-GB" sz="1800">
                <a:solidFill>
                  <a:schemeClr val="tx1"/>
                </a:solidFill>
              </a:rPr>
              <a:t>ng </a:t>
            </a:r>
            <a:r>
              <a:rPr lang="en-US" altLang="en-GB" sz="1800">
                <a:solidFill>
                  <a:srgbClr val="0070C0"/>
                </a:solidFill>
              </a:rPr>
              <a:t>cosine similarity</a:t>
            </a:r>
            <a:r>
              <a:rPr lang="en-US" altLang="en-GB" sz="1800">
                <a:solidFill>
                  <a:schemeClr val="tx1"/>
                </a:solidFill>
              </a:rPr>
              <a:t> </a:t>
            </a:r>
            <a:r>
              <a:rPr lang="en-US" altLang="en-US" sz="1800">
                <a:solidFill>
                  <a:schemeClr val="tx1"/>
                </a:solidFill>
              </a:rPr>
              <a:t>đ</a:t>
            </a:r>
            <a:r>
              <a:rPr lang="en-US" altLang="en-GB" sz="1800">
                <a:solidFill>
                  <a:schemeClr val="tx1"/>
                </a:solidFill>
              </a:rPr>
              <a:t>ể so s</a:t>
            </a:r>
            <a:r>
              <a:rPr lang="en-US" altLang="en-US" sz="1800">
                <a:solidFill>
                  <a:schemeClr val="tx1"/>
                </a:solidFill>
              </a:rPr>
              <a:t>á</a:t>
            </a:r>
            <a:r>
              <a:rPr lang="en-US" altLang="en-GB" sz="1800">
                <a:solidFill>
                  <a:schemeClr val="tx1"/>
                </a:solidFill>
              </a:rPr>
              <a:t>nh </a:t>
            </a:r>
            <a:r>
              <a:rPr lang="en-US" altLang="en-US" sz="1800">
                <a:solidFill>
                  <a:schemeClr val="tx1"/>
                </a:solidFill>
              </a:rPr>
              <a:t>đ</a:t>
            </a:r>
            <a:r>
              <a:rPr lang="en-US" altLang="en-GB" sz="1800">
                <a:solidFill>
                  <a:schemeClr val="tx1"/>
                </a:solidFill>
              </a:rPr>
              <a:t>ộ t</a:t>
            </a:r>
            <a:r>
              <a:rPr lang="en-US" altLang="en-US" sz="1800">
                <a:solidFill>
                  <a:schemeClr val="tx1"/>
                </a:solidFill>
              </a:rPr>
              <a:t>ư</a:t>
            </a:r>
            <a:r>
              <a:rPr lang="en-US" altLang="en-US" sz="1800">
                <a:solidFill>
                  <a:schemeClr val="tx1"/>
                </a:solidFill>
              </a:rPr>
              <a:t>ơ</a:t>
            </a:r>
            <a:r>
              <a:rPr lang="en-US" altLang="en-GB" sz="1800">
                <a:solidFill>
                  <a:schemeClr val="tx1"/>
                </a:solidFill>
              </a:rPr>
              <a:t>ng </a:t>
            </a:r>
            <a:r>
              <a:rPr lang="en-US" altLang="en-US" sz="1800">
                <a:solidFill>
                  <a:schemeClr val="tx1"/>
                </a:solidFill>
              </a:rPr>
              <a:t>đ</a:t>
            </a:r>
            <a:r>
              <a:rPr lang="en-US" altLang="en-GB" sz="1800">
                <a:solidFill>
                  <a:schemeClr val="tx1"/>
                </a:solidFill>
              </a:rPr>
              <a:t>ồng cực kỳ nhanh.</a:t>
            </a:r>
            <a:br>
              <a:rPr lang="en-US" altLang="en-GB" sz="1800">
                <a:solidFill>
                  <a:schemeClr val="tx1"/>
                </a:solidFill>
              </a:rPr>
            </a:br>
            <a:br>
              <a:rPr lang="en-US" altLang="en-GB" sz="1800">
                <a:solidFill>
                  <a:schemeClr val="tx1"/>
                </a:solidFill>
              </a:rPr>
            </a:br>
            <a:r>
              <a:rPr lang="en-US" altLang="en-GB" sz="1800">
                <a:solidFill>
                  <a:schemeClr val="tx1"/>
                </a:solidFill>
              </a:rPr>
              <a:t>C</a:t>
            </a:r>
            <a:r>
              <a:rPr lang="en-US" altLang="en-US" sz="1800">
                <a:solidFill>
                  <a:schemeClr val="tx1"/>
                </a:solidFill>
              </a:rPr>
              <a:t>á</a:t>
            </a:r>
            <a:r>
              <a:rPr lang="en-US" altLang="en-GB" sz="1800">
                <a:solidFill>
                  <a:schemeClr val="tx1"/>
                </a:solidFill>
              </a:rPr>
              <a:t>c t</a:t>
            </a:r>
            <a:r>
              <a:rPr lang="en-US" altLang="en-US" sz="1800">
                <a:solidFill>
                  <a:schemeClr val="tx1"/>
                </a:solidFill>
              </a:rPr>
              <a:t>á</a:t>
            </a:r>
            <a:r>
              <a:rPr lang="en-US" altLang="en-GB" sz="1800">
                <a:solidFill>
                  <a:schemeClr val="tx1"/>
                </a:solidFill>
              </a:rPr>
              <a:t>c vụ mới của SBERT so với BERT:</a:t>
            </a:r>
            <a:br>
              <a:rPr lang="en-US" altLang="en-GB" sz="1800">
                <a:solidFill>
                  <a:schemeClr val="tx1"/>
                </a:solidFill>
              </a:rPr>
            </a:br>
            <a:r>
              <a:rPr lang="en-US" altLang="en-GB" sz="1800">
                <a:solidFill>
                  <a:schemeClr val="tx1"/>
                </a:solidFill>
              </a:rPr>
              <a:t>	+ So s</a:t>
            </a:r>
            <a:r>
              <a:rPr lang="en-US" altLang="en-US" sz="1800">
                <a:solidFill>
                  <a:schemeClr val="tx1"/>
                </a:solidFill>
              </a:rPr>
              <a:t>á</a:t>
            </a:r>
            <a:r>
              <a:rPr lang="en-US" altLang="en-GB" sz="1800">
                <a:solidFill>
                  <a:schemeClr val="tx1"/>
                </a:solidFill>
              </a:rPr>
              <a:t>nh </a:t>
            </a:r>
            <a:r>
              <a:rPr lang="en-US" altLang="en-US" sz="1800">
                <a:solidFill>
                  <a:schemeClr val="tx1"/>
                </a:solidFill>
              </a:rPr>
              <a:t>đ</a:t>
            </a:r>
            <a:r>
              <a:rPr lang="en-US" altLang="en-GB" sz="1800">
                <a:solidFill>
                  <a:schemeClr val="tx1"/>
                </a:solidFill>
              </a:rPr>
              <a:t>ộ t</a:t>
            </a:r>
            <a:r>
              <a:rPr lang="en-US" altLang="en-US" sz="1800">
                <a:solidFill>
                  <a:schemeClr val="tx1"/>
                </a:solidFill>
              </a:rPr>
              <a:t>ư</a:t>
            </a:r>
            <a:r>
              <a:rPr lang="en-US" altLang="en-US" sz="1800">
                <a:solidFill>
                  <a:schemeClr val="tx1"/>
                </a:solidFill>
              </a:rPr>
              <a:t>ơ</a:t>
            </a:r>
            <a:r>
              <a:rPr lang="en-US" altLang="en-GB" sz="1800">
                <a:solidFill>
                  <a:schemeClr val="tx1"/>
                </a:solidFill>
              </a:rPr>
              <a:t>ng </a:t>
            </a:r>
            <a:r>
              <a:rPr lang="en-US" altLang="en-US" sz="1800">
                <a:solidFill>
                  <a:schemeClr val="tx1"/>
                </a:solidFill>
              </a:rPr>
              <a:t>đ</a:t>
            </a:r>
            <a:r>
              <a:rPr lang="en-US" altLang="en-GB" sz="1800">
                <a:solidFill>
                  <a:schemeClr val="tx1"/>
                </a:solidFill>
              </a:rPr>
              <a:t>ồng ngữ ngh</a:t>
            </a:r>
            <a:r>
              <a:rPr lang="en-US" altLang="en-US" sz="1800">
                <a:solidFill>
                  <a:schemeClr val="tx1"/>
                </a:solidFill>
              </a:rPr>
              <a:t>ĩ</a:t>
            </a:r>
            <a:r>
              <a:rPr lang="en-US" altLang="en-GB" sz="1800">
                <a:solidFill>
                  <a:schemeClr val="tx1"/>
                </a:solidFill>
              </a:rPr>
              <a:t>a quy mô lớn</a:t>
            </a:r>
            <a:br>
              <a:rPr lang="en-US" altLang="en-GB" sz="1800">
                <a:solidFill>
                  <a:schemeClr val="tx1"/>
                </a:solidFill>
              </a:rPr>
            </a:br>
            <a:r>
              <a:rPr lang="en-US" altLang="en-GB" sz="1800">
                <a:solidFill>
                  <a:schemeClr val="tx1"/>
                </a:solidFill>
              </a:rPr>
              <a:t>	+ Ph</a:t>
            </a:r>
            <a:r>
              <a:rPr lang="en-US" altLang="en-US" sz="1800">
                <a:solidFill>
                  <a:schemeClr val="tx1"/>
                </a:solidFill>
              </a:rPr>
              <a:t>â</a:t>
            </a:r>
            <a:r>
              <a:rPr lang="en-US" altLang="en-GB" sz="1800">
                <a:solidFill>
                  <a:schemeClr val="tx1"/>
                </a:solidFill>
              </a:rPr>
              <a:t>n cụm</a:t>
            </a:r>
            <a:br>
              <a:rPr lang="en-US" altLang="en-GB" sz="1800">
                <a:solidFill>
                  <a:schemeClr val="tx1"/>
                </a:solidFill>
              </a:rPr>
            </a:br>
            <a:r>
              <a:rPr lang="en-US" altLang="en-GB" sz="1800">
                <a:solidFill>
                  <a:schemeClr val="tx1"/>
                </a:solidFill>
              </a:rPr>
              <a:t>	+ Truy xuất thông tin thông qua t</a:t>
            </a:r>
            <a:r>
              <a:rPr lang="en-US" altLang="en-US" sz="1800">
                <a:solidFill>
                  <a:schemeClr val="tx1"/>
                </a:solidFill>
              </a:rPr>
              <a:t>ì</a:t>
            </a:r>
            <a:r>
              <a:rPr lang="en-US" altLang="en-GB" sz="1800">
                <a:solidFill>
                  <a:schemeClr val="tx1"/>
                </a:solidFill>
              </a:rPr>
              <a:t>m kiếm ngữ ngh</a:t>
            </a:r>
            <a:r>
              <a:rPr lang="en-US" altLang="en-US" sz="1800">
                <a:solidFill>
                  <a:schemeClr val="tx1"/>
                </a:solidFill>
              </a:rPr>
              <a:t>ĩ</a:t>
            </a:r>
            <a:r>
              <a:rPr lang="en-US" altLang="en-GB" sz="1800">
                <a:solidFill>
                  <a:schemeClr val="tx1"/>
                </a:solidFill>
              </a:rPr>
              <a:t>a.</a:t>
            </a:r>
            <a:br>
              <a:rPr lang="en-US" altLang="en-GB" sz="1800">
                <a:solidFill>
                  <a:schemeClr val="tx1"/>
                </a:solidFill>
              </a:rPr>
            </a:br>
            <a:br>
              <a:rPr lang="en-US" altLang="en-GB" sz="1800">
                <a:solidFill>
                  <a:schemeClr val="tx1"/>
                </a:solidFill>
              </a:rPr>
            </a:br>
            <a:r>
              <a:rPr lang="en-US" altLang="en-GB" sz="1800">
                <a:solidFill>
                  <a:schemeClr val="tx1"/>
                </a:solidFill>
              </a:rPr>
              <a:t>-&gt; SBERT </a:t>
            </a:r>
            <a:r>
              <a:rPr lang="en-US" sz="1800">
                <a:solidFill>
                  <a:schemeClr val="tx1"/>
                </a:solidFill>
              </a:rPr>
              <a:t>là </a:t>
            </a:r>
            <a:r>
              <a:rPr lang="en-US" altLang="en-GB" sz="1800">
                <a:solidFill>
                  <a:schemeClr val="tx1"/>
                </a:solidFill>
              </a:rPr>
              <a:t>một giải ph</a:t>
            </a:r>
            <a:r>
              <a:rPr lang="en-US" altLang="en-US" sz="1800">
                <a:solidFill>
                  <a:schemeClr val="tx1"/>
                </a:solidFill>
              </a:rPr>
              <a:t>á</a:t>
            </a:r>
            <a:r>
              <a:rPr lang="en-US" altLang="en-GB" sz="1800">
                <a:solidFill>
                  <a:schemeClr val="tx1"/>
                </a:solidFill>
              </a:rPr>
              <a:t>p về mặt tốc </a:t>
            </a:r>
            <a:r>
              <a:rPr lang="en-US" altLang="en-US" sz="1800">
                <a:solidFill>
                  <a:schemeClr val="tx1"/>
                </a:solidFill>
              </a:rPr>
              <a:t>đ</a:t>
            </a:r>
            <a:r>
              <a:rPr lang="en-US" altLang="en-GB" sz="1800">
                <a:solidFill>
                  <a:schemeClr val="tx1"/>
                </a:solidFill>
              </a:rPr>
              <a:t>ộ cho BERT. Thay v</a:t>
            </a:r>
            <a:r>
              <a:rPr lang="en-US" altLang="en-US" sz="1800">
                <a:solidFill>
                  <a:schemeClr val="tx1"/>
                </a:solidFill>
              </a:rPr>
              <a:t>ì</a:t>
            </a:r>
            <a:r>
              <a:rPr lang="en-US" altLang="en-GB" sz="1800">
                <a:solidFill>
                  <a:schemeClr val="tx1"/>
                </a:solidFill>
              </a:rPr>
              <a:t> phải </a:t>
            </a:r>
            <a:r>
              <a:rPr lang="en-US" altLang="en-US" sz="1800">
                <a:solidFill>
                  <a:schemeClr val="tx1"/>
                </a:solidFill>
              </a:rPr>
              <a:t>đ</a:t>
            </a:r>
            <a:r>
              <a:rPr lang="en-US" altLang="en-US" sz="1800">
                <a:solidFill>
                  <a:schemeClr val="tx1"/>
                </a:solidFill>
              </a:rPr>
              <a:t>á</a:t>
            </a:r>
            <a:r>
              <a:rPr lang="en-US" altLang="en-GB" sz="1800">
                <a:solidFill>
                  <a:schemeClr val="tx1"/>
                </a:solidFill>
              </a:rPr>
              <a:t>nh gi</a:t>
            </a:r>
            <a:r>
              <a:rPr lang="en-US" altLang="en-US" sz="1800">
                <a:solidFill>
                  <a:schemeClr val="tx1"/>
                </a:solidFill>
              </a:rPr>
              <a:t>á</a:t>
            </a:r>
            <a:r>
              <a:rPr lang="en-US" altLang="en-GB" sz="1800">
                <a:solidFill>
                  <a:schemeClr val="tx1"/>
                </a:solidFill>
              </a:rPr>
              <a:t> theo từng cặp 2 c</a:t>
            </a:r>
            <a:r>
              <a:rPr lang="en-US" altLang="en-US" sz="1800">
                <a:solidFill>
                  <a:schemeClr val="tx1"/>
                </a:solidFill>
              </a:rPr>
              <a:t>â</a:t>
            </a:r>
            <a:r>
              <a:rPr lang="en-US" altLang="en-GB" sz="1800">
                <a:solidFill>
                  <a:schemeClr val="tx1"/>
                </a:solidFill>
              </a:rPr>
              <a:t>u, ta chuyển c</a:t>
            </a:r>
            <a:r>
              <a:rPr lang="en-US" altLang="en-US" sz="1800">
                <a:solidFill>
                  <a:schemeClr val="tx1"/>
                </a:solidFill>
              </a:rPr>
              <a:t>á</a:t>
            </a:r>
            <a:r>
              <a:rPr lang="en-US" altLang="en-GB" sz="1800">
                <a:solidFill>
                  <a:schemeClr val="tx1"/>
                </a:solidFill>
              </a:rPr>
              <a:t>c c</a:t>
            </a:r>
            <a:r>
              <a:rPr lang="en-US" altLang="en-US" sz="1800">
                <a:solidFill>
                  <a:schemeClr val="tx1"/>
                </a:solidFill>
              </a:rPr>
              <a:t>â</a:t>
            </a:r>
            <a:r>
              <a:rPr lang="en-US" altLang="en-GB" sz="1800">
                <a:solidFill>
                  <a:schemeClr val="tx1"/>
                </a:solidFill>
              </a:rPr>
              <a:t>u trong tài liệu c</a:t>
            </a:r>
            <a:r>
              <a:rPr lang="en-US" altLang="en-US" sz="1800">
                <a:solidFill>
                  <a:schemeClr val="tx1"/>
                </a:solidFill>
              </a:rPr>
              <a:t>ó</a:t>
            </a:r>
            <a:r>
              <a:rPr lang="en-US" altLang="en-GB" sz="1800">
                <a:solidFill>
                  <a:schemeClr val="tx1"/>
                </a:solidFill>
              </a:rPr>
              <a:t> sẵn thành vector sentence embedding từ tr</a:t>
            </a:r>
            <a:r>
              <a:rPr lang="en-US" altLang="en-US" sz="1800">
                <a:solidFill>
                  <a:schemeClr val="tx1"/>
                </a:solidFill>
              </a:rPr>
              <a:t>ư</a:t>
            </a:r>
            <a:r>
              <a:rPr lang="en-US" altLang="en-GB" sz="1800">
                <a:solidFill>
                  <a:schemeClr val="tx1"/>
                </a:solidFill>
              </a:rPr>
              <a:t>ớc, rồi sau </a:t>
            </a:r>
            <a:r>
              <a:rPr lang="en-US" altLang="en-US" sz="1800">
                <a:solidFill>
                  <a:schemeClr val="tx1"/>
                </a:solidFill>
              </a:rPr>
              <a:t>đ</a:t>
            </a:r>
            <a:r>
              <a:rPr lang="en-US" altLang="en-US" sz="1800">
                <a:solidFill>
                  <a:schemeClr val="tx1"/>
                </a:solidFill>
              </a:rPr>
              <a:t>ó</a:t>
            </a:r>
            <a:r>
              <a:rPr lang="en-US" altLang="en-GB" sz="1800">
                <a:solidFill>
                  <a:schemeClr val="tx1"/>
                </a:solidFill>
              </a:rPr>
              <a:t> chỉ cần so s</a:t>
            </a:r>
            <a:r>
              <a:rPr lang="en-US" altLang="en-US" sz="1800">
                <a:solidFill>
                  <a:schemeClr val="tx1"/>
                </a:solidFill>
              </a:rPr>
              <a:t>á</a:t>
            </a:r>
            <a:r>
              <a:rPr lang="en-US" altLang="en-GB" sz="1800">
                <a:solidFill>
                  <a:schemeClr val="tx1"/>
                </a:solidFill>
              </a:rPr>
              <a:t>nh bằng ph</a:t>
            </a:r>
            <a:r>
              <a:rPr lang="en-US" altLang="en-US" sz="1800">
                <a:solidFill>
                  <a:schemeClr val="tx1"/>
                </a:solidFill>
              </a:rPr>
              <a:t>é</a:t>
            </a:r>
            <a:r>
              <a:rPr lang="en-US" altLang="en-GB" sz="1800">
                <a:solidFill>
                  <a:schemeClr val="tx1"/>
                </a:solidFill>
              </a:rPr>
              <a:t>p to</a:t>
            </a:r>
            <a:r>
              <a:rPr lang="en-US" altLang="en-US" sz="1800">
                <a:solidFill>
                  <a:schemeClr val="tx1"/>
                </a:solidFill>
              </a:rPr>
              <a:t>á</a:t>
            </a:r>
            <a:r>
              <a:rPr lang="en-US" altLang="en-GB" sz="1800">
                <a:solidFill>
                  <a:schemeClr val="tx1"/>
                </a:solidFill>
              </a:rPr>
              <a:t>n </a:t>
            </a:r>
            <a:r>
              <a:rPr lang="en-US" altLang="en-US" sz="1800">
                <a:solidFill>
                  <a:schemeClr val="tx1"/>
                </a:solidFill>
              </a:rPr>
              <a:t>đ</a:t>
            </a:r>
            <a:r>
              <a:rPr lang="en-US" altLang="en-US" sz="1800">
                <a:solidFill>
                  <a:schemeClr val="tx1"/>
                </a:solidFill>
              </a:rPr>
              <a:t>ơ</a:t>
            </a:r>
            <a:r>
              <a:rPr lang="en-US" altLang="en-GB" sz="1800">
                <a:solidFill>
                  <a:schemeClr val="tx1"/>
                </a:solidFill>
              </a:rPr>
              <a:t>n giản và nhanh h</a:t>
            </a:r>
            <a:r>
              <a:rPr lang="en-US" altLang="en-US" sz="1800">
                <a:solidFill>
                  <a:schemeClr val="tx1"/>
                </a:solidFill>
              </a:rPr>
              <a:t>ơ</a:t>
            </a:r>
            <a:r>
              <a:rPr lang="en-US" altLang="en-GB" sz="1800">
                <a:solidFill>
                  <a:schemeClr val="tx1"/>
                </a:solidFill>
              </a:rPr>
              <a:t>n </a:t>
            </a:r>
            <a:r>
              <a:rPr lang="en-US" altLang="en-GB" sz="1800">
                <a:sym typeface="+mn-ea"/>
              </a:rPr>
              <a:t>(như cosine similarity)</a:t>
            </a:r>
            <a:r>
              <a:rPr lang="en-US" altLang="en-GB" sz="1800">
                <a:solidFill>
                  <a:schemeClr val="tx1"/>
                </a:solidFill>
              </a:rPr>
              <a:t> khi c</a:t>
            </a:r>
            <a:r>
              <a:rPr lang="en-US" altLang="en-US" sz="1800">
                <a:solidFill>
                  <a:schemeClr val="tx1"/>
                </a:solidFill>
              </a:rPr>
              <a:t>ó</a:t>
            </a:r>
            <a:r>
              <a:rPr lang="en-US" altLang="en-GB" sz="1800">
                <a:solidFill>
                  <a:schemeClr val="tx1"/>
                </a:solidFill>
              </a:rPr>
              <a:t> th</a:t>
            </a:r>
            <a:r>
              <a:rPr lang="en-US" altLang="en-US" sz="1800">
                <a:solidFill>
                  <a:schemeClr val="tx1"/>
                </a:solidFill>
              </a:rPr>
              <a:t>ê</a:t>
            </a:r>
            <a:r>
              <a:rPr lang="en-US" altLang="en-GB" sz="1800">
                <a:solidFill>
                  <a:schemeClr val="tx1"/>
                </a:solidFill>
              </a:rPr>
              <a:t>m 1 c</a:t>
            </a:r>
            <a:r>
              <a:rPr lang="en-US" altLang="en-US" sz="1800">
                <a:solidFill>
                  <a:schemeClr val="tx1"/>
                </a:solidFill>
              </a:rPr>
              <a:t>â</a:t>
            </a:r>
            <a:r>
              <a:rPr lang="en-US" altLang="en-GB" sz="1800">
                <a:solidFill>
                  <a:schemeClr val="tx1"/>
                </a:solidFill>
              </a:rPr>
              <a:t>u mới. Giúp giảm nỗ lực t</a:t>
            </a:r>
            <a:r>
              <a:rPr lang="en-US" altLang="en-US" sz="1800">
                <a:solidFill>
                  <a:schemeClr val="tx1"/>
                </a:solidFill>
              </a:rPr>
              <a:t>ì</a:t>
            </a:r>
            <a:r>
              <a:rPr lang="en-US" altLang="en-GB" sz="1800">
                <a:solidFill>
                  <a:schemeClr val="tx1"/>
                </a:solidFill>
              </a:rPr>
              <a:t>m kiếm cặp t</a:t>
            </a:r>
            <a:r>
              <a:rPr lang="en-US" altLang="en-US" sz="1800">
                <a:solidFill>
                  <a:schemeClr val="tx1"/>
                </a:solidFill>
              </a:rPr>
              <a:t>ư</a:t>
            </a:r>
            <a:r>
              <a:rPr lang="en-US" altLang="en-US" sz="1800">
                <a:solidFill>
                  <a:schemeClr val="tx1"/>
                </a:solidFill>
              </a:rPr>
              <a:t>ơ</a:t>
            </a:r>
            <a:r>
              <a:rPr lang="en-US" altLang="en-GB" sz="1800">
                <a:solidFill>
                  <a:schemeClr val="tx1"/>
                </a:solidFill>
              </a:rPr>
              <a:t>ng </a:t>
            </a:r>
            <a:r>
              <a:rPr lang="en-US" altLang="en-US" sz="1800">
                <a:solidFill>
                  <a:schemeClr val="tx1"/>
                </a:solidFill>
              </a:rPr>
              <a:t>đ</a:t>
            </a:r>
            <a:r>
              <a:rPr lang="en-US" altLang="en-GB" sz="1800">
                <a:solidFill>
                  <a:schemeClr val="tx1"/>
                </a:solidFill>
              </a:rPr>
              <a:t>ồng nhất từ 65 giờ với BERT / RoBERTa xuống c</a:t>
            </a:r>
            <a:r>
              <a:rPr lang="en-US" altLang="en-US" sz="1800">
                <a:solidFill>
                  <a:schemeClr val="tx1"/>
                </a:solidFill>
              </a:rPr>
              <a:t>ò</a:t>
            </a:r>
            <a:r>
              <a:rPr lang="en-US" altLang="en-GB" sz="1800">
                <a:solidFill>
                  <a:schemeClr val="tx1"/>
                </a:solidFill>
              </a:rPr>
              <a:t>n khoảng 5 gi</a:t>
            </a:r>
            <a:r>
              <a:rPr lang="en-US" altLang="en-US" sz="1800">
                <a:solidFill>
                  <a:schemeClr val="tx1"/>
                </a:solidFill>
              </a:rPr>
              <a:t>â</a:t>
            </a:r>
            <a:r>
              <a:rPr lang="en-US" altLang="en-GB" sz="1800">
                <a:solidFill>
                  <a:schemeClr val="tx1"/>
                </a:solidFill>
              </a:rPr>
              <a:t>y với SBERT, trong khi vẫn duy tr</a:t>
            </a:r>
            <a:r>
              <a:rPr lang="en-US" altLang="en-US" sz="1800">
                <a:solidFill>
                  <a:schemeClr val="tx1"/>
                </a:solidFill>
              </a:rPr>
              <a:t>ì</a:t>
            </a:r>
            <a:r>
              <a:rPr lang="en-US" altLang="en-GB" sz="1800">
                <a:solidFill>
                  <a:schemeClr val="tx1"/>
                </a:solidFill>
              </a:rPr>
              <a:t> </a:t>
            </a:r>
            <a:r>
              <a:rPr lang="en-US" altLang="en-US" sz="1800">
                <a:solidFill>
                  <a:schemeClr val="tx1"/>
                </a:solidFill>
              </a:rPr>
              <a:t>đ</a:t>
            </a:r>
            <a:r>
              <a:rPr lang="en-US" altLang="en-GB" sz="1800">
                <a:solidFill>
                  <a:schemeClr val="tx1"/>
                </a:solidFill>
              </a:rPr>
              <a:t>ộ ch</a:t>
            </a:r>
            <a:r>
              <a:rPr lang="en-US" altLang="en-US" sz="1800">
                <a:solidFill>
                  <a:schemeClr val="tx1"/>
                </a:solidFill>
              </a:rPr>
              <a:t>í</a:t>
            </a:r>
            <a:r>
              <a:rPr lang="en-US" altLang="en-GB" sz="1800">
                <a:solidFill>
                  <a:schemeClr val="tx1"/>
                </a:solidFill>
              </a:rPr>
              <a:t>nh x</a:t>
            </a:r>
            <a:r>
              <a:rPr lang="en-US" altLang="en-US" sz="1800">
                <a:solidFill>
                  <a:schemeClr val="tx1"/>
                </a:solidFill>
              </a:rPr>
              <a:t>á</a:t>
            </a:r>
            <a:r>
              <a:rPr lang="en-US" altLang="en-GB" sz="1800">
                <a:solidFill>
                  <a:schemeClr val="tx1"/>
                </a:solidFill>
              </a:rPr>
              <a:t>c từ BERT </a:t>
            </a:r>
            <a:r>
              <a:rPr lang="en-US" altLang="en-GB" sz="1800" baseline="30000">
                <a:solidFill>
                  <a:schemeClr val="tx1"/>
                </a:solidFill>
              </a:rPr>
              <a:t>[4]</a:t>
            </a:r>
            <a:r>
              <a:rPr lang="en-US" altLang="en-GB" sz="1800">
                <a:solidFill>
                  <a:schemeClr val="tx1"/>
                </a:solidFill>
              </a:rPr>
              <a:t>. </a:t>
            </a: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r>
              <a:rPr lang="en-US" altLang="en-GB" sz="1500">
                <a:solidFill>
                  <a:schemeClr val="tx1"/>
                </a:solidFill>
              </a:rPr>
              <a:t>[3]: Reimers, N., &amp; Gurevych, I. (2019). "Sentence-BERT: Sentence Embeddings using Siamese BERT-Networks". Proceedings of EMNLP-IJCNLP 2019. https://arxiv.org/abs/1908.10084</a:t>
            </a:r>
            <a:br>
              <a:rPr lang="en-US" altLang="en-GB" sz="1500">
                <a:solidFill>
                  <a:schemeClr val="tx1"/>
                </a:solidFill>
              </a:rPr>
            </a:br>
            <a:r>
              <a:rPr lang="en-US" altLang="en-GB" sz="1500">
                <a:solidFill>
                  <a:schemeClr val="tx1"/>
                </a:solidFill>
              </a:rPr>
              <a:t>[</a:t>
            </a:r>
            <a:r>
              <a:rPr lang="en-US" altLang="en-GB" sz="1500">
                <a:solidFill>
                  <a:schemeClr val="tx1"/>
                </a:solidFill>
              </a:rPr>
              <a:t>4]: Theo phần 1. Introduction trong bài báo giới thiệu SBERT (Sentence-BERT: Sentence Embeddings using Siamese BERT-Networks)</a:t>
            </a:r>
            <a:br>
              <a:rPr lang="en-US" altLang="en-GB" sz="1800">
                <a:solidFill>
                  <a:schemeClr val="tx1"/>
                </a:solidFill>
              </a:rPr>
            </a:br>
            <a:endParaRPr lang="en-US" altLang="en-GB" sz="180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369570"/>
            <a:ext cx="11724640" cy="6325870"/>
          </a:xfrm>
        </p:spPr>
        <p:txBody>
          <a:bodyPr>
            <a:noAutofit/>
          </a:bodyPr>
          <a:p>
            <a:r>
              <a:rPr lang="en-US" altLang="en-GB" sz="3500"/>
              <a:t>2. Giải pháp: Sentence-Bert</a:t>
            </a:r>
            <a:r>
              <a:rPr lang="en-US" altLang="en-GB" sz="3500" baseline="30000"/>
              <a:t> </a:t>
            </a:r>
            <a:r>
              <a:rPr lang="en-US" altLang="en-GB" sz="3500"/>
              <a:t>(Bi-Encoder) ra đời</a:t>
            </a:r>
            <a:br>
              <a:rPr lang="en-US" altLang="en-GB" sz="2500"/>
            </a:br>
            <a:br>
              <a:rPr lang="en-US" altLang="en-GB" sz="1800"/>
            </a:br>
            <a:r>
              <a:rPr lang="en-US" sz="1800">
                <a:solidFill>
                  <a:schemeClr val="tx1"/>
                </a:solidFill>
              </a:rPr>
              <a:t>Thực chất, cũng </a:t>
            </a:r>
            <a:r>
              <a:rPr lang="en-US" sz="1800" b="1">
                <a:solidFill>
                  <a:srgbClr val="0070C0"/>
                </a:solidFill>
              </a:rPr>
              <a:t>có thể dùng BERT để tạo ra các sentence embedding</a:t>
            </a:r>
            <a:r>
              <a:rPr lang="en-US" sz="1800">
                <a:solidFill>
                  <a:schemeClr val="tx1"/>
                </a:solidFill>
              </a:rPr>
              <a:t>:</a:t>
            </a:r>
            <a:r>
              <a:rPr lang="en-US" altLang="en-GB" sz="1800">
                <a:solidFill>
                  <a:schemeClr val="tx1"/>
                </a:solidFill>
              </a:rPr>
              <a:t> C</a:t>
            </a:r>
            <a:r>
              <a:rPr lang="en-US" altLang="en-US" sz="1800">
                <a:solidFill>
                  <a:schemeClr val="tx1"/>
                </a:solidFill>
              </a:rPr>
              <a:t>á</a:t>
            </a:r>
            <a:r>
              <a:rPr lang="en-US" altLang="en-GB" sz="1800">
                <a:solidFill>
                  <a:schemeClr val="tx1"/>
                </a:solidFill>
              </a:rPr>
              <a:t>c nhà nghi</a:t>
            </a:r>
            <a:r>
              <a:rPr lang="en-US" altLang="en-US" sz="1800">
                <a:solidFill>
                  <a:schemeClr val="tx1"/>
                </a:solidFill>
              </a:rPr>
              <a:t>ê</a:t>
            </a:r>
            <a:r>
              <a:rPr lang="en-US" altLang="en-GB" sz="1800">
                <a:solidFill>
                  <a:schemeClr val="tx1"/>
                </a:solidFill>
              </a:rPr>
              <a:t>n cứu </a:t>
            </a:r>
            <a:r>
              <a:rPr lang="en-US" altLang="en-US" sz="1800">
                <a:solidFill>
                  <a:schemeClr val="tx1"/>
                </a:solidFill>
              </a:rPr>
              <a:t>đ</a:t>
            </a:r>
            <a:r>
              <a:rPr lang="en-US" altLang="en-US" sz="1800">
                <a:solidFill>
                  <a:schemeClr val="tx1"/>
                </a:solidFill>
              </a:rPr>
              <a:t>ã</a:t>
            </a:r>
            <a:r>
              <a:rPr lang="en-US" altLang="en-GB" sz="1800">
                <a:solidFill>
                  <a:schemeClr val="tx1"/>
                </a:solidFill>
              </a:rPr>
              <a:t> bắt </a:t>
            </a:r>
            <a:r>
              <a:rPr lang="en-US" altLang="en-US" sz="1800">
                <a:solidFill>
                  <a:schemeClr val="tx1"/>
                </a:solidFill>
              </a:rPr>
              <a:t>đ</a:t>
            </a:r>
            <a:r>
              <a:rPr lang="en-US" altLang="en-GB" sz="1800">
                <a:solidFill>
                  <a:schemeClr val="tx1"/>
                </a:solidFill>
              </a:rPr>
              <a:t>ầu </a:t>
            </a:r>
            <a:r>
              <a:rPr lang="en-US" altLang="en-US" sz="1800">
                <a:solidFill>
                  <a:schemeClr val="tx1"/>
                </a:solidFill>
              </a:rPr>
              <a:t>đư</a:t>
            </a:r>
            <a:r>
              <a:rPr lang="en-US" altLang="en-GB" sz="1800">
                <a:solidFill>
                  <a:schemeClr val="tx1"/>
                </a:solidFill>
              </a:rPr>
              <a:t>a c</a:t>
            </a:r>
            <a:r>
              <a:rPr lang="en-US" altLang="en-US" sz="1800">
                <a:solidFill>
                  <a:schemeClr val="tx1"/>
                </a:solidFill>
              </a:rPr>
              <a:t>á</a:t>
            </a:r>
            <a:r>
              <a:rPr lang="en-US" altLang="en-GB" sz="1800">
                <a:solidFill>
                  <a:schemeClr val="tx1"/>
                </a:solidFill>
              </a:rPr>
              <a:t>c c</a:t>
            </a:r>
            <a:r>
              <a:rPr lang="en-US" altLang="en-US" sz="1800">
                <a:solidFill>
                  <a:schemeClr val="tx1"/>
                </a:solidFill>
              </a:rPr>
              <a:t>â</a:t>
            </a:r>
            <a:r>
              <a:rPr lang="en-US" altLang="en-GB" sz="1800">
                <a:solidFill>
                  <a:schemeClr val="tx1"/>
                </a:solidFill>
              </a:rPr>
              <a:t>u ri</a:t>
            </a:r>
            <a:r>
              <a:rPr lang="en-US" altLang="en-US" sz="1800">
                <a:solidFill>
                  <a:schemeClr val="tx1"/>
                </a:solidFill>
              </a:rPr>
              <a:t>ê</a:t>
            </a:r>
            <a:r>
              <a:rPr lang="en-US" altLang="en-GB" sz="1800">
                <a:solidFill>
                  <a:schemeClr val="tx1"/>
                </a:solidFill>
              </a:rPr>
              <a:t>ng lẻ vào BERT và tr</a:t>
            </a:r>
            <a:r>
              <a:rPr lang="en-US" altLang="en-US" sz="1800">
                <a:solidFill>
                  <a:schemeClr val="tx1"/>
                </a:solidFill>
              </a:rPr>
              <a:t>í</a:t>
            </a:r>
            <a:r>
              <a:rPr lang="en-US" altLang="en-GB" sz="1800">
                <a:solidFill>
                  <a:schemeClr val="tx1"/>
                </a:solidFill>
              </a:rPr>
              <a:t>ch xuất c</a:t>
            </a:r>
            <a:r>
              <a:rPr lang="en-US" altLang="en-US" sz="1800">
                <a:solidFill>
                  <a:schemeClr val="tx1"/>
                </a:solidFill>
              </a:rPr>
              <a:t>á</a:t>
            </a:r>
            <a:r>
              <a:rPr lang="en-US" altLang="en-GB" sz="1800">
                <a:solidFill>
                  <a:schemeClr val="tx1"/>
                </a:solidFill>
              </a:rPr>
              <a:t>c vector sentence embedding c</a:t>
            </a:r>
            <a:r>
              <a:rPr lang="en-US" altLang="en-US" sz="1800">
                <a:solidFill>
                  <a:schemeClr val="tx1"/>
                </a:solidFill>
              </a:rPr>
              <a:t>ó</a:t>
            </a:r>
            <a:r>
              <a:rPr lang="en-US" altLang="en-GB" sz="1800">
                <a:solidFill>
                  <a:schemeClr val="tx1"/>
                </a:solidFill>
              </a:rPr>
              <a:t> k</a:t>
            </a:r>
            <a:r>
              <a:rPr lang="en-US" altLang="en-US" sz="1800">
                <a:solidFill>
                  <a:schemeClr val="tx1"/>
                </a:solidFill>
              </a:rPr>
              <a:t>í</a:t>
            </a:r>
            <a:r>
              <a:rPr lang="en-US" altLang="en-GB" sz="1800">
                <a:solidFill>
                  <a:schemeClr val="tx1"/>
                </a:solidFill>
              </a:rPr>
              <a:t>ch th</a:t>
            </a:r>
            <a:r>
              <a:rPr lang="en-US" altLang="en-US" sz="1800">
                <a:solidFill>
                  <a:schemeClr val="tx1"/>
                </a:solidFill>
              </a:rPr>
              <a:t>ư</a:t>
            </a:r>
            <a:r>
              <a:rPr lang="en-US" altLang="en-GB" sz="1800">
                <a:solidFill>
                  <a:schemeClr val="tx1"/>
                </a:solidFill>
              </a:rPr>
              <a:t>ớc cố </a:t>
            </a:r>
            <a:r>
              <a:rPr lang="en-US" altLang="en-US" sz="1800">
                <a:solidFill>
                  <a:schemeClr val="tx1"/>
                </a:solidFill>
              </a:rPr>
              <a:t>đ</a:t>
            </a:r>
            <a:r>
              <a:rPr lang="en-US" altLang="en-GB" sz="1800">
                <a:solidFill>
                  <a:schemeClr val="tx1"/>
                </a:solidFill>
              </a:rPr>
              <a:t>ịnh.</a:t>
            </a:r>
            <a:br>
              <a:rPr lang="en-US" altLang="en-GB" sz="1800">
                <a:solidFill>
                  <a:schemeClr val="tx1"/>
                </a:solidFill>
              </a:rPr>
            </a:br>
            <a:br>
              <a:rPr lang="en-US" altLang="en-GB" sz="1800">
                <a:solidFill>
                  <a:schemeClr val="tx1"/>
                </a:solidFill>
              </a:rPr>
            </a:br>
            <a:r>
              <a:rPr lang="en-US" altLang="en-GB" sz="1800">
                <a:solidFill>
                  <a:schemeClr val="tx1"/>
                </a:solidFill>
              </a:rPr>
              <a:t>+ </a:t>
            </a:r>
            <a:r>
              <a:rPr lang="en-US" altLang="en-GB" sz="1800">
                <a:solidFill>
                  <a:srgbClr val="0070C0"/>
                </a:solidFill>
              </a:rPr>
              <a:t>C</a:t>
            </a:r>
            <a:r>
              <a:rPr lang="en-US" altLang="en-US" sz="1800">
                <a:solidFill>
                  <a:srgbClr val="0070C0"/>
                </a:solidFill>
              </a:rPr>
              <a:t>á</a:t>
            </a:r>
            <a:r>
              <a:rPr lang="en-US" altLang="en-GB" sz="1800">
                <a:solidFill>
                  <a:srgbClr val="0070C0"/>
                </a:solidFill>
              </a:rPr>
              <a:t>ch 1</a:t>
            </a:r>
            <a:r>
              <a:rPr lang="en-US" altLang="en-GB" sz="1800">
                <a:solidFill>
                  <a:schemeClr val="tx1"/>
                </a:solidFill>
              </a:rPr>
              <a:t>: d</a:t>
            </a:r>
            <a:r>
              <a:rPr lang="en-US" altLang="en-US" sz="1800">
                <a:solidFill>
                  <a:schemeClr val="tx1"/>
                </a:solidFill>
              </a:rPr>
              <a:t>ù</a:t>
            </a:r>
            <a:r>
              <a:rPr lang="en-US" altLang="en-GB" sz="1800">
                <a:solidFill>
                  <a:schemeClr val="tx1"/>
                </a:solidFill>
              </a:rPr>
              <a:t>ng token [CLS]: sử dụng </a:t>
            </a:r>
            <a:r>
              <a:rPr lang="en-US" altLang="en-US" sz="1800">
                <a:solidFill>
                  <a:schemeClr val="tx1"/>
                </a:solidFill>
              </a:rPr>
              <a:t>đ</a:t>
            </a:r>
            <a:r>
              <a:rPr lang="en-US" altLang="en-GB" sz="1800">
                <a:solidFill>
                  <a:schemeClr val="tx1"/>
                </a:solidFill>
              </a:rPr>
              <a:t>ầu ra của token [CLS] V</a:t>
            </a:r>
            <a:r>
              <a:rPr lang="en-US" altLang="en-US" sz="1800">
                <a:solidFill>
                  <a:schemeClr val="tx1"/>
                </a:solidFill>
              </a:rPr>
              <a:t>Ì</a:t>
            </a:r>
            <a:r>
              <a:rPr lang="en-US" altLang="en-GB" sz="1800">
                <a:solidFill>
                  <a:schemeClr val="tx1"/>
                </a:solidFill>
              </a:rPr>
              <a:t> Vector này vốn d</a:t>
            </a:r>
            <a:r>
              <a:rPr lang="en-US" altLang="en-US" sz="1800">
                <a:solidFill>
                  <a:schemeClr val="tx1"/>
                </a:solidFill>
              </a:rPr>
              <a:t>ĩ</a:t>
            </a:r>
            <a:r>
              <a:rPr lang="en-US" altLang="en-GB" sz="1800">
                <a:solidFill>
                  <a:schemeClr val="tx1"/>
                </a:solidFill>
              </a:rPr>
              <a:t> mang nhiệm vụ tổng hợp thông tin </a:t>
            </a:r>
            <a:r>
              <a:rPr lang="en-US" altLang="en-US" sz="1800">
                <a:solidFill>
                  <a:schemeClr val="tx1"/>
                </a:solidFill>
              </a:rPr>
              <a:t>đ</a:t>
            </a:r>
            <a:r>
              <a:rPr lang="en-US" altLang="en-GB" sz="1800">
                <a:solidFill>
                  <a:schemeClr val="tx1"/>
                </a:solidFill>
              </a:rPr>
              <a:t>ể giải quyết bài to</a:t>
            </a:r>
            <a:r>
              <a:rPr lang="en-US" altLang="en-US" sz="1800">
                <a:solidFill>
                  <a:schemeClr val="tx1"/>
                </a:solidFill>
              </a:rPr>
              <a:t>á</a:t>
            </a:r>
            <a:r>
              <a:rPr lang="en-US" altLang="en-GB" sz="1800">
                <a:solidFill>
                  <a:schemeClr val="tx1"/>
                </a:solidFill>
              </a:rPr>
              <a:t>n next sentence prediction (NSP)</a:t>
            </a:r>
            <a:br>
              <a:rPr lang="en-US" altLang="en-GB" sz="1800">
                <a:solidFill>
                  <a:schemeClr val="tx1"/>
                </a:solidFill>
              </a:rPr>
            </a:br>
            <a:br>
              <a:rPr lang="en-US" altLang="en-GB" sz="1800">
                <a:solidFill>
                  <a:schemeClr val="tx1"/>
                </a:solidFill>
              </a:rPr>
            </a:br>
            <a:r>
              <a:rPr lang="en-US" altLang="en-GB" sz="1800">
                <a:solidFill>
                  <a:schemeClr val="tx1"/>
                </a:solidFill>
              </a:rPr>
              <a:t>+ </a:t>
            </a:r>
            <a:r>
              <a:rPr lang="en-US" altLang="en-GB" sz="1800">
                <a:solidFill>
                  <a:srgbClr val="0070C0"/>
                </a:solidFill>
              </a:rPr>
              <a:t>C</a:t>
            </a:r>
            <a:r>
              <a:rPr lang="en-US" altLang="en-US" sz="1800">
                <a:solidFill>
                  <a:srgbClr val="0070C0"/>
                </a:solidFill>
              </a:rPr>
              <a:t>á</a:t>
            </a:r>
            <a:r>
              <a:rPr lang="en-US" altLang="en-GB" sz="1800">
                <a:solidFill>
                  <a:srgbClr val="0070C0"/>
                </a:solidFill>
              </a:rPr>
              <a:t>ch 2</a:t>
            </a:r>
            <a:r>
              <a:rPr lang="en-US" altLang="en-GB" sz="1800">
                <a:solidFill>
                  <a:schemeClr val="tx1"/>
                </a:solidFill>
              </a:rPr>
              <a:t>: d</a:t>
            </a:r>
            <a:r>
              <a:rPr lang="en-US" altLang="en-US" sz="1800">
                <a:solidFill>
                  <a:schemeClr val="tx1"/>
                </a:solidFill>
              </a:rPr>
              <a:t>ù</a:t>
            </a:r>
            <a:r>
              <a:rPr lang="en-US" altLang="en-GB" sz="1800">
                <a:solidFill>
                  <a:schemeClr val="tx1"/>
                </a:solidFill>
              </a:rPr>
              <a:t>ng mean/max pooling: lấy vector của tất cả c</a:t>
            </a:r>
            <a:r>
              <a:rPr lang="en-US" altLang="en-US" sz="1800">
                <a:solidFill>
                  <a:schemeClr val="tx1"/>
                </a:solidFill>
              </a:rPr>
              <a:t>á</a:t>
            </a:r>
            <a:r>
              <a:rPr lang="en-US" altLang="en-GB" sz="1800">
                <a:solidFill>
                  <a:schemeClr val="tx1"/>
                </a:solidFill>
              </a:rPr>
              <a:t>c từ trong c</a:t>
            </a:r>
            <a:r>
              <a:rPr lang="en-US" altLang="en-US" sz="1800">
                <a:solidFill>
                  <a:schemeClr val="tx1"/>
                </a:solidFill>
              </a:rPr>
              <a:t>â</a:t>
            </a:r>
            <a:r>
              <a:rPr lang="en-US" altLang="en-GB" sz="1800">
                <a:solidFill>
                  <a:schemeClr val="tx1"/>
                </a:solidFill>
              </a:rPr>
              <a:t>u (trừ CLS và SEP) rồi t</a:t>
            </a:r>
            <a:r>
              <a:rPr lang="en-US" altLang="en-US" sz="1800">
                <a:solidFill>
                  <a:schemeClr val="tx1"/>
                </a:solidFill>
              </a:rPr>
              <a:t>í</a:t>
            </a:r>
            <a:r>
              <a:rPr lang="en-US" altLang="en-GB" sz="1800">
                <a:solidFill>
                  <a:schemeClr val="tx1"/>
                </a:solidFill>
              </a:rPr>
              <a:t>nh trung b</a:t>
            </a:r>
            <a:r>
              <a:rPr lang="en-US" altLang="en-US" sz="1800">
                <a:solidFill>
                  <a:schemeClr val="tx1"/>
                </a:solidFill>
              </a:rPr>
              <a:t>ì</a:t>
            </a:r>
            <a:r>
              <a:rPr lang="en-US" altLang="en-GB" sz="1800">
                <a:solidFill>
                  <a:schemeClr val="tx1"/>
                </a:solidFill>
              </a:rPr>
              <a:t>nh cộng hoặc max tr</a:t>
            </a:r>
            <a:r>
              <a:rPr lang="en-US" altLang="en-US" sz="1800">
                <a:solidFill>
                  <a:schemeClr val="tx1"/>
                </a:solidFill>
              </a:rPr>
              <a:t>ê</a:t>
            </a:r>
            <a:r>
              <a:rPr lang="en-US" altLang="en-GB" sz="1800">
                <a:solidFill>
                  <a:schemeClr val="tx1"/>
                </a:solidFill>
              </a:rPr>
              <a:t>n từng chiều</a:t>
            </a:r>
            <a:br>
              <a:rPr lang="en-US" altLang="en-GB" sz="1800">
                <a:solidFill>
                  <a:schemeClr val="tx1"/>
                </a:solidFill>
              </a:rPr>
            </a:br>
            <a:br>
              <a:rPr lang="en-US" altLang="en-GB" sz="1800">
                <a:solidFill>
                  <a:schemeClr val="tx1"/>
                </a:solidFill>
              </a:rPr>
            </a:br>
            <a:r>
              <a:rPr lang="en-US" altLang="en-GB" sz="1800">
                <a:solidFill>
                  <a:schemeClr val="tx1"/>
                </a:solidFill>
              </a:rPr>
              <a:t>-&gt; Nh</a:t>
            </a:r>
            <a:r>
              <a:rPr lang="en-US" altLang="en-US" sz="1800">
                <a:solidFill>
                  <a:schemeClr val="tx1"/>
                </a:solidFill>
              </a:rPr>
              <a:t>ư</a:t>
            </a:r>
            <a:r>
              <a:rPr lang="en-US" altLang="en-GB" sz="1800">
                <a:solidFill>
                  <a:schemeClr val="tx1"/>
                </a:solidFill>
              </a:rPr>
              <a:t>ng Vector sinh ra cực kỳ tệ trong việc </a:t>
            </a:r>
            <a:r>
              <a:rPr lang="en-US" altLang="en-US" sz="1800">
                <a:solidFill>
                  <a:schemeClr val="tx1"/>
                </a:solidFill>
              </a:rPr>
              <a:t>đ</a:t>
            </a:r>
            <a:r>
              <a:rPr lang="en-US" altLang="en-GB" sz="1800">
                <a:solidFill>
                  <a:schemeClr val="tx1"/>
                </a:solidFill>
              </a:rPr>
              <a:t>o l</a:t>
            </a:r>
            <a:r>
              <a:rPr lang="en-US" altLang="en-US" sz="1800">
                <a:solidFill>
                  <a:schemeClr val="tx1"/>
                </a:solidFill>
              </a:rPr>
              <a:t>ư</a:t>
            </a:r>
            <a:r>
              <a:rPr lang="en-US" altLang="en-GB" sz="1800">
                <a:solidFill>
                  <a:schemeClr val="tx1"/>
                </a:solidFill>
              </a:rPr>
              <a:t>ờng </a:t>
            </a:r>
            <a:r>
              <a:rPr lang="en-US" altLang="en-US" sz="1800">
                <a:solidFill>
                  <a:schemeClr val="tx1"/>
                </a:solidFill>
              </a:rPr>
              <a:t>đ</a:t>
            </a:r>
            <a:r>
              <a:rPr lang="en-US" altLang="en-GB" sz="1800">
                <a:solidFill>
                  <a:schemeClr val="tx1"/>
                </a:solidFill>
              </a:rPr>
              <a:t>ộ t</a:t>
            </a:r>
            <a:r>
              <a:rPr lang="en-US" altLang="en-US" sz="1800">
                <a:solidFill>
                  <a:schemeClr val="tx1"/>
                </a:solidFill>
              </a:rPr>
              <a:t>ư</a:t>
            </a:r>
            <a:r>
              <a:rPr lang="en-US" altLang="en-US" sz="1800">
                <a:solidFill>
                  <a:schemeClr val="tx1"/>
                </a:solidFill>
              </a:rPr>
              <a:t>ơ</a:t>
            </a:r>
            <a:r>
              <a:rPr lang="en-US" altLang="en-GB" sz="1800">
                <a:solidFill>
                  <a:schemeClr val="tx1"/>
                </a:solidFill>
              </a:rPr>
              <a:t>ng </a:t>
            </a:r>
            <a:r>
              <a:rPr lang="en-US" altLang="en-US" sz="1800">
                <a:solidFill>
                  <a:schemeClr val="tx1"/>
                </a:solidFill>
              </a:rPr>
              <a:t>đ</a:t>
            </a:r>
            <a:r>
              <a:rPr lang="en-US" altLang="en-GB" sz="1800">
                <a:solidFill>
                  <a:schemeClr val="tx1"/>
                </a:solidFill>
              </a:rPr>
              <a:t>ồng. Nguy</a:t>
            </a:r>
            <a:r>
              <a:rPr lang="en-US" altLang="en-US" sz="1800">
                <a:solidFill>
                  <a:schemeClr val="tx1"/>
                </a:solidFill>
              </a:rPr>
              <a:t>ê</a:t>
            </a:r>
            <a:r>
              <a:rPr lang="en-US" altLang="en-GB" sz="1800">
                <a:solidFill>
                  <a:schemeClr val="tx1"/>
                </a:solidFill>
              </a:rPr>
              <a:t>n nh</a:t>
            </a:r>
            <a:r>
              <a:rPr lang="en-US" altLang="en-US" sz="1800">
                <a:solidFill>
                  <a:schemeClr val="tx1"/>
                </a:solidFill>
              </a:rPr>
              <a:t>â</a:t>
            </a:r>
            <a:r>
              <a:rPr lang="en-US" altLang="en-GB" sz="1800">
                <a:solidFill>
                  <a:schemeClr val="tx1"/>
                </a:solidFill>
              </a:rPr>
              <a:t>n chủ yếu là do Vấn </a:t>
            </a:r>
            <a:r>
              <a:rPr lang="en-US" altLang="en-US" sz="1800">
                <a:solidFill>
                  <a:schemeClr val="tx1"/>
                </a:solidFill>
              </a:rPr>
              <a:t>đ</a:t>
            </a:r>
            <a:r>
              <a:rPr lang="en-US" altLang="en-GB" sz="1800">
                <a:solidFill>
                  <a:schemeClr val="tx1"/>
                </a:solidFill>
              </a:rPr>
              <a:t>ề "Dị h</a:t>
            </a:r>
            <a:r>
              <a:rPr lang="en-US" altLang="en-US" sz="1800">
                <a:solidFill>
                  <a:schemeClr val="tx1"/>
                </a:solidFill>
              </a:rPr>
              <a:t>ư</a:t>
            </a:r>
            <a:r>
              <a:rPr lang="en-US" altLang="en-GB" sz="1800">
                <a:solidFill>
                  <a:schemeClr val="tx1"/>
                </a:solidFill>
              </a:rPr>
              <a:t>ớng" (Anisotropy) của BERT:</a:t>
            </a:r>
            <a:br>
              <a:rPr lang="en-US" altLang="en-GB" sz="1800">
                <a:solidFill>
                  <a:schemeClr val="tx1"/>
                </a:solidFill>
              </a:rPr>
            </a:br>
            <a:r>
              <a:rPr lang="en-US" altLang="en-GB" sz="1800">
                <a:solidFill>
                  <a:schemeClr val="tx1"/>
                </a:solidFill>
              </a:rPr>
              <a:t>	Không gian vector của BERT bị mắc hội chứng "dị h</a:t>
            </a:r>
            <a:r>
              <a:rPr lang="en-US" altLang="en-US" sz="1800">
                <a:solidFill>
                  <a:schemeClr val="tx1"/>
                </a:solidFill>
              </a:rPr>
              <a:t>ư</a:t>
            </a:r>
            <a:r>
              <a:rPr lang="en-US" altLang="en-GB" sz="1800">
                <a:solidFill>
                  <a:schemeClr val="tx1"/>
                </a:solidFill>
              </a:rPr>
              <a:t>ớng" (Anisotropy) </a:t>
            </a:r>
            <a:r>
              <a:rPr lang="en-US" altLang="en-GB" sz="1800" baseline="30000">
                <a:solidFill>
                  <a:schemeClr val="tx1"/>
                </a:solidFill>
              </a:rPr>
              <a:t>[5]</a:t>
            </a:r>
            <a:r>
              <a:rPr lang="en-US" altLang="en-GB" sz="1800">
                <a:solidFill>
                  <a:schemeClr val="tx1"/>
                </a:solidFill>
              </a:rPr>
              <a:t>. Tức là, thay v</a:t>
            </a:r>
            <a:r>
              <a:rPr lang="en-US" altLang="en-US" sz="1800">
                <a:solidFill>
                  <a:schemeClr val="tx1"/>
                </a:solidFill>
              </a:rPr>
              <a:t>ì</a:t>
            </a:r>
            <a:r>
              <a:rPr lang="en-US" altLang="en-GB" sz="1800">
                <a:solidFill>
                  <a:schemeClr val="tx1"/>
                </a:solidFill>
              </a:rPr>
              <a:t> c</a:t>
            </a:r>
            <a:r>
              <a:rPr lang="en-US" altLang="en-US" sz="1800">
                <a:solidFill>
                  <a:schemeClr val="tx1"/>
                </a:solidFill>
              </a:rPr>
              <a:t>á</a:t>
            </a:r>
            <a:r>
              <a:rPr lang="en-US" altLang="en-GB" sz="1800">
                <a:solidFill>
                  <a:schemeClr val="tx1"/>
                </a:solidFill>
              </a:rPr>
              <a:t>c vector </a:t>
            </a:r>
            <a:r>
              <a:rPr lang="en-US" altLang="en-US" sz="1800">
                <a:solidFill>
                  <a:schemeClr val="tx1"/>
                </a:solidFill>
              </a:rPr>
              <a:t>đư</a:t>
            </a:r>
            <a:r>
              <a:rPr lang="en-US" altLang="en-GB" sz="1800">
                <a:solidFill>
                  <a:schemeClr val="tx1"/>
                </a:solidFill>
              </a:rPr>
              <a:t>ợc ph</a:t>
            </a:r>
            <a:r>
              <a:rPr lang="en-US" altLang="en-US" sz="1800">
                <a:solidFill>
                  <a:schemeClr val="tx1"/>
                </a:solidFill>
              </a:rPr>
              <a:t>â</a:t>
            </a:r>
            <a:r>
              <a:rPr lang="en-US" altLang="en-GB" sz="1800">
                <a:solidFill>
                  <a:schemeClr val="tx1"/>
                </a:solidFill>
              </a:rPr>
              <a:t>n bố </a:t>
            </a:r>
            <a:r>
              <a:rPr lang="en-US" altLang="en-US" sz="1800">
                <a:solidFill>
                  <a:schemeClr val="tx1"/>
                </a:solidFill>
              </a:rPr>
              <a:t>đ</a:t>
            </a:r>
            <a:r>
              <a:rPr lang="en-US" altLang="en-GB" sz="1800">
                <a:solidFill>
                  <a:schemeClr val="tx1"/>
                </a:solidFill>
              </a:rPr>
              <a:t>ều trong không gian, ch</a:t>
            </a:r>
            <a:r>
              <a:rPr lang="en-US" altLang="en-US" sz="1800">
                <a:solidFill>
                  <a:schemeClr val="tx1"/>
                </a:solidFill>
              </a:rPr>
              <a:t>ú</a:t>
            </a:r>
            <a:r>
              <a:rPr lang="en-US" altLang="en-GB" sz="1800">
                <a:solidFill>
                  <a:schemeClr val="tx1"/>
                </a:solidFill>
              </a:rPr>
              <a:t>ng lại bị dồn </a:t>
            </a:r>
            <a:r>
              <a:rPr lang="en-US" altLang="en-US" sz="1800">
                <a:solidFill>
                  <a:schemeClr val="tx1"/>
                </a:solidFill>
              </a:rPr>
              <a:t>é</a:t>
            </a:r>
            <a:r>
              <a:rPr lang="en-US" altLang="en-GB" sz="1800">
                <a:solidFill>
                  <a:schemeClr val="tx1"/>
                </a:solidFill>
              </a:rPr>
              <a:t>p vào một g</a:t>
            </a:r>
            <a:r>
              <a:rPr lang="en-US" altLang="en-US" sz="1800">
                <a:solidFill>
                  <a:schemeClr val="tx1"/>
                </a:solidFill>
              </a:rPr>
              <a:t>ó</a:t>
            </a:r>
            <a:r>
              <a:rPr lang="en-US" altLang="en-GB" sz="1800">
                <a:solidFill>
                  <a:schemeClr val="tx1"/>
                </a:solidFill>
              </a:rPr>
              <a:t>c hẹp (h</a:t>
            </a:r>
            <a:r>
              <a:rPr lang="en-US" altLang="en-US" sz="1800">
                <a:solidFill>
                  <a:schemeClr val="tx1"/>
                </a:solidFill>
              </a:rPr>
              <a:t>ì</a:t>
            </a:r>
            <a:r>
              <a:rPr lang="en-US" altLang="en-GB" sz="1800">
                <a:solidFill>
                  <a:schemeClr val="tx1"/>
                </a:solidFill>
              </a:rPr>
              <a:t>nh n</a:t>
            </a:r>
            <a:r>
              <a:rPr lang="en-US" altLang="en-US" sz="1800">
                <a:solidFill>
                  <a:schemeClr val="tx1"/>
                </a:solidFill>
              </a:rPr>
              <a:t>ó</a:t>
            </a:r>
            <a:r>
              <a:rPr lang="en-US" altLang="en-GB" sz="1800">
                <a:solidFill>
                  <a:schemeClr val="tx1"/>
                </a:solidFill>
              </a:rPr>
              <a:t>n).</a:t>
            </a:r>
            <a:br>
              <a:rPr lang="en-US" altLang="en-GB" sz="1800">
                <a:solidFill>
                  <a:schemeClr val="tx1"/>
                </a:solidFill>
              </a:rPr>
            </a:br>
            <a:r>
              <a:rPr lang="en-US" altLang="en-GB" sz="1800">
                <a:solidFill>
                  <a:schemeClr val="tx1"/>
                </a:solidFill>
              </a:rPr>
              <a:t>	Hậu quả: Khi t</a:t>
            </a:r>
            <a:r>
              <a:rPr lang="en-US" altLang="en-US" sz="1800">
                <a:solidFill>
                  <a:schemeClr val="tx1"/>
                </a:solidFill>
              </a:rPr>
              <a:t>í</a:t>
            </a:r>
            <a:r>
              <a:rPr lang="en-US" altLang="en-GB" sz="1800">
                <a:solidFill>
                  <a:schemeClr val="tx1"/>
                </a:solidFill>
              </a:rPr>
              <a:t>nh Cosine Similarity giữa 2 c</a:t>
            </a:r>
            <a:r>
              <a:rPr lang="en-US" altLang="en-US" sz="1800">
                <a:solidFill>
                  <a:schemeClr val="tx1"/>
                </a:solidFill>
              </a:rPr>
              <a:t>â</a:t>
            </a:r>
            <a:r>
              <a:rPr lang="en-US" altLang="en-GB" sz="1800">
                <a:solidFill>
                  <a:schemeClr val="tx1"/>
                </a:solidFill>
              </a:rPr>
              <a:t>u ngẫu nhi</a:t>
            </a:r>
            <a:r>
              <a:rPr lang="en-US" altLang="en-US" sz="1800">
                <a:solidFill>
                  <a:schemeClr val="tx1"/>
                </a:solidFill>
              </a:rPr>
              <a:t>ê</a:t>
            </a:r>
            <a:r>
              <a:rPr lang="en-US" altLang="en-GB" sz="1800">
                <a:solidFill>
                  <a:schemeClr val="tx1"/>
                </a:solidFill>
              </a:rPr>
              <a:t>n bất kỳ bằng BERT, </a:t>
            </a:r>
            <a:r>
              <a:rPr lang="en-US" altLang="en-US" sz="1800">
                <a:solidFill>
                  <a:schemeClr val="tx1"/>
                </a:solidFill>
              </a:rPr>
              <a:t>đ</a:t>
            </a:r>
            <a:r>
              <a:rPr lang="en-US" altLang="en-GB" sz="1800">
                <a:solidFill>
                  <a:schemeClr val="tx1"/>
                </a:solidFill>
              </a:rPr>
              <a:t>iểm số l</a:t>
            </a:r>
            <a:r>
              <a:rPr lang="en-US" altLang="en-US" sz="1800">
                <a:solidFill>
                  <a:schemeClr val="tx1"/>
                </a:solidFill>
              </a:rPr>
              <a:t>ú</a:t>
            </a:r>
            <a:r>
              <a:rPr lang="en-US" altLang="en-GB" sz="1800">
                <a:solidFill>
                  <a:schemeClr val="tx1"/>
                </a:solidFill>
              </a:rPr>
              <a:t>c nào c</a:t>
            </a:r>
            <a:r>
              <a:rPr lang="en-US" altLang="en-US" sz="1800">
                <a:solidFill>
                  <a:schemeClr val="tx1"/>
                </a:solidFill>
              </a:rPr>
              <a:t>ũ</a:t>
            </a:r>
            <a:r>
              <a:rPr lang="en-US" altLang="en-GB" sz="1800">
                <a:solidFill>
                  <a:schemeClr val="tx1"/>
                </a:solidFill>
              </a:rPr>
              <a:t>ng cao (th</a:t>
            </a:r>
            <a:r>
              <a:rPr lang="en-US" altLang="en-US" sz="1800">
                <a:solidFill>
                  <a:schemeClr val="tx1"/>
                </a:solidFill>
              </a:rPr>
              <a:t>ư</a:t>
            </a:r>
            <a:r>
              <a:rPr lang="en-US" altLang="en-GB" sz="1800">
                <a:solidFill>
                  <a:schemeClr val="tx1"/>
                </a:solidFill>
              </a:rPr>
              <a:t>ờng là 0.8 </a:t>
            </a:r>
            <a:r>
              <a:rPr lang="en-US" altLang="en-US" sz="1800">
                <a:solidFill>
                  <a:schemeClr val="tx1"/>
                </a:solidFill>
              </a:rPr>
              <a:t>đ</a:t>
            </a:r>
            <a:r>
              <a:rPr lang="en-US" altLang="en-GB" sz="1800">
                <a:solidFill>
                  <a:schemeClr val="tx1"/>
                </a:solidFill>
              </a:rPr>
              <a:t>ến 0.9), cho d</a:t>
            </a:r>
            <a:r>
              <a:rPr lang="en-US" altLang="en-US" sz="1800">
                <a:solidFill>
                  <a:schemeClr val="tx1"/>
                </a:solidFill>
              </a:rPr>
              <a:t>ù</a:t>
            </a:r>
            <a:r>
              <a:rPr lang="en-US" altLang="en-GB" sz="1800">
                <a:solidFill>
                  <a:schemeClr val="tx1"/>
                </a:solidFill>
              </a:rPr>
              <a:t> 2 c</a:t>
            </a:r>
            <a:r>
              <a:rPr lang="en-US" altLang="en-US" sz="1800">
                <a:solidFill>
                  <a:schemeClr val="tx1"/>
                </a:solidFill>
              </a:rPr>
              <a:t>â</a:t>
            </a:r>
            <a:r>
              <a:rPr lang="en-US" altLang="en-GB" sz="1800">
                <a:solidFill>
                  <a:schemeClr val="tx1"/>
                </a:solidFill>
              </a:rPr>
              <a:t>u </a:t>
            </a:r>
            <a:r>
              <a:rPr lang="en-US" altLang="en-US" sz="1800">
                <a:solidFill>
                  <a:schemeClr val="tx1"/>
                </a:solidFill>
              </a:rPr>
              <a:t>đ</a:t>
            </a:r>
            <a:r>
              <a:rPr lang="en-US" altLang="en-US" sz="1800">
                <a:solidFill>
                  <a:schemeClr val="tx1"/>
                </a:solidFill>
              </a:rPr>
              <a:t>ó</a:t>
            </a:r>
            <a:r>
              <a:rPr lang="en-US" altLang="en-GB" sz="1800">
                <a:solidFill>
                  <a:schemeClr val="tx1"/>
                </a:solidFill>
              </a:rPr>
              <a:t> kh</a:t>
            </a:r>
            <a:r>
              <a:rPr lang="en-US" altLang="en-US" sz="1800">
                <a:solidFill>
                  <a:schemeClr val="tx1"/>
                </a:solidFill>
              </a:rPr>
              <a:t>á</a:t>
            </a:r>
            <a:r>
              <a:rPr lang="en-US" altLang="en-GB" sz="1800">
                <a:solidFill>
                  <a:schemeClr val="tx1"/>
                </a:solidFill>
              </a:rPr>
              <a:t>c hẳn nhau về </a:t>
            </a:r>
            <a:r>
              <a:rPr lang="en-US" altLang="en-US" sz="1800">
                <a:solidFill>
                  <a:schemeClr val="tx1"/>
                </a:solidFill>
              </a:rPr>
              <a:t>ý</a:t>
            </a:r>
            <a:r>
              <a:rPr lang="en-US" altLang="en-GB" sz="1800">
                <a:solidFill>
                  <a:schemeClr val="tx1"/>
                </a:solidFill>
              </a:rPr>
              <a:t> ngh</a:t>
            </a:r>
            <a:r>
              <a:rPr lang="en-US" altLang="en-US" sz="1800">
                <a:solidFill>
                  <a:schemeClr val="tx1"/>
                </a:solidFill>
              </a:rPr>
              <a:t>ĩ</a:t>
            </a:r>
            <a:r>
              <a:rPr lang="en-US" altLang="en-GB" sz="1800">
                <a:solidFill>
                  <a:schemeClr val="tx1"/>
                </a:solidFill>
              </a:rPr>
              <a:t>a.</a:t>
            </a:r>
            <a:br>
              <a:rPr lang="en-US" altLang="en-GB" sz="1800">
                <a:solidFill>
                  <a:schemeClr val="tx1"/>
                </a:solidFill>
              </a:rPr>
            </a:br>
            <a:r>
              <a:rPr lang="en-US" altLang="en-GB" sz="1800">
                <a:solidFill>
                  <a:schemeClr val="tx1"/>
                </a:solidFill>
              </a:rPr>
              <a:t>	Thậm ch</a:t>
            </a:r>
            <a:r>
              <a:rPr lang="en-US" altLang="en-US" sz="1800">
                <a:solidFill>
                  <a:schemeClr val="tx1"/>
                </a:solidFill>
              </a:rPr>
              <a:t>í</a:t>
            </a:r>
            <a:r>
              <a:rPr lang="en-US" altLang="en-GB" sz="1800">
                <a:solidFill>
                  <a:schemeClr val="tx1"/>
                </a:solidFill>
              </a:rPr>
              <a:t>, t</a:t>
            </a:r>
            <a:r>
              <a:rPr lang="en-US" altLang="en-US" sz="1800">
                <a:solidFill>
                  <a:schemeClr val="tx1"/>
                </a:solidFill>
              </a:rPr>
              <a:t>á</a:t>
            </a:r>
            <a:r>
              <a:rPr lang="en-US" altLang="en-GB" sz="1800">
                <a:solidFill>
                  <a:schemeClr val="tx1"/>
                </a:solidFill>
              </a:rPr>
              <a:t>c giả của SBERT </a:t>
            </a:r>
            <a:r>
              <a:rPr lang="en-US" altLang="en-US" sz="1800">
                <a:solidFill>
                  <a:schemeClr val="tx1"/>
                </a:solidFill>
              </a:rPr>
              <a:t>đ</a:t>
            </a:r>
            <a:r>
              <a:rPr lang="en-US" altLang="en-US" sz="1800">
                <a:solidFill>
                  <a:schemeClr val="tx1"/>
                </a:solidFill>
              </a:rPr>
              <a:t>ã</a:t>
            </a:r>
            <a:r>
              <a:rPr lang="en-US" altLang="en-GB" sz="1800">
                <a:solidFill>
                  <a:schemeClr val="tx1"/>
                </a:solidFill>
              </a:rPr>
              <a:t> chứng minh rằng: </a:t>
            </a:r>
            <a:r>
              <a:rPr lang="en-US" altLang="en-GB" sz="1800">
                <a:solidFill>
                  <a:srgbClr val="0070C0"/>
                </a:solidFill>
              </a:rPr>
              <a:t>D</a:t>
            </a:r>
            <a:r>
              <a:rPr lang="en-US" altLang="en-US" sz="1800">
                <a:solidFill>
                  <a:srgbClr val="0070C0"/>
                </a:solidFill>
              </a:rPr>
              <a:t>ù</a:t>
            </a:r>
            <a:r>
              <a:rPr lang="en-US" altLang="en-GB" sz="1800">
                <a:solidFill>
                  <a:srgbClr val="0070C0"/>
                </a:solidFill>
              </a:rPr>
              <a:t>ng BERT </a:t>
            </a:r>
            <a:r>
              <a:rPr lang="en-US" altLang="en-US" sz="1800">
                <a:solidFill>
                  <a:srgbClr val="0070C0"/>
                </a:solidFill>
              </a:rPr>
              <a:t>đ</a:t>
            </a:r>
            <a:r>
              <a:rPr lang="en-US" altLang="en-GB" sz="1800">
                <a:solidFill>
                  <a:srgbClr val="0070C0"/>
                </a:solidFill>
              </a:rPr>
              <a:t>ể t</a:t>
            </a:r>
            <a:r>
              <a:rPr lang="en-US" altLang="en-US" sz="1800">
                <a:solidFill>
                  <a:srgbClr val="0070C0"/>
                </a:solidFill>
              </a:rPr>
              <a:t>í</a:t>
            </a:r>
            <a:r>
              <a:rPr lang="en-US" altLang="en-GB" sz="1800">
                <a:solidFill>
                  <a:srgbClr val="0070C0"/>
                </a:solidFill>
              </a:rPr>
              <a:t>nh </a:t>
            </a:r>
            <a:r>
              <a:rPr lang="en-US" altLang="en-US" sz="1800">
                <a:solidFill>
                  <a:srgbClr val="0070C0"/>
                </a:solidFill>
              </a:rPr>
              <a:t>đ</a:t>
            </a:r>
            <a:r>
              <a:rPr lang="en-US" altLang="en-GB" sz="1800">
                <a:solidFill>
                  <a:srgbClr val="0070C0"/>
                </a:solidFill>
              </a:rPr>
              <a:t>ộ t</a:t>
            </a:r>
            <a:r>
              <a:rPr lang="en-US" altLang="en-US" sz="1800">
                <a:solidFill>
                  <a:srgbClr val="0070C0"/>
                </a:solidFill>
              </a:rPr>
              <a:t>ư</a:t>
            </a:r>
            <a:r>
              <a:rPr lang="en-US" altLang="en-US" sz="1800">
                <a:solidFill>
                  <a:srgbClr val="0070C0"/>
                </a:solidFill>
              </a:rPr>
              <a:t>ơ</a:t>
            </a:r>
            <a:r>
              <a:rPr lang="en-US" altLang="en-GB" sz="1800">
                <a:solidFill>
                  <a:srgbClr val="0070C0"/>
                </a:solidFill>
              </a:rPr>
              <a:t>ng </a:t>
            </a:r>
            <a:r>
              <a:rPr lang="en-US" altLang="en-US" sz="1800">
                <a:solidFill>
                  <a:srgbClr val="0070C0"/>
                </a:solidFill>
              </a:rPr>
              <a:t>đ</a:t>
            </a:r>
            <a:r>
              <a:rPr lang="en-US" altLang="en-GB" sz="1800">
                <a:solidFill>
                  <a:srgbClr val="0070C0"/>
                </a:solidFill>
              </a:rPr>
              <a:t>ồng c</a:t>
            </a:r>
            <a:r>
              <a:rPr lang="en-US" altLang="en-US" sz="1800">
                <a:solidFill>
                  <a:srgbClr val="0070C0"/>
                </a:solidFill>
              </a:rPr>
              <a:t>â</a:t>
            </a:r>
            <a:r>
              <a:rPr lang="en-US" altLang="en-GB" sz="1800">
                <a:solidFill>
                  <a:srgbClr val="0070C0"/>
                </a:solidFill>
              </a:rPr>
              <a:t>u bằng phép đo khoảng cách vector c</a:t>
            </a:r>
            <a:r>
              <a:rPr lang="en-US" altLang="en-US" sz="1800">
                <a:solidFill>
                  <a:srgbClr val="0070C0"/>
                </a:solidFill>
              </a:rPr>
              <a:t>ò</a:t>
            </a:r>
            <a:r>
              <a:rPr lang="en-US" altLang="en-GB" sz="1800">
                <a:solidFill>
                  <a:srgbClr val="0070C0"/>
                </a:solidFill>
              </a:rPr>
              <a:t>n tệ h</a:t>
            </a:r>
            <a:r>
              <a:rPr lang="en-US" altLang="en-US" sz="1800">
                <a:solidFill>
                  <a:srgbClr val="0070C0"/>
                </a:solidFill>
              </a:rPr>
              <a:t>ơ</a:t>
            </a:r>
            <a:r>
              <a:rPr lang="en-US" altLang="en-GB" sz="1800">
                <a:solidFill>
                  <a:srgbClr val="0070C0"/>
                </a:solidFill>
              </a:rPr>
              <a:t>n cả việc d</a:t>
            </a:r>
            <a:r>
              <a:rPr lang="en-US" altLang="en-US" sz="1800">
                <a:solidFill>
                  <a:srgbClr val="0070C0"/>
                </a:solidFill>
              </a:rPr>
              <a:t>ù</a:t>
            </a:r>
            <a:r>
              <a:rPr lang="en-US" altLang="en-GB" sz="1800">
                <a:solidFill>
                  <a:srgbClr val="0070C0"/>
                </a:solidFill>
              </a:rPr>
              <a:t>ng mô h</a:t>
            </a:r>
            <a:r>
              <a:rPr lang="en-US" altLang="en-US" sz="1800">
                <a:solidFill>
                  <a:srgbClr val="0070C0"/>
                </a:solidFill>
              </a:rPr>
              <a:t>ì</a:t>
            </a:r>
            <a:r>
              <a:rPr lang="en-US" altLang="en-GB" sz="1800">
                <a:solidFill>
                  <a:srgbClr val="0070C0"/>
                </a:solidFill>
              </a:rPr>
              <a:t>nh GloVe cổ </a:t>
            </a:r>
            <a:r>
              <a:rPr lang="en-US" altLang="en-US" sz="1800">
                <a:solidFill>
                  <a:srgbClr val="0070C0"/>
                </a:solidFill>
              </a:rPr>
              <a:t>đ</a:t>
            </a:r>
            <a:r>
              <a:rPr lang="en-US" altLang="en-GB" sz="1800">
                <a:solidFill>
                  <a:srgbClr val="0070C0"/>
                </a:solidFill>
              </a:rPr>
              <a:t>iển</a:t>
            </a:r>
            <a:r>
              <a:rPr lang="en-US" altLang="en-GB" sz="1800">
                <a:solidFill>
                  <a:schemeClr val="tx1"/>
                </a:solidFill>
              </a:rPr>
              <a:t>.</a:t>
            </a: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r>
              <a:rPr lang="en-US" altLang="en-GB" sz="1800">
                <a:solidFill>
                  <a:schemeClr val="tx1"/>
                </a:solidFill>
              </a:rPr>
              <a:t>[</a:t>
            </a:r>
            <a:r>
              <a:rPr lang="en-US" altLang="en-GB" sz="1500">
                <a:solidFill>
                  <a:schemeClr val="tx1"/>
                </a:solidFill>
              </a:rPr>
              <a:t>5]:  Li, B., Zhou, H., He, J., Wang, M., Yang, Y., &amp; Li, L. (2020). "On the Sentence Embeddings from Pre-trained Language Models" (BERT-flow), EMNLP 2020. https://arxiv.org/abs/2011.05864</a:t>
            </a:r>
            <a:endParaRPr lang="en-US" altLang="en-GB" sz="150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266065"/>
            <a:ext cx="11696065" cy="6325870"/>
          </a:xfrm>
        </p:spPr>
        <p:txBody>
          <a:bodyPr>
            <a:noAutofit/>
          </a:bodyPr>
          <a:p>
            <a:r>
              <a:rPr lang="en-US" altLang="en-GB" sz="1800">
                <a:solidFill>
                  <a:schemeClr val="tx1"/>
                </a:solidFill>
              </a:rPr>
              <a:t>Bảng này hiển thị </a:t>
            </a:r>
            <a:r>
              <a:rPr lang="en-US" altLang="en-US" sz="1800">
                <a:solidFill>
                  <a:schemeClr val="tx1"/>
                </a:solidFill>
              </a:rPr>
              <a:t>đ</a:t>
            </a:r>
            <a:r>
              <a:rPr lang="en-US" altLang="en-GB" sz="1800">
                <a:solidFill>
                  <a:schemeClr val="tx1"/>
                </a:solidFill>
              </a:rPr>
              <a:t>iểm t</a:t>
            </a:r>
            <a:r>
              <a:rPr lang="en-US" altLang="en-US" sz="1800">
                <a:solidFill>
                  <a:schemeClr val="tx1"/>
                </a:solidFill>
              </a:rPr>
              <a:t>ư</a:t>
            </a:r>
            <a:r>
              <a:rPr lang="en-US" altLang="en-US" sz="1800">
                <a:solidFill>
                  <a:schemeClr val="tx1"/>
                </a:solidFill>
              </a:rPr>
              <a:t>ơ</a:t>
            </a:r>
            <a:r>
              <a:rPr lang="en-US" altLang="en-GB" sz="1800">
                <a:solidFill>
                  <a:schemeClr val="tx1"/>
                </a:solidFill>
              </a:rPr>
              <a:t>ng quan Spearman (</a:t>
            </a:r>
            <a:r>
              <a:rPr lang="en-US" altLang="en-US" sz="1800">
                <a:solidFill>
                  <a:schemeClr val="tx1"/>
                </a:solidFill>
              </a:rPr>
              <a:t>đ</a:t>
            </a:r>
            <a:r>
              <a:rPr lang="en-US" altLang="en-GB" sz="1800">
                <a:solidFill>
                  <a:schemeClr val="tx1"/>
                </a:solidFill>
              </a:rPr>
              <a:t>o l</a:t>
            </a:r>
            <a:r>
              <a:rPr lang="en-US" altLang="en-US" sz="1800">
                <a:solidFill>
                  <a:schemeClr val="tx1"/>
                </a:solidFill>
              </a:rPr>
              <a:t>ư</a:t>
            </a:r>
            <a:r>
              <a:rPr lang="en-US" altLang="en-GB" sz="1800">
                <a:solidFill>
                  <a:schemeClr val="tx1"/>
                </a:solidFill>
              </a:rPr>
              <a:t>ờng </a:t>
            </a:r>
            <a:r>
              <a:rPr lang="en-US" altLang="en-US" sz="1800">
                <a:solidFill>
                  <a:schemeClr val="tx1"/>
                </a:solidFill>
              </a:rPr>
              <a:t>đ</a:t>
            </a:r>
            <a:r>
              <a:rPr lang="en-US" altLang="en-GB" sz="1800">
                <a:solidFill>
                  <a:schemeClr val="tx1"/>
                </a:solidFill>
              </a:rPr>
              <a:t>ộ ch</a:t>
            </a:r>
            <a:r>
              <a:rPr lang="en-US" altLang="en-US" sz="1800">
                <a:solidFill>
                  <a:schemeClr val="tx1"/>
                </a:solidFill>
              </a:rPr>
              <a:t>í</a:t>
            </a:r>
            <a:r>
              <a:rPr lang="en-US" altLang="en-GB" sz="1800">
                <a:solidFill>
                  <a:schemeClr val="tx1"/>
                </a:solidFill>
              </a:rPr>
              <a:t>nh x</a:t>
            </a:r>
            <a:r>
              <a:rPr lang="en-US" altLang="en-US" sz="1800">
                <a:solidFill>
                  <a:schemeClr val="tx1"/>
                </a:solidFill>
              </a:rPr>
              <a:t>á</a:t>
            </a:r>
            <a:r>
              <a:rPr lang="en-US" altLang="en-GB" sz="1800">
                <a:solidFill>
                  <a:schemeClr val="tx1"/>
                </a:solidFill>
              </a:rPr>
              <a:t>c khi m</a:t>
            </a:r>
            <a:r>
              <a:rPr lang="en-US" altLang="en-US" sz="1800">
                <a:solidFill>
                  <a:schemeClr val="tx1"/>
                </a:solidFill>
              </a:rPr>
              <a:t>á</a:t>
            </a:r>
            <a:r>
              <a:rPr lang="en-US" altLang="en-GB" sz="1800">
                <a:solidFill>
                  <a:schemeClr val="tx1"/>
                </a:solidFill>
              </a:rPr>
              <a:t>y t</a:t>
            </a:r>
            <a:r>
              <a:rPr lang="en-US" altLang="en-US" sz="1800">
                <a:solidFill>
                  <a:schemeClr val="tx1"/>
                </a:solidFill>
              </a:rPr>
              <a:t>í</a:t>
            </a:r>
            <a:r>
              <a:rPr lang="en-US" altLang="en-GB" sz="1800">
                <a:solidFill>
                  <a:schemeClr val="tx1"/>
                </a:solidFill>
              </a:rPr>
              <a:t>nh d</a:t>
            </a:r>
            <a:r>
              <a:rPr lang="en-US" altLang="en-US" sz="1800">
                <a:solidFill>
                  <a:schemeClr val="tx1"/>
                </a:solidFill>
              </a:rPr>
              <a:t>ù</a:t>
            </a:r>
            <a:r>
              <a:rPr lang="en-US" altLang="en-GB" sz="1800">
                <a:solidFill>
                  <a:schemeClr val="tx1"/>
                </a:solidFill>
              </a:rPr>
              <a:t>ng ph</a:t>
            </a:r>
            <a:r>
              <a:rPr lang="en-US" altLang="en-US" sz="1800">
                <a:solidFill>
                  <a:schemeClr val="tx1"/>
                </a:solidFill>
              </a:rPr>
              <a:t>é</a:t>
            </a:r>
            <a:r>
              <a:rPr lang="en-US" altLang="en-GB" sz="1800">
                <a:solidFill>
                  <a:schemeClr val="tx1"/>
                </a:solidFill>
              </a:rPr>
              <a:t>p to</a:t>
            </a:r>
            <a:r>
              <a:rPr lang="en-US" altLang="en-US" sz="1800">
                <a:solidFill>
                  <a:schemeClr val="tx1"/>
                </a:solidFill>
              </a:rPr>
              <a:t>á</a:t>
            </a:r>
            <a:r>
              <a:rPr lang="en-US" altLang="en-GB" sz="1800">
                <a:solidFill>
                  <a:schemeClr val="tx1"/>
                </a:solidFill>
              </a:rPr>
              <a:t>n Cosine-Similarity so với </a:t>
            </a:r>
            <a:r>
              <a:rPr lang="en-US" altLang="en-US" sz="1800">
                <a:solidFill>
                  <a:schemeClr val="tx1"/>
                </a:solidFill>
              </a:rPr>
              <a:t>đ</a:t>
            </a:r>
            <a:r>
              <a:rPr lang="en-US" altLang="en-GB" sz="1800">
                <a:solidFill>
                  <a:schemeClr val="tx1"/>
                </a:solidFill>
              </a:rPr>
              <a:t>iểm do con ng</a:t>
            </a:r>
            <a:r>
              <a:rPr lang="en-US" altLang="en-US" sz="1800">
                <a:solidFill>
                  <a:schemeClr val="tx1"/>
                </a:solidFill>
              </a:rPr>
              <a:t>ư</a:t>
            </a:r>
            <a:r>
              <a:rPr lang="en-US" altLang="en-GB" sz="1800">
                <a:solidFill>
                  <a:schemeClr val="tx1"/>
                </a:solidFill>
              </a:rPr>
              <a:t>ời </a:t>
            </a:r>
            <a:r>
              <a:rPr lang="en-US" altLang="en-US" sz="1800">
                <a:solidFill>
                  <a:schemeClr val="tx1"/>
                </a:solidFill>
              </a:rPr>
              <a:t>đ</a:t>
            </a:r>
            <a:r>
              <a:rPr lang="en-US" altLang="en-US" sz="1800">
                <a:solidFill>
                  <a:schemeClr val="tx1"/>
                </a:solidFill>
              </a:rPr>
              <a:t>á</a:t>
            </a:r>
            <a:r>
              <a:rPr lang="en-US" altLang="en-GB" sz="1800">
                <a:solidFill>
                  <a:schemeClr val="tx1"/>
                </a:solidFill>
              </a:rPr>
              <a:t>nh gi</a:t>
            </a:r>
            <a:r>
              <a:rPr lang="en-US" altLang="en-US" sz="1800">
                <a:solidFill>
                  <a:schemeClr val="tx1"/>
                </a:solidFill>
              </a:rPr>
              <a:t>á</a:t>
            </a:r>
            <a:r>
              <a:rPr lang="en-US" altLang="en-GB" sz="1800">
                <a:solidFill>
                  <a:schemeClr val="tx1"/>
                </a:solidFill>
              </a:rPr>
              <a:t>) tr</a:t>
            </a:r>
            <a:r>
              <a:rPr lang="en-US" altLang="en-US" sz="1800">
                <a:solidFill>
                  <a:schemeClr val="tx1"/>
                </a:solidFill>
              </a:rPr>
              <a:t>ê</a:t>
            </a:r>
            <a:r>
              <a:rPr lang="en-US" altLang="en-GB" sz="1800">
                <a:solidFill>
                  <a:schemeClr val="tx1"/>
                </a:solidFill>
              </a:rPr>
              <a:t>n c</a:t>
            </a:r>
            <a:r>
              <a:rPr lang="en-US" altLang="en-US" sz="1800">
                <a:solidFill>
                  <a:schemeClr val="tx1"/>
                </a:solidFill>
              </a:rPr>
              <a:t>á</a:t>
            </a:r>
            <a:r>
              <a:rPr lang="en-US" altLang="en-GB" sz="1800">
                <a:solidFill>
                  <a:schemeClr val="tx1"/>
                </a:solidFill>
              </a:rPr>
              <a:t>c tập dữ liệu STS (kiểm tra </a:t>
            </a:r>
            <a:r>
              <a:rPr lang="en-US" altLang="en-US" sz="1800">
                <a:solidFill>
                  <a:schemeClr val="tx1"/>
                </a:solidFill>
              </a:rPr>
              <a:t>đ</a:t>
            </a:r>
            <a:r>
              <a:rPr lang="en-US" altLang="en-GB" sz="1800">
                <a:solidFill>
                  <a:schemeClr val="tx1"/>
                </a:solidFill>
              </a:rPr>
              <a:t>ộ t</a:t>
            </a:r>
            <a:r>
              <a:rPr lang="en-US" altLang="en-US" sz="1800">
                <a:solidFill>
                  <a:schemeClr val="tx1"/>
                </a:solidFill>
              </a:rPr>
              <a:t>ư</a:t>
            </a:r>
            <a:r>
              <a:rPr lang="en-US" altLang="en-US" sz="1800">
                <a:solidFill>
                  <a:schemeClr val="tx1"/>
                </a:solidFill>
              </a:rPr>
              <a:t>ơ</a:t>
            </a:r>
            <a:r>
              <a:rPr lang="en-US" altLang="en-GB" sz="1800">
                <a:solidFill>
                  <a:schemeClr val="tx1"/>
                </a:solidFill>
              </a:rPr>
              <a:t>ng </a:t>
            </a:r>
            <a:r>
              <a:rPr lang="en-US" altLang="en-US" sz="1800">
                <a:solidFill>
                  <a:schemeClr val="tx1"/>
                </a:solidFill>
              </a:rPr>
              <a:t>đ</a:t>
            </a:r>
            <a:r>
              <a:rPr lang="en-US" altLang="en-GB" sz="1800">
                <a:solidFill>
                  <a:schemeClr val="tx1"/>
                </a:solidFill>
              </a:rPr>
              <a:t>ồng ngữ ngh</a:t>
            </a:r>
            <a:r>
              <a:rPr lang="en-US" altLang="en-US" sz="1800">
                <a:solidFill>
                  <a:schemeClr val="tx1"/>
                </a:solidFill>
              </a:rPr>
              <a:t>ĩ</a:t>
            </a:r>
            <a:r>
              <a:rPr lang="en-US" altLang="en-GB" sz="1800">
                <a:solidFill>
                  <a:schemeClr val="tx1"/>
                </a:solidFill>
              </a:rPr>
              <a:t>a). </a:t>
            </a:r>
            <a:r>
              <a:rPr lang="en-US" altLang="en-US" sz="1800">
                <a:solidFill>
                  <a:schemeClr val="tx1"/>
                </a:solidFill>
              </a:rPr>
              <a:t>Đ</a:t>
            </a:r>
            <a:r>
              <a:rPr lang="en-US" altLang="en-GB" sz="1800">
                <a:solidFill>
                  <a:schemeClr val="tx1"/>
                </a:solidFill>
              </a:rPr>
              <a:t>iểm càng cao th</a:t>
            </a:r>
            <a:r>
              <a:rPr lang="en-US" altLang="en-US" sz="1800">
                <a:solidFill>
                  <a:schemeClr val="tx1"/>
                </a:solidFill>
              </a:rPr>
              <a:t>ì</a:t>
            </a:r>
            <a:r>
              <a:rPr lang="en-US" altLang="en-GB" sz="1800">
                <a:solidFill>
                  <a:schemeClr val="tx1"/>
                </a:solidFill>
              </a:rPr>
              <a:t> mô h</a:t>
            </a:r>
            <a:r>
              <a:rPr lang="en-US" altLang="en-US" sz="1800">
                <a:solidFill>
                  <a:schemeClr val="tx1"/>
                </a:solidFill>
              </a:rPr>
              <a:t>ì</a:t>
            </a:r>
            <a:r>
              <a:rPr lang="en-US" altLang="en-GB" sz="1800">
                <a:solidFill>
                  <a:schemeClr val="tx1"/>
                </a:solidFill>
              </a:rPr>
              <a:t>nh càng s</a:t>
            </a:r>
            <a:r>
              <a:rPr lang="en-US" altLang="en-US" sz="1800">
                <a:solidFill>
                  <a:schemeClr val="tx1"/>
                </a:solidFill>
              </a:rPr>
              <a:t>á</a:t>
            </a:r>
            <a:r>
              <a:rPr lang="en-US" altLang="en-GB" sz="1800">
                <a:solidFill>
                  <a:schemeClr val="tx1"/>
                </a:solidFill>
              </a:rPr>
              <a:t>t với t</a:t>
            </a:r>
            <a:r>
              <a:rPr lang="en-US" altLang="en-US" sz="1800">
                <a:solidFill>
                  <a:schemeClr val="tx1"/>
                </a:solidFill>
              </a:rPr>
              <a:t>ư</a:t>
            </a:r>
            <a:r>
              <a:rPr lang="en-US" altLang="en-GB" sz="1800">
                <a:solidFill>
                  <a:schemeClr val="tx1"/>
                </a:solidFill>
              </a:rPr>
              <a:t> duy ngôn ngữ của con ng</a:t>
            </a:r>
            <a:r>
              <a:rPr lang="en-US" altLang="en-US" sz="1800">
                <a:solidFill>
                  <a:schemeClr val="tx1"/>
                </a:solidFill>
              </a:rPr>
              <a:t>ư</a:t>
            </a:r>
            <a:r>
              <a:rPr lang="en-US" altLang="en-GB" sz="1800">
                <a:solidFill>
                  <a:schemeClr val="tx1"/>
                </a:solidFill>
              </a:rPr>
              <a:t>ời:</a:t>
            </a: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r>
              <a:rPr lang="en-US" altLang="en-GB" sz="1800">
                <a:solidFill>
                  <a:schemeClr val="tx1"/>
                </a:solidFill>
              </a:rPr>
              <a:t>-&gt; </a:t>
            </a:r>
            <a:r>
              <a:rPr lang="en-US" sz="1800">
                <a:solidFill>
                  <a:schemeClr val="tx1"/>
                </a:solidFill>
              </a:rPr>
              <a:t>N</a:t>
            </a:r>
            <a:r>
              <a:rPr lang="en-US" altLang="en-GB" sz="1800">
                <a:solidFill>
                  <a:schemeClr val="tx1"/>
                </a:solidFill>
              </a:rPr>
              <a:t>ếu d</a:t>
            </a:r>
            <a:r>
              <a:rPr lang="en-US" altLang="en-US" sz="1800">
                <a:solidFill>
                  <a:schemeClr val="tx1"/>
                </a:solidFill>
              </a:rPr>
              <a:t>ù</a:t>
            </a:r>
            <a:r>
              <a:rPr lang="en-US" altLang="en-GB" sz="1800">
                <a:solidFill>
                  <a:schemeClr val="tx1"/>
                </a:solidFill>
              </a:rPr>
              <a:t>ng trực tiếp output của BERT </a:t>
            </a:r>
            <a:r>
              <a:rPr lang="en-US" altLang="en-US" sz="1800">
                <a:solidFill>
                  <a:schemeClr val="tx1"/>
                </a:solidFill>
              </a:rPr>
              <a:t>đ</a:t>
            </a:r>
            <a:r>
              <a:rPr lang="en-US" altLang="en-GB" sz="1800">
                <a:solidFill>
                  <a:schemeClr val="tx1"/>
                </a:solidFill>
              </a:rPr>
              <a:t>ể tạo sentence embedding, kết quả thậm chí kém h</a:t>
            </a:r>
            <a:r>
              <a:rPr lang="en-US" altLang="en-US" sz="1800">
                <a:solidFill>
                  <a:schemeClr val="tx1"/>
                </a:solidFill>
              </a:rPr>
              <a:t>ơ</a:t>
            </a:r>
            <a:r>
              <a:rPr lang="en-US" altLang="en-GB" sz="1800">
                <a:solidFill>
                  <a:schemeClr val="tx1"/>
                </a:solidFill>
              </a:rPr>
              <a:t>n cả GloVe - một ph</a:t>
            </a:r>
            <a:r>
              <a:rPr lang="en-US" altLang="en-US" sz="1800">
                <a:solidFill>
                  <a:schemeClr val="tx1"/>
                </a:solidFill>
              </a:rPr>
              <a:t>ư</a:t>
            </a:r>
            <a:r>
              <a:rPr lang="en-US" altLang="en-US" sz="1800">
                <a:solidFill>
                  <a:schemeClr val="tx1"/>
                </a:solidFill>
              </a:rPr>
              <a:t>ơ</a:t>
            </a:r>
            <a:r>
              <a:rPr lang="en-US" altLang="en-GB" sz="1800">
                <a:solidFill>
                  <a:schemeClr val="tx1"/>
                </a:solidFill>
              </a:rPr>
              <a:t>ng ph</a:t>
            </a:r>
            <a:r>
              <a:rPr lang="en-US" altLang="en-US" sz="1800">
                <a:solidFill>
                  <a:schemeClr val="tx1"/>
                </a:solidFill>
              </a:rPr>
              <a:t>á</a:t>
            </a:r>
            <a:r>
              <a:rPr lang="en-US" altLang="en-GB" sz="1800">
                <a:solidFill>
                  <a:schemeClr val="tx1"/>
                </a:solidFill>
              </a:rPr>
              <a:t>p c</a:t>
            </a:r>
            <a:r>
              <a:rPr lang="en-US" altLang="en-US" sz="1800">
                <a:solidFill>
                  <a:schemeClr val="tx1"/>
                </a:solidFill>
              </a:rPr>
              <a:t>ũ</a:t>
            </a:r>
            <a:r>
              <a:rPr lang="en-US" altLang="en-GB" sz="1800">
                <a:solidFill>
                  <a:schemeClr val="tx1"/>
                </a:solidFill>
              </a:rPr>
              <a:t> h</a:t>
            </a:r>
            <a:r>
              <a:rPr lang="en-US" altLang="en-US" sz="1800">
                <a:solidFill>
                  <a:schemeClr val="tx1"/>
                </a:solidFill>
              </a:rPr>
              <a:t>ơ</a:t>
            </a:r>
            <a:r>
              <a:rPr lang="en-US" altLang="en-GB" sz="1800">
                <a:solidFill>
                  <a:schemeClr val="tx1"/>
                </a:solidFill>
              </a:rPr>
              <a:t>n BERT nhiều. Tuy nhi</a:t>
            </a:r>
            <a:r>
              <a:rPr lang="en-US" altLang="en-US" sz="1800">
                <a:solidFill>
                  <a:schemeClr val="tx1"/>
                </a:solidFill>
              </a:rPr>
              <a:t>ê</a:t>
            </a:r>
            <a:r>
              <a:rPr lang="en-US" altLang="en-GB" sz="1800">
                <a:solidFill>
                  <a:schemeClr val="tx1"/>
                </a:solidFill>
              </a:rPr>
              <a:t>n, sau khi fine-tune theo kiến tr</a:t>
            </a:r>
            <a:r>
              <a:rPr lang="en-US" altLang="en-US" sz="1800">
                <a:solidFill>
                  <a:schemeClr val="tx1"/>
                </a:solidFill>
              </a:rPr>
              <a:t>ú</a:t>
            </a:r>
            <a:r>
              <a:rPr lang="en-US" altLang="en-GB" sz="1800">
                <a:solidFill>
                  <a:schemeClr val="tx1"/>
                </a:solidFill>
              </a:rPr>
              <a:t>c siamese network (SBERT/SRoBERTa), kết quả cải thiện v</a:t>
            </a:r>
            <a:r>
              <a:rPr lang="en-US" altLang="en-US" sz="1800">
                <a:solidFill>
                  <a:schemeClr val="tx1"/>
                </a:solidFill>
              </a:rPr>
              <a:t>ư</a:t>
            </a:r>
            <a:r>
              <a:rPr lang="en-US" altLang="en-GB" sz="1800">
                <a:solidFill>
                  <a:schemeClr val="tx1"/>
                </a:solidFill>
              </a:rPr>
              <a:t>ợt trội, </a:t>
            </a:r>
            <a:r>
              <a:rPr lang="en-US" altLang="en-US" sz="1800">
                <a:solidFill>
                  <a:schemeClr val="tx1"/>
                </a:solidFill>
              </a:rPr>
              <a:t>đ</a:t>
            </a:r>
            <a:r>
              <a:rPr lang="en-US" altLang="en-GB" sz="1800">
                <a:solidFill>
                  <a:schemeClr val="tx1"/>
                </a:solidFill>
              </a:rPr>
              <a:t>ồng thời v</a:t>
            </a:r>
            <a:r>
              <a:rPr lang="en-US" altLang="en-US" sz="1800">
                <a:solidFill>
                  <a:schemeClr val="tx1"/>
                </a:solidFill>
              </a:rPr>
              <a:t>ư</a:t>
            </a:r>
            <a:r>
              <a:rPr lang="en-US" altLang="en-GB" sz="1800">
                <a:solidFill>
                  <a:schemeClr val="tx1"/>
                </a:solidFill>
              </a:rPr>
              <a:t>ợt qua cả c</a:t>
            </a:r>
            <a:r>
              <a:rPr lang="en-US" altLang="en-US" sz="1800">
                <a:solidFill>
                  <a:schemeClr val="tx1"/>
                </a:solidFill>
              </a:rPr>
              <a:t>á</a:t>
            </a:r>
            <a:r>
              <a:rPr lang="en-US" altLang="en-GB" sz="1800">
                <a:solidFill>
                  <a:schemeClr val="tx1"/>
                </a:solidFill>
              </a:rPr>
              <a:t>c ph</a:t>
            </a:r>
            <a:r>
              <a:rPr lang="en-US" altLang="en-US" sz="1800">
                <a:solidFill>
                  <a:schemeClr val="tx1"/>
                </a:solidFill>
              </a:rPr>
              <a:t>ư</a:t>
            </a:r>
            <a:r>
              <a:rPr lang="en-US" altLang="en-US" sz="1800">
                <a:solidFill>
                  <a:schemeClr val="tx1"/>
                </a:solidFill>
              </a:rPr>
              <a:t>ơ</a:t>
            </a:r>
            <a:r>
              <a:rPr lang="en-US" altLang="en-GB" sz="1800">
                <a:solidFill>
                  <a:schemeClr val="tx1"/>
                </a:solidFill>
              </a:rPr>
              <a:t>ng ph</a:t>
            </a:r>
            <a:r>
              <a:rPr lang="en-US" altLang="en-US" sz="1800">
                <a:solidFill>
                  <a:schemeClr val="tx1"/>
                </a:solidFill>
              </a:rPr>
              <a:t>á</a:t>
            </a:r>
            <a:r>
              <a:rPr lang="en-US" altLang="en-GB" sz="1800">
                <a:solidFill>
                  <a:schemeClr val="tx1"/>
                </a:solidFill>
              </a:rPr>
              <a:t>p sentence embedding chuy</a:t>
            </a:r>
            <a:r>
              <a:rPr lang="en-US" altLang="en-US" sz="1800">
                <a:solidFill>
                  <a:schemeClr val="tx1"/>
                </a:solidFill>
              </a:rPr>
              <a:t>ê</a:t>
            </a:r>
            <a:r>
              <a:rPr lang="en-US" altLang="en-GB" sz="1800">
                <a:solidFill>
                  <a:schemeClr val="tx1"/>
                </a:solidFill>
              </a:rPr>
              <a:t>n biệt c</a:t>
            </a:r>
            <a:r>
              <a:rPr lang="en-US" altLang="en-US" sz="1800">
                <a:solidFill>
                  <a:schemeClr val="tx1"/>
                </a:solidFill>
              </a:rPr>
              <a:t>ù</a:t>
            </a:r>
            <a:r>
              <a:rPr lang="en-US" altLang="en-GB" sz="1800">
                <a:solidFill>
                  <a:schemeClr val="tx1"/>
                </a:solidFill>
              </a:rPr>
              <a:t>ng thời nh</a:t>
            </a:r>
            <a:r>
              <a:rPr lang="en-US" altLang="en-US" sz="1800">
                <a:solidFill>
                  <a:schemeClr val="tx1"/>
                </a:solidFill>
              </a:rPr>
              <a:t>ư</a:t>
            </a:r>
            <a:r>
              <a:rPr lang="en-US" altLang="en-GB" sz="1800">
                <a:solidFill>
                  <a:schemeClr val="tx1"/>
                </a:solidFill>
              </a:rPr>
              <a:t> InferSent-GloVe và Universal Sentence Encoder ngay cả ở bản "base". </a:t>
            </a:r>
            <a:r>
              <a:rPr lang="en-US" altLang="en-US" sz="1800">
                <a:solidFill>
                  <a:schemeClr val="tx1"/>
                </a:solidFill>
              </a:rPr>
              <a:t>Đ</a:t>
            </a:r>
            <a:r>
              <a:rPr lang="en-US" altLang="en-US" sz="1800">
                <a:solidFill>
                  <a:schemeClr val="tx1"/>
                </a:solidFill>
              </a:rPr>
              <a:t>á</a:t>
            </a:r>
            <a:r>
              <a:rPr lang="en-US" altLang="en-GB" sz="1800">
                <a:solidFill>
                  <a:schemeClr val="tx1"/>
                </a:solidFill>
              </a:rPr>
              <a:t>ng ch</a:t>
            </a:r>
            <a:r>
              <a:rPr lang="en-US" altLang="en-US" sz="1800">
                <a:solidFill>
                  <a:schemeClr val="tx1"/>
                </a:solidFill>
              </a:rPr>
              <a:t>ú</a:t>
            </a:r>
            <a:r>
              <a:rPr lang="en-US" altLang="en-GB" sz="1800">
                <a:solidFill>
                  <a:schemeClr val="tx1"/>
                </a:solidFill>
              </a:rPr>
              <a:t> </a:t>
            </a:r>
            <a:r>
              <a:rPr lang="en-US" altLang="en-US" sz="1800">
                <a:solidFill>
                  <a:schemeClr val="tx1"/>
                </a:solidFill>
              </a:rPr>
              <a:t>ý</a:t>
            </a:r>
            <a:r>
              <a:rPr lang="en-US" altLang="en-GB" sz="1800">
                <a:solidFill>
                  <a:schemeClr val="tx1"/>
                </a:solidFill>
              </a:rPr>
              <a:t>, ch</a:t>
            </a:r>
            <a:r>
              <a:rPr lang="en-US" altLang="en-US" sz="1800">
                <a:solidFill>
                  <a:schemeClr val="tx1"/>
                </a:solidFill>
              </a:rPr>
              <a:t>ê</a:t>
            </a:r>
            <a:r>
              <a:rPr lang="en-US" altLang="en-GB" sz="1800">
                <a:solidFill>
                  <a:schemeClr val="tx1"/>
                </a:solidFill>
              </a:rPr>
              <a:t>nh lệch giữa bản "base" và "large" kh</a:t>
            </a:r>
            <a:r>
              <a:rPr lang="en-US" altLang="en-US" sz="1800">
                <a:solidFill>
                  <a:schemeClr val="tx1"/>
                </a:solidFill>
              </a:rPr>
              <a:t>á</a:t>
            </a:r>
            <a:r>
              <a:rPr lang="en-US" altLang="en-GB" sz="1800">
                <a:solidFill>
                  <a:schemeClr val="tx1"/>
                </a:solidFill>
              </a:rPr>
              <a:t> nhỏ (SBERT: +1.66, SRoBERTa: +2.47), cho thấy phần lớn lợi </a:t>
            </a:r>
            <a:r>
              <a:rPr lang="en-US" altLang="en-US" sz="1800">
                <a:solidFill>
                  <a:schemeClr val="tx1"/>
                </a:solidFill>
              </a:rPr>
              <a:t>í</a:t>
            </a:r>
            <a:r>
              <a:rPr lang="en-US" altLang="en-GB" sz="1800">
                <a:solidFill>
                  <a:schemeClr val="tx1"/>
                </a:solidFill>
              </a:rPr>
              <a:t>ch </a:t>
            </a:r>
            <a:r>
              <a:rPr lang="en-US" altLang="en-US" sz="1800">
                <a:solidFill>
                  <a:schemeClr val="tx1"/>
                </a:solidFill>
              </a:rPr>
              <a:t>đ</a:t>
            </a:r>
            <a:r>
              <a:rPr lang="en-US" altLang="en-GB" sz="1800">
                <a:solidFill>
                  <a:schemeClr val="tx1"/>
                </a:solidFill>
              </a:rPr>
              <a:t>ến từ c</a:t>
            </a:r>
            <a:r>
              <a:rPr lang="en-US" altLang="en-US" sz="1800">
                <a:solidFill>
                  <a:schemeClr val="tx1"/>
                </a:solidFill>
              </a:rPr>
              <a:t>á</a:t>
            </a:r>
            <a:r>
              <a:rPr lang="en-US" altLang="en-GB" sz="1800">
                <a:solidFill>
                  <a:schemeClr val="tx1"/>
                </a:solidFill>
              </a:rPr>
              <a:t>ch huấn luyện theo kiến tr</a:t>
            </a:r>
            <a:r>
              <a:rPr lang="en-US" altLang="en-US" sz="1800">
                <a:solidFill>
                  <a:schemeClr val="tx1"/>
                </a:solidFill>
              </a:rPr>
              <a:t>ú</a:t>
            </a:r>
            <a:r>
              <a:rPr lang="en-US" altLang="en-GB" sz="1800">
                <a:solidFill>
                  <a:schemeClr val="tx1"/>
                </a:solidFill>
              </a:rPr>
              <a:t>c siamese/NLI fine-tuning, chứ không </a:t>
            </a:r>
            <a:r>
              <a:rPr lang="en-US" altLang="en-US" sz="1800">
                <a:solidFill>
                  <a:schemeClr val="tx1"/>
                </a:solidFill>
              </a:rPr>
              <a:t>đ</a:t>
            </a:r>
            <a:r>
              <a:rPr lang="en-US" altLang="en-US" sz="1800">
                <a:solidFill>
                  <a:schemeClr val="tx1"/>
                </a:solidFill>
              </a:rPr>
              <a:t>ơ</a:t>
            </a:r>
            <a:r>
              <a:rPr lang="en-US" altLang="en-GB" sz="1800">
                <a:solidFill>
                  <a:schemeClr val="tx1"/>
                </a:solidFill>
              </a:rPr>
              <a:t>n thuần nhờ t</a:t>
            </a:r>
            <a:r>
              <a:rPr lang="en-US" altLang="en-US" sz="1800">
                <a:solidFill>
                  <a:schemeClr val="tx1"/>
                </a:solidFill>
              </a:rPr>
              <a:t>ă</a:t>
            </a:r>
            <a:r>
              <a:rPr lang="en-US" altLang="en-GB" sz="1800">
                <a:solidFill>
                  <a:schemeClr val="tx1"/>
                </a:solidFill>
              </a:rPr>
              <a:t>ng k</a:t>
            </a:r>
            <a:r>
              <a:rPr lang="en-US" altLang="en-US" sz="1800">
                <a:solidFill>
                  <a:schemeClr val="tx1"/>
                </a:solidFill>
              </a:rPr>
              <a:t>í</a:t>
            </a:r>
            <a:r>
              <a:rPr lang="en-US" altLang="en-GB" sz="1800">
                <a:solidFill>
                  <a:schemeClr val="tx1"/>
                </a:solidFill>
              </a:rPr>
              <a:t>ch th</a:t>
            </a:r>
            <a:r>
              <a:rPr lang="en-US" altLang="en-US" sz="1800">
                <a:solidFill>
                  <a:schemeClr val="tx1"/>
                </a:solidFill>
              </a:rPr>
              <a:t>ư</a:t>
            </a:r>
            <a:r>
              <a:rPr lang="en-US" altLang="en-GB" sz="1800">
                <a:solidFill>
                  <a:schemeClr val="tx1"/>
                </a:solidFill>
              </a:rPr>
              <a:t>ớc model.</a:t>
            </a:r>
            <a:endParaRPr lang="en-US" altLang="en-GB" sz="1800">
              <a:solidFill>
                <a:schemeClr val="tx1"/>
              </a:solidFill>
            </a:endParaRPr>
          </a:p>
        </p:txBody>
      </p:sp>
      <p:graphicFrame>
        <p:nvGraphicFramePr>
          <p:cNvPr id="5" name="Object 4"/>
          <p:cNvGraphicFramePr/>
          <p:nvPr/>
        </p:nvGraphicFramePr>
        <p:xfrm>
          <a:off x="1431925" y="1401445"/>
          <a:ext cx="9346565" cy="3252470"/>
        </p:xfrm>
        <a:graphic>
          <a:graphicData uri="http://schemas.openxmlformats.org/presentationml/2006/ole">
            <mc:AlternateContent xmlns:mc="http://schemas.openxmlformats.org/markup-compatibility/2006">
              <mc:Choice xmlns:v="urn:schemas-microsoft-com:vml" Requires="v">
                <p:oleObj spid="_x0000_s6" name="" r:id="rId1" imgW="10989310" imgH="4038600" progId="Paint.Picture">
                  <p:embed/>
                </p:oleObj>
              </mc:Choice>
              <mc:Fallback>
                <p:oleObj name="" r:id="rId1" imgW="10989310" imgH="4038600" progId="Paint.Picture">
                  <p:embed/>
                  <p:pic>
                    <p:nvPicPr>
                      <p:cNvPr id="0" name="Picture 5"/>
                      <p:cNvPicPr/>
                      <p:nvPr/>
                    </p:nvPicPr>
                    <p:blipFill>
                      <a:blip r:embed="rId2"/>
                      <a:stretch>
                        <a:fillRect/>
                      </a:stretch>
                    </p:blipFill>
                    <p:spPr>
                      <a:xfrm>
                        <a:off x="1431925" y="1401445"/>
                        <a:ext cx="9346565" cy="3252470"/>
                      </a:xfrm>
                      <a:prstGeom prst="rect">
                        <a:avLst/>
                      </a:prstGeom>
                    </p:spPr>
                  </p:pic>
                </p:oleObj>
              </mc:Fallback>
            </mc:AlternateContent>
          </a:graphicData>
        </a:graphic>
      </p:graphicFrame>
      <p:sp>
        <p:nvSpPr>
          <p:cNvPr id="7" name="Rectangles 6"/>
          <p:cNvSpPr/>
          <p:nvPr/>
        </p:nvSpPr>
        <p:spPr>
          <a:xfrm>
            <a:off x="1303020" y="1235710"/>
            <a:ext cx="9646285" cy="3584575"/>
          </a:xfrm>
          <a:prstGeom prst="rect">
            <a:avLst/>
          </a:prstGeom>
          <a:ln w="28575"/>
        </p:spPr>
        <p:style>
          <a:lnRef idx="2">
            <a:schemeClr val="accent1"/>
          </a:lnRef>
          <a:fillRef idx="0">
            <a:srgbClr val="FFFFFF"/>
          </a:fillRef>
          <a:effectRef idx="0">
            <a:srgbClr val="FFFFFF"/>
          </a:effectRef>
          <a:fontRef idx="minor">
            <a:schemeClr val="tx1"/>
          </a:fontRef>
        </p:style>
        <p:txBody>
          <a:bodyPr rtlCol="0" anchor="ctr"/>
          <a:p>
            <a:pPr algn="ctr"/>
            <a:endParaRPr lang="en-GB" altLang="en-US"/>
          </a:p>
        </p:txBody>
      </p:sp>
      <p:sp>
        <p:nvSpPr>
          <p:cNvPr id="8" name="Rectangles 7"/>
          <p:cNvSpPr/>
          <p:nvPr/>
        </p:nvSpPr>
        <p:spPr>
          <a:xfrm>
            <a:off x="9712960" y="1753235"/>
            <a:ext cx="469265" cy="452120"/>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369570"/>
            <a:ext cx="11724640" cy="6325870"/>
          </a:xfrm>
        </p:spPr>
        <p:txBody>
          <a:bodyPr>
            <a:noAutofit/>
          </a:bodyPr>
          <a:p>
            <a:r>
              <a:rPr lang="en-US" altLang="en-GB" sz="3500"/>
              <a:t>2. Giải pháp: Sentence-Bert</a:t>
            </a:r>
            <a:r>
              <a:rPr lang="en-US" altLang="en-GB" sz="3500" baseline="30000"/>
              <a:t> </a:t>
            </a:r>
            <a:r>
              <a:rPr lang="en-US" altLang="en-GB" sz="3500"/>
              <a:t>(Bi-Encoder) ra đời</a:t>
            </a:r>
            <a:br>
              <a:rPr lang="en-US" altLang="en-GB" sz="2500"/>
            </a:br>
            <a:br>
              <a:rPr lang="en-US" altLang="en-GB" sz="1800"/>
            </a:br>
            <a:r>
              <a:rPr lang="en-US" altLang="en-GB" sz="1800"/>
              <a:t>		</a:t>
            </a:r>
            <a:r>
              <a:rPr lang="en-US" altLang="en-GB" sz="1800">
                <a:solidFill>
                  <a:schemeClr val="tx1"/>
                </a:solidFill>
                <a:highlight>
                  <a:srgbClr val="FFFF00"/>
                </a:highlight>
              </a:rPr>
              <a:t>SBERT giải quyết vấn </a:t>
            </a:r>
            <a:r>
              <a:rPr lang="en-US" altLang="en-US" sz="1800">
                <a:solidFill>
                  <a:schemeClr val="tx1"/>
                </a:solidFill>
                <a:highlight>
                  <a:srgbClr val="FFFF00"/>
                </a:highlight>
              </a:rPr>
              <a:t>đ</a:t>
            </a:r>
            <a:r>
              <a:rPr lang="en-US" altLang="en-GB" sz="1800">
                <a:solidFill>
                  <a:schemeClr val="tx1"/>
                </a:solidFill>
                <a:highlight>
                  <a:srgbClr val="FFFF00"/>
                </a:highlight>
              </a:rPr>
              <a:t>ề về chất lượng embedding và tốc độ của BERT nh</a:t>
            </a:r>
            <a:r>
              <a:rPr lang="en-US" altLang="en-US" sz="1800">
                <a:solidFill>
                  <a:schemeClr val="tx1"/>
                </a:solidFill>
                <a:highlight>
                  <a:srgbClr val="FFFF00"/>
                </a:highlight>
              </a:rPr>
              <a:t>ư</a:t>
            </a:r>
            <a:r>
              <a:rPr lang="en-US" altLang="en-GB" sz="1800">
                <a:solidFill>
                  <a:schemeClr val="tx1"/>
                </a:solidFill>
                <a:highlight>
                  <a:srgbClr val="FFFF00"/>
                </a:highlight>
              </a:rPr>
              <a:t> thế nào?</a:t>
            </a:r>
            <a:br>
              <a:rPr lang="en-US" altLang="en-GB" sz="1800">
                <a:solidFill>
                  <a:schemeClr val="tx1"/>
                </a:solidFill>
              </a:rPr>
            </a:br>
            <a:br>
              <a:rPr lang="en-US" altLang="en-GB" sz="1800">
                <a:solidFill>
                  <a:schemeClr val="tx1"/>
                </a:solidFill>
              </a:rPr>
            </a:br>
            <a:r>
              <a:rPr lang="en-US" altLang="en-GB" sz="1800">
                <a:solidFill>
                  <a:schemeClr val="tx1"/>
                </a:solidFill>
              </a:rPr>
              <a:t>Kiến tr</a:t>
            </a:r>
            <a:r>
              <a:rPr lang="en-US" altLang="en-US" sz="1800">
                <a:solidFill>
                  <a:schemeClr val="tx1"/>
                </a:solidFill>
              </a:rPr>
              <a:t>ú</a:t>
            </a:r>
            <a:r>
              <a:rPr lang="en-US" altLang="en-GB" sz="1800">
                <a:solidFill>
                  <a:schemeClr val="tx1"/>
                </a:solidFill>
              </a:rPr>
              <a:t>c mạng Siamese cho ph</a:t>
            </a:r>
            <a:r>
              <a:rPr lang="en-US" altLang="en-US" sz="1800">
                <a:solidFill>
                  <a:schemeClr val="tx1"/>
                </a:solidFill>
              </a:rPr>
              <a:t>é</a:t>
            </a:r>
            <a:r>
              <a:rPr lang="en-US" altLang="en-GB" sz="1800">
                <a:solidFill>
                  <a:schemeClr val="tx1"/>
                </a:solidFill>
              </a:rPr>
              <a:t>p tr</a:t>
            </a:r>
            <a:r>
              <a:rPr lang="en-US" altLang="en-US" sz="1800">
                <a:solidFill>
                  <a:schemeClr val="tx1"/>
                </a:solidFill>
              </a:rPr>
              <a:t>í</a:t>
            </a:r>
            <a:r>
              <a:rPr lang="en-US" altLang="en-GB" sz="1800">
                <a:solidFill>
                  <a:schemeClr val="tx1"/>
                </a:solidFill>
              </a:rPr>
              <a:t>ch xuất c</a:t>
            </a:r>
            <a:r>
              <a:rPr lang="en-US" altLang="en-US" sz="1800">
                <a:solidFill>
                  <a:schemeClr val="tx1"/>
                </a:solidFill>
              </a:rPr>
              <a:t>á</a:t>
            </a:r>
            <a:r>
              <a:rPr lang="en-US" altLang="en-GB" sz="1800">
                <a:solidFill>
                  <a:schemeClr val="tx1"/>
                </a:solidFill>
              </a:rPr>
              <a:t>c vector c</a:t>
            </a:r>
            <a:r>
              <a:rPr lang="en-US" altLang="en-US" sz="1800">
                <a:solidFill>
                  <a:schemeClr val="tx1"/>
                </a:solidFill>
              </a:rPr>
              <a:t>ó</a:t>
            </a:r>
            <a:r>
              <a:rPr lang="en-US" altLang="en-GB" sz="1800">
                <a:solidFill>
                  <a:schemeClr val="tx1"/>
                </a:solidFill>
              </a:rPr>
              <a:t> k</a:t>
            </a:r>
            <a:r>
              <a:rPr lang="en-US" altLang="en-US" sz="1800">
                <a:solidFill>
                  <a:schemeClr val="tx1"/>
                </a:solidFill>
              </a:rPr>
              <a:t>í</a:t>
            </a:r>
            <a:r>
              <a:rPr lang="en-US" altLang="en-GB" sz="1800">
                <a:solidFill>
                  <a:schemeClr val="tx1"/>
                </a:solidFill>
              </a:rPr>
              <a:t>ch th</a:t>
            </a:r>
            <a:r>
              <a:rPr lang="en-US" altLang="en-US" sz="1800">
                <a:solidFill>
                  <a:schemeClr val="tx1"/>
                </a:solidFill>
              </a:rPr>
              <a:t>ư</a:t>
            </a:r>
            <a:r>
              <a:rPr lang="en-US" altLang="en-GB" sz="1800">
                <a:solidFill>
                  <a:schemeClr val="tx1"/>
                </a:solidFill>
              </a:rPr>
              <a:t>ớc cố </a:t>
            </a:r>
            <a:r>
              <a:rPr lang="en-US" altLang="en-US" sz="1800">
                <a:solidFill>
                  <a:schemeClr val="tx1"/>
                </a:solidFill>
              </a:rPr>
              <a:t>đ</a:t>
            </a:r>
            <a:r>
              <a:rPr lang="en-US" altLang="en-GB" sz="1800">
                <a:solidFill>
                  <a:schemeClr val="tx1"/>
                </a:solidFill>
              </a:rPr>
              <a:t>ịnh cho c</a:t>
            </a:r>
            <a:r>
              <a:rPr lang="en-US" altLang="en-US" sz="1800">
                <a:solidFill>
                  <a:schemeClr val="tx1"/>
                </a:solidFill>
              </a:rPr>
              <a:t>á</a:t>
            </a:r>
            <a:r>
              <a:rPr lang="en-US" altLang="en-GB" sz="1800">
                <a:solidFill>
                  <a:schemeClr val="tx1"/>
                </a:solidFill>
              </a:rPr>
              <a:t>c c</a:t>
            </a:r>
            <a:r>
              <a:rPr lang="en-US" altLang="en-US" sz="1800">
                <a:solidFill>
                  <a:schemeClr val="tx1"/>
                </a:solidFill>
              </a:rPr>
              <a:t>â</a:t>
            </a:r>
            <a:r>
              <a:rPr lang="en-US" altLang="en-GB" sz="1800">
                <a:solidFill>
                  <a:schemeClr val="tx1"/>
                </a:solidFill>
              </a:rPr>
              <a:t>u </a:t>
            </a:r>
            <a:r>
              <a:rPr lang="en-US" altLang="en-US" sz="1800">
                <a:solidFill>
                  <a:schemeClr val="tx1"/>
                </a:solidFill>
              </a:rPr>
              <a:t>đ</a:t>
            </a:r>
            <a:r>
              <a:rPr lang="en-US" altLang="en-GB" sz="1800">
                <a:solidFill>
                  <a:schemeClr val="tx1"/>
                </a:solidFill>
              </a:rPr>
              <a:t>ầu vào. Sử dụng một th</a:t>
            </a:r>
            <a:r>
              <a:rPr lang="en-US" altLang="en-US" sz="1800">
                <a:solidFill>
                  <a:schemeClr val="tx1"/>
                </a:solidFill>
              </a:rPr>
              <a:t>ư</a:t>
            </a:r>
            <a:r>
              <a:rPr lang="en-US" altLang="en-GB" sz="1800">
                <a:solidFill>
                  <a:schemeClr val="tx1"/>
                </a:solidFill>
              </a:rPr>
              <a:t>ớc </a:t>
            </a:r>
            <a:r>
              <a:rPr lang="en-US" altLang="en-US" sz="1800">
                <a:solidFill>
                  <a:schemeClr val="tx1"/>
                </a:solidFill>
              </a:rPr>
              <a:t>đ</a:t>
            </a:r>
            <a:r>
              <a:rPr lang="en-US" altLang="en-GB" sz="1800">
                <a:solidFill>
                  <a:schemeClr val="tx1"/>
                </a:solidFill>
              </a:rPr>
              <a:t>o </a:t>
            </a:r>
            <a:r>
              <a:rPr lang="en-US" altLang="en-US" sz="1800">
                <a:solidFill>
                  <a:schemeClr val="tx1"/>
                </a:solidFill>
              </a:rPr>
              <a:t>đ</a:t>
            </a:r>
            <a:r>
              <a:rPr lang="en-US" altLang="en-GB" sz="1800">
                <a:solidFill>
                  <a:schemeClr val="tx1"/>
                </a:solidFill>
              </a:rPr>
              <a:t>ộ t</a:t>
            </a:r>
            <a:r>
              <a:rPr lang="en-US" altLang="en-US" sz="1800">
                <a:solidFill>
                  <a:schemeClr val="tx1"/>
                </a:solidFill>
              </a:rPr>
              <a:t>ư</a:t>
            </a:r>
            <a:r>
              <a:rPr lang="en-US" altLang="en-US" sz="1800">
                <a:solidFill>
                  <a:schemeClr val="tx1"/>
                </a:solidFill>
              </a:rPr>
              <a:t>ơ</a:t>
            </a:r>
            <a:r>
              <a:rPr lang="en-US" altLang="en-GB" sz="1800">
                <a:solidFill>
                  <a:schemeClr val="tx1"/>
                </a:solidFill>
              </a:rPr>
              <a:t>ng </a:t>
            </a:r>
            <a:r>
              <a:rPr lang="en-US" altLang="en-US" sz="1800">
                <a:solidFill>
                  <a:schemeClr val="tx1"/>
                </a:solidFill>
              </a:rPr>
              <a:t>đ</a:t>
            </a:r>
            <a:r>
              <a:rPr lang="en-US" altLang="en-GB" sz="1800">
                <a:solidFill>
                  <a:schemeClr val="tx1"/>
                </a:solidFill>
              </a:rPr>
              <a:t>ồng nh</a:t>
            </a:r>
            <a:r>
              <a:rPr lang="en-US" altLang="en-US" sz="1800">
                <a:solidFill>
                  <a:schemeClr val="tx1"/>
                </a:solidFill>
              </a:rPr>
              <a:t>ư</a:t>
            </a:r>
            <a:r>
              <a:rPr lang="en-US" altLang="en-GB" sz="1800">
                <a:solidFill>
                  <a:schemeClr val="tx1"/>
                </a:solidFill>
              </a:rPr>
              <a:t> cosine similarity hoặc khoảng c</a:t>
            </a:r>
            <a:r>
              <a:rPr lang="en-US" altLang="en-US" sz="1800">
                <a:solidFill>
                  <a:schemeClr val="tx1"/>
                </a:solidFill>
              </a:rPr>
              <a:t>á</a:t>
            </a:r>
            <a:r>
              <a:rPr lang="en-US" altLang="en-GB" sz="1800">
                <a:solidFill>
                  <a:schemeClr val="tx1"/>
                </a:solidFill>
              </a:rPr>
              <a:t>ch Manhattan / Euclidean, ta c</a:t>
            </a:r>
            <a:r>
              <a:rPr lang="en-US" altLang="en-US" sz="1800">
                <a:solidFill>
                  <a:schemeClr val="tx1"/>
                </a:solidFill>
              </a:rPr>
              <a:t>ó</a:t>
            </a:r>
            <a:r>
              <a:rPr lang="en-US" altLang="en-GB" sz="1800">
                <a:solidFill>
                  <a:schemeClr val="tx1"/>
                </a:solidFill>
              </a:rPr>
              <a:t> thể so s</a:t>
            </a:r>
            <a:r>
              <a:rPr lang="en-US" altLang="en-US" sz="1800">
                <a:solidFill>
                  <a:schemeClr val="tx1"/>
                </a:solidFill>
              </a:rPr>
              <a:t>á</a:t>
            </a:r>
            <a:r>
              <a:rPr lang="en-US" altLang="en-GB" sz="1800">
                <a:solidFill>
                  <a:schemeClr val="tx1"/>
                </a:solidFill>
              </a:rPr>
              <a:t>nh mức </a:t>
            </a:r>
            <a:r>
              <a:rPr lang="en-US" altLang="en-US" sz="1800">
                <a:solidFill>
                  <a:schemeClr val="tx1"/>
                </a:solidFill>
              </a:rPr>
              <a:t>đ</a:t>
            </a:r>
            <a:r>
              <a:rPr lang="en-US" altLang="en-GB" sz="1800">
                <a:solidFill>
                  <a:schemeClr val="tx1"/>
                </a:solidFill>
              </a:rPr>
              <a:t>ộ t</a:t>
            </a:r>
            <a:r>
              <a:rPr lang="en-US" altLang="en-US" sz="1800">
                <a:solidFill>
                  <a:schemeClr val="tx1"/>
                </a:solidFill>
              </a:rPr>
              <a:t>ư</a:t>
            </a:r>
            <a:r>
              <a:rPr lang="en-US" altLang="en-US" sz="1800">
                <a:solidFill>
                  <a:schemeClr val="tx1"/>
                </a:solidFill>
              </a:rPr>
              <a:t>ơ</a:t>
            </a:r>
            <a:r>
              <a:rPr lang="en-US" altLang="en-GB" sz="1800">
                <a:solidFill>
                  <a:schemeClr val="tx1"/>
                </a:solidFill>
              </a:rPr>
              <a:t>ng </a:t>
            </a:r>
            <a:r>
              <a:rPr lang="en-US" altLang="en-US" sz="1800">
                <a:solidFill>
                  <a:schemeClr val="tx1"/>
                </a:solidFill>
              </a:rPr>
              <a:t>đ</a:t>
            </a:r>
            <a:r>
              <a:rPr lang="en-US" altLang="en-GB" sz="1800">
                <a:solidFill>
                  <a:schemeClr val="tx1"/>
                </a:solidFill>
              </a:rPr>
              <a:t>ồng ngữ ngh</a:t>
            </a:r>
            <a:r>
              <a:rPr lang="en-US" altLang="en-US" sz="1800">
                <a:solidFill>
                  <a:schemeClr val="tx1"/>
                </a:solidFill>
              </a:rPr>
              <a:t>ĩ</a:t>
            </a:r>
            <a:r>
              <a:rPr lang="en-US" altLang="en-GB" sz="1800">
                <a:solidFill>
                  <a:schemeClr val="tx1"/>
                </a:solidFill>
              </a:rPr>
              <a:t>a của 2 c</a:t>
            </a:r>
            <a:r>
              <a:rPr lang="en-US" altLang="en-US" sz="1800">
                <a:solidFill>
                  <a:schemeClr val="tx1"/>
                </a:solidFill>
              </a:rPr>
              <a:t>â</a:t>
            </a:r>
            <a:r>
              <a:rPr lang="en-US" altLang="en-GB" sz="1800">
                <a:solidFill>
                  <a:schemeClr val="tx1"/>
                </a:solidFill>
              </a:rPr>
              <a:t>u (mất rất </a:t>
            </a:r>
            <a:r>
              <a:rPr lang="en-US" altLang="en-US" sz="1800">
                <a:solidFill>
                  <a:schemeClr val="tx1"/>
                </a:solidFill>
              </a:rPr>
              <a:t>í</a:t>
            </a:r>
            <a:r>
              <a:rPr lang="en-US" altLang="en-GB" sz="1800">
                <a:solidFill>
                  <a:schemeClr val="tx1"/>
                </a:solidFill>
              </a:rPr>
              <a:t>t thời gian t</a:t>
            </a:r>
            <a:r>
              <a:rPr lang="en-US" altLang="en-US" sz="1800">
                <a:solidFill>
                  <a:schemeClr val="tx1"/>
                </a:solidFill>
              </a:rPr>
              <a:t>í</a:t>
            </a:r>
            <a:r>
              <a:rPr lang="en-US" altLang="en-GB" sz="1800">
                <a:solidFill>
                  <a:schemeClr val="tx1"/>
                </a:solidFill>
              </a:rPr>
              <a:t>nh to</a:t>
            </a:r>
            <a:r>
              <a:rPr lang="en-US" altLang="en-US" sz="1800">
                <a:solidFill>
                  <a:schemeClr val="tx1"/>
                </a:solidFill>
              </a:rPr>
              <a:t>á</a:t>
            </a:r>
            <a:r>
              <a:rPr lang="en-US" altLang="en-GB" sz="1800">
                <a:solidFill>
                  <a:schemeClr val="tx1"/>
                </a:solidFill>
              </a:rPr>
              <a:t>n).</a:t>
            </a:r>
            <a:br>
              <a:rPr lang="en-US" altLang="en-GB" sz="1800">
                <a:solidFill>
                  <a:schemeClr val="tx1"/>
                </a:solidFill>
              </a:rPr>
            </a:br>
            <a:br>
              <a:rPr lang="en-US" altLang="en-GB" sz="1800">
                <a:solidFill>
                  <a:schemeClr val="tx1"/>
                </a:solidFill>
              </a:rPr>
            </a:br>
            <a:r>
              <a:rPr lang="en-US" altLang="en-GB" sz="1800">
                <a:solidFill>
                  <a:schemeClr val="tx1"/>
                </a:solidFill>
              </a:rPr>
              <a:t>Qu</a:t>
            </a:r>
            <a:r>
              <a:rPr lang="en-US" altLang="en-US" sz="1800">
                <a:solidFill>
                  <a:schemeClr val="tx1"/>
                </a:solidFill>
              </a:rPr>
              <a:t>á</a:t>
            </a:r>
            <a:r>
              <a:rPr lang="en-US" altLang="en-GB" sz="1800">
                <a:solidFill>
                  <a:schemeClr val="tx1"/>
                </a:solidFill>
              </a:rPr>
              <a:t> tr</a:t>
            </a:r>
            <a:r>
              <a:rPr lang="en-US" altLang="en-US" sz="1800">
                <a:solidFill>
                  <a:schemeClr val="tx1"/>
                </a:solidFill>
              </a:rPr>
              <a:t>ì</a:t>
            </a:r>
            <a:r>
              <a:rPr lang="en-US" altLang="en-GB" sz="1800">
                <a:solidFill>
                  <a:schemeClr val="tx1"/>
                </a:solidFill>
              </a:rPr>
              <a:t>nh huấn luyện </a:t>
            </a:r>
            <a:r>
              <a:rPr lang="en-US" altLang="en-US" sz="1800">
                <a:solidFill>
                  <a:schemeClr val="tx1"/>
                </a:solidFill>
              </a:rPr>
              <a:t>đ</a:t>
            </a:r>
            <a:r>
              <a:rPr lang="en-US" altLang="en-GB" sz="1800">
                <a:solidFill>
                  <a:schemeClr val="tx1"/>
                </a:solidFill>
              </a:rPr>
              <a:t>ặc biệt này </a:t>
            </a:r>
            <a:r>
              <a:rPr lang="en-US" altLang="en-US" sz="1800">
                <a:solidFill>
                  <a:schemeClr val="tx1"/>
                </a:solidFill>
              </a:rPr>
              <a:t>đ</a:t>
            </a:r>
            <a:r>
              <a:rPr lang="en-US" altLang="en-US" sz="1800">
                <a:solidFill>
                  <a:schemeClr val="tx1"/>
                </a:solidFill>
              </a:rPr>
              <a:t>ã</a:t>
            </a:r>
            <a:r>
              <a:rPr lang="en-US" altLang="en-GB" sz="1800">
                <a:solidFill>
                  <a:schemeClr val="tx1"/>
                </a:solidFill>
              </a:rPr>
              <a:t> "</a:t>
            </a:r>
            <a:r>
              <a:rPr lang="en-US" altLang="en-US" sz="1800">
                <a:solidFill>
                  <a:schemeClr val="tx1"/>
                </a:solidFill>
              </a:rPr>
              <a:t>é</a:t>
            </a:r>
            <a:r>
              <a:rPr lang="en-US" altLang="en-GB" sz="1800">
                <a:solidFill>
                  <a:schemeClr val="tx1"/>
                </a:solidFill>
              </a:rPr>
              <a:t>p" không gian vector của mô h</a:t>
            </a:r>
            <a:r>
              <a:rPr lang="en-US" altLang="en-US" sz="1800">
                <a:solidFill>
                  <a:schemeClr val="tx1"/>
                </a:solidFill>
              </a:rPr>
              <a:t>ì</a:t>
            </a:r>
            <a:r>
              <a:rPr lang="en-US" altLang="en-GB" sz="1800">
                <a:solidFill>
                  <a:schemeClr val="tx1"/>
                </a:solidFill>
              </a:rPr>
              <a:t>nh phải bung tỏa </a:t>
            </a:r>
            <a:r>
              <a:rPr lang="en-US" altLang="en-US" sz="1800">
                <a:solidFill>
                  <a:schemeClr val="tx1"/>
                </a:solidFill>
              </a:rPr>
              <a:t>đ</a:t>
            </a:r>
            <a:r>
              <a:rPr lang="en-US" altLang="en-GB" sz="1800">
                <a:solidFill>
                  <a:schemeClr val="tx1"/>
                </a:solidFill>
              </a:rPr>
              <a:t>ều ra mọi h</a:t>
            </a:r>
            <a:r>
              <a:rPr lang="en-US" altLang="en-US" sz="1800">
                <a:solidFill>
                  <a:schemeClr val="tx1"/>
                </a:solidFill>
              </a:rPr>
              <a:t>ư</a:t>
            </a:r>
            <a:r>
              <a:rPr lang="en-US" altLang="en-GB" sz="1800">
                <a:solidFill>
                  <a:schemeClr val="tx1"/>
                </a:solidFill>
              </a:rPr>
              <a:t>ớng, thay v</a:t>
            </a:r>
            <a:r>
              <a:rPr lang="en-US" altLang="en-US" sz="1800">
                <a:solidFill>
                  <a:schemeClr val="tx1"/>
                </a:solidFill>
              </a:rPr>
              <a:t>ì</a:t>
            </a:r>
            <a:r>
              <a:rPr lang="en-US" altLang="en-GB" sz="1800">
                <a:solidFill>
                  <a:schemeClr val="tx1"/>
                </a:solidFill>
              </a:rPr>
              <a:t> bị tụm lại một g</a:t>
            </a:r>
            <a:r>
              <a:rPr lang="en-US" altLang="en-US" sz="1800">
                <a:solidFill>
                  <a:schemeClr val="tx1"/>
                </a:solidFill>
              </a:rPr>
              <a:t>ó</a:t>
            </a:r>
            <a:r>
              <a:rPr lang="en-US" altLang="en-GB" sz="1800">
                <a:solidFill>
                  <a:schemeClr val="tx1"/>
                </a:solidFill>
              </a:rPr>
              <a:t>c nh</a:t>
            </a:r>
            <a:r>
              <a:rPr lang="en-US" altLang="en-US" sz="1800">
                <a:solidFill>
                  <a:schemeClr val="tx1"/>
                </a:solidFill>
              </a:rPr>
              <a:t>ư</a:t>
            </a:r>
            <a:r>
              <a:rPr lang="en-US" altLang="en-GB" sz="1800">
                <a:solidFill>
                  <a:schemeClr val="tx1"/>
                </a:solidFill>
              </a:rPr>
              <a:t> tr</a:t>
            </a:r>
            <a:r>
              <a:rPr lang="en-US" altLang="en-US" sz="1800">
                <a:solidFill>
                  <a:schemeClr val="tx1"/>
                </a:solidFill>
              </a:rPr>
              <a:t>ư</a:t>
            </a:r>
            <a:r>
              <a:rPr lang="en-US" altLang="en-GB" sz="1800">
                <a:solidFill>
                  <a:schemeClr val="tx1"/>
                </a:solidFill>
              </a:rPr>
              <a:t>ớc. SBERT </a:t>
            </a:r>
            <a:r>
              <a:rPr lang="en-US" altLang="en-US" sz="1800">
                <a:solidFill>
                  <a:schemeClr val="tx1"/>
                </a:solidFill>
              </a:rPr>
              <a:t>đư</a:t>
            </a:r>
            <a:r>
              <a:rPr lang="en-US" altLang="en-GB" sz="1800">
                <a:solidFill>
                  <a:schemeClr val="tx1"/>
                </a:solidFill>
              </a:rPr>
              <a:t>ợc dạy một c</a:t>
            </a:r>
            <a:r>
              <a:rPr lang="en-US" altLang="en-US" sz="1800">
                <a:solidFill>
                  <a:schemeClr val="tx1"/>
                </a:solidFill>
              </a:rPr>
              <a:t>á</a:t>
            </a:r>
            <a:r>
              <a:rPr lang="en-US" altLang="en-GB" sz="1800">
                <a:solidFill>
                  <a:schemeClr val="tx1"/>
                </a:solidFill>
              </a:rPr>
              <a:t>ch nghi</a:t>
            </a:r>
            <a:r>
              <a:rPr lang="en-US" altLang="en-US" sz="1800">
                <a:solidFill>
                  <a:schemeClr val="tx1"/>
                </a:solidFill>
              </a:rPr>
              <a:t>ê</a:t>
            </a:r>
            <a:r>
              <a:rPr lang="en-US" altLang="en-GB" sz="1800">
                <a:solidFill>
                  <a:schemeClr val="tx1"/>
                </a:solidFill>
              </a:rPr>
              <a:t>m ngặt theo quy tắc h</a:t>
            </a:r>
            <a:r>
              <a:rPr lang="en-US" altLang="en-US" sz="1800">
                <a:solidFill>
                  <a:schemeClr val="tx1"/>
                </a:solidFill>
              </a:rPr>
              <a:t>ì</a:t>
            </a:r>
            <a:r>
              <a:rPr lang="en-US" altLang="en-GB" sz="1800">
                <a:solidFill>
                  <a:schemeClr val="tx1"/>
                </a:solidFill>
              </a:rPr>
              <a:t>nh học: Những c</a:t>
            </a:r>
            <a:r>
              <a:rPr lang="en-US" altLang="en-US" sz="1800">
                <a:solidFill>
                  <a:schemeClr val="tx1"/>
                </a:solidFill>
              </a:rPr>
              <a:t>â</a:t>
            </a:r>
            <a:r>
              <a:rPr lang="en-US" altLang="en-GB" sz="1800">
                <a:solidFill>
                  <a:schemeClr val="tx1"/>
                </a:solidFill>
              </a:rPr>
              <a:t>u c</a:t>
            </a:r>
            <a:r>
              <a:rPr lang="en-US" altLang="en-US" sz="1800">
                <a:solidFill>
                  <a:schemeClr val="tx1"/>
                </a:solidFill>
              </a:rPr>
              <a:t>ó</a:t>
            </a:r>
            <a:r>
              <a:rPr lang="en-US" altLang="en-GB" sz="1800">
                <a:solidFill>
                  <a:schemeClr val="tx1"/>
                </a:solidFill>
              </a:rPr>
              <a:t> </a:t>
            </a:r>
            <a:r>
              <a:rPr lang="en-US" altLang="en-US" sz="1800">
                <a:solidFill>
                  <a:schemeClr val="tx1"/>
                </a:solidFill>
              </a:rPr>
              <a:t>ý</a:t>
            </a:r>
            <a:r>
              <a:rPr lang="en-US" altLang="en-GB" sz="1800">
                <a:solidFill>
                  <a:schemeClr val="tx1"/>
                </a:solidFill>
              </a:rPr>
              <a:t> ngh</a:t>
            </a:r>
            <a:r>
              <a:rPr lang="en-US" altLang="en-US" sz="1800">
                <a:solidFill>
                  <a:schemeClr val="tx1"/>
                </a:solidFill>
              </a:rPr>
              <a:t>ĩ</a:t>
            </a:r>
            <a:r>
              <a:rPr lang="en-US" altLang="en-GB" sz="1800">
                <a:solidFill>
                  <a:schemeClr val="tx1"/>
                </a:solidFill>
              </a:rPr>
              <a:t>a t</a:t>
            </a:r>
            <a:r>
              <a:rPr lang="en-US" altLang="en-US" sz="1800">
                <a:solidFill>
                  <a:schemeClr val="tx1"/>
                </a:solidFill>
              </a:rPr>
              <a:t>ư</a:t>
            </a:r>
            <a:r>
              <a:rPr lang="en-US" altLang="en-US" sz="1800">
                <a:solidFill>
                  <a:schemeClr val="tx1"/>
                </a:solidFill>
              </a:rPr>
              <a:t>ơ</a:t>
            </a:r>
            <a:r>
              <a:rPr lang="en-US" altLang="en-GB" sz="1800">
                <a:solidFill>
                  <a:schemeClr val="tx1"/>
                </a:solidFill>
              </a:rPr>
              <a:t>ng </a:t>
            </a:r>
            <a:r>
              <a:rPr lang="en-US" altLang="en-US" sz="1800">
                <a:solidFill>
                  <a:schemeClr val="tx1"/>
                </a:solidFill>
              </a:rPr>
              <a:t>đ</a:t>
            </a:r>
            <a:r>
              <a:rPr lang="en-US" altLang="en-GB" sz="1800">
                <a:solidFill>
                  <a:schemeClr val="tx1"/>
                </a:solidFill>
              </a:rPr>
              <a:t>ồng th</a:t>
            </a:r>
            <a:r>
              <a:rPr lang="en-US" altLang="en-US" sz="1800">
                <a:solidFill>
                  <a:schemeClr val="tx1"/>
                </a:solidFill>
              </a:rPr>
              <a:t>ì</a:t>
            </a:r>
            <a:r>
              <a:rPr lang="en-US" altLang="en-GB" sz="1800">
                <a:solidFill>
                  <a:schemeClr val="tx1"/>
                </a:solidFill>
              </a:rPr>
              <a:t> vector phải nằm gần nhau, ng</a:t>
            </a:r>
            <a:r>
              <a:rPr lang="en-US" altLang="en-US" sz="1800">
                <a:solidFill>
                  <a:schemeClr val="tx1"/>
                </a:solidFill>
              </a:rPr>
              <a:t>ư</a:t>
            </a:r>
            <a:r>
              <a:rPr lang="en-US" altLang="en-GB" sz="1800">
                <a:solidFill>
                  <a:schemeClr val="tx1"/>
                </a:solidFill>
              </a:rPr>
              <a:t>ợc lại, những c</a:t>
            </a:r>
            <a:r>
              <a:rPr lang="en-US" altLang="en-US" sz="1800">
                <a:solidFill>
                  <a:schemeClr val="tx1"/>
                </a:solidFill>
              </a:rPr>
              <a:t>â</a:t>
            </a:r>
            <a:r>
              <a:rPr lang="en-US" altLang="en-GB" sz="1800">
                <a:solidFill>
                  <a:schemeClr val="tx1"/>
                </a:solidFill>
              </a:rPr>
              <a:t>u kh</a:t>
            </a:r>
            <a:r>
              <a:rPr lang="en-US" altLang="en-US" sz="1800">
                <a:solidFill>
                  <a:schemeClr val="tx1"/>
                </a:solidFill>
              </a:rPr>
              <a:t>á</a:t>
            </a:r>
            <a:r>
              <a:rPr lang="en-US" altLang="en-GB" sz="1800">
                <a:solidFill>
                  <a:schemeClr val="tx1"/>
                </a:solidFill>
              </a:rPr>
              <a:t>c biệt về mặt ngữ ngh</a:t>
            </a:r>
            <a:r>
              <a:rPr lang="en-US" altLang="en-US" sz="1800">
                <a:solidFill>
                  <a:schemeClr val="tx1"/>
                </a:solidFill>
              </a:rPr>
              <a:t>ĩ</a:t>
            </a:r>
            <a:r>
              <a:rPr lang="en-US" altLang="en-GB" sz="1800">
                <a:solidFill>
                  <a:schemeClr val="tx1"/>
                </a:solidFill>
              </a:rPr>
              <a:t>a sẽ bị </a:t>
            </a:r>
            <a:r>
              <a:rPr lang="en-US" altLang="en-US" sz="1800">
                <a:solidFill>
                  <a:schemeClr val="tx1"/>
                </a:solidFill>
              </a:rPr>
              <a:t>đ</a:t>
            </a:r>
            <a:r>
              <a:rPr lang="en-US" altLang="en-GB" sz="1800">
                <a:solidFill>
                  <a:schemeClr val="tx1"/>
                </a:solidFill>
              </a:rPr>
              <a:t>ẩy ra xa nhau trong không gian biểu diễn.</a:t>
            </a:r>
            <a:br>
              <a:rPr lang="en-US" altLang="en-GB" sz="1800">
                <a:solidFill>
                  <a:schemeClr val="tx1"/>
                </a:solidFill>
              </a:rPr>
            </a:br>
            <a:br>
              <a:rPr lang="en-US" altLang="en-GB" sz="1800">
                <a:solidFill>
                  <a:schemeClr val="tx1"/>
                </a:solidFill>
              </a:rPr>
            </a:br>
            <a:r>
              <a:rPr lang="en-US" sz="1800">
                <a:solidFill>
                  <a:schemeClr val="tx1"/>
                </a:solidFill>
              </a:rPr>
              <a:t>C</a:t>
            </a:r>
            <a:r>
              <a:rPr lang="en-US" altLang="en-US" sz="1800">
                <a:solidFill>
                  <a:schemeClr val="tx1"/>
                </a:solidFill>
              </a:rPr>
              <a:t>á</a:t>
            </a:r>
            <a:r>
              <a:rPr lang="en-US" altLang="en-GB" sz="1800">
                <a:solidFill>
                  <a:schemeClr val="tx1"/>
                </a:solidFill>
              </a:rPr>
              <a:t>c t</a:t>
            </a:r>
            <a:r>
              <a:rPr lang="en-US" altLang="en-US" sz="1800">
                <a:solidFill>
                  <a:schemeClr val="tx1"/>
                </a:solidFill>
              </a:rPr>
              <a:t>á</a:t>
            </a:r>
            <a:r>
              <a:rPr lang="en-US" altLang="en-GB" sz="1800">
                <a:solidFill>
                  <a:schemeClr val="tx1"/>
                </a:solidFill>
              </a:rPr>
              <a:t>c giả của bài b</a:t>
            </a:r>
            <a:r>
              <a:rPr lang="en-US" altLang="en-US" sz="1800">
                <a:solidFill>
                  <a:schemeClr val="tx1"/>
                </a:solidFill>
              </a:rPr>
              <a:t>á</a:t>
            </a:r>
            <a:r>
              <a:rPr lang="en-US" altLang="en-GB" sz="1800">
                <a:solidFill>
                  <a:schemeClr val="tx1"/>
                </a:solidFill>
              </a:rPr>
              <a:t>o </a:t>
            </a:r>
            <a:r>
              <a:rPr lang="en-US" altLang="en-US" sz="1800">
                <a:solidFill>
                  <a:schemeClr val="tx1"/>
                </a:solidFill>
              </a:rPr>
              <a:t>đ</a:t>
            </a:r>
            <a:r>
              <a:rPr lang="en-US" altLang="en-US" sz="1800">
                <a:solidFill>
                  <a:schemeClr val="tx1"/>
                </a:solidFill>
              </a:rPr>
              <a:t>ã</a:t>
            </a:r>
            <a:r>
              <a:rPr lang="en-US" altLang="en-GB" sz="1800">
                <a:solidFill>
                  <a:schemeClr val="tx1"/>
                </a:solidFill>
              </a:rPr>
              <a:t> finetune c</a:t>
            </a:r>
            <a:r>
              <a:rPr lang="en-US" altLang="en-US" sz="1800">
                <a:solidFill>
                  <a:schemeClr val="tx1"/>
                </a:solidFill>
              </a:rPr>
              <a:t>á</a:t>
            </a:r>
            <a:r>
              <a:rPr lang="en-US" altLang="en-GB" sz="1800">
                <a:solidFill>
                  <a:schemeClr val="tx1"/>
                </a:solidFill>
              </a:rPr>
              <a:t>c mô h</a:t>
            </a:r>
            <a:r>
              <a:rPr lang="en-US" altLang="en-US" sz="1800">
                <a:solidFill>
                  <a:schemeClr val="tx1"/>
                </a:solidFill>
              </a:rPr>
              <a:t>ì</a:t>
            </a:r>
            <a:r>
              <a:rPr lang="en-US" altLang="en-GB" sz="1800">
                <a:solidFill>
                  <a:schemeClr val="tx1"/>
                </a:solidFill>
              </a:rPr>
              <a:t>nh Pre-trained (BERT và RoBERTa)</a:t>
            </a:r>
            <a:r>
              <a:rPr lang="en-US" sz="1800">
                <a:solidFill>
                  <a:schemeClr val="tx1"/>
                </a:solidFill>
              </a:rPr>
              <a:t>, </a:t>
            </a:r>
            <a:r>
              <a:rPr lang="en-US" altLang="en-GB" sz="1800">
                <a:solidFill>
                  <a:schemeClr val="tx1"/>
                </a:solidFill>
              </a:rPr>
              <a:t>gi</a:t>
            </a:r>
            <a:r>
              <a:rPr lang="en-US" altLang="en-US" sz="1800">
                <a:solidFill>
                  <a:schemeClr val="tx1"/>
                </a:solidFill>
              </a:rPr>
              <a:t>ú</a:t>
            </a:r>
            <a:r>
              <a:rPr lang="en-US" altLang="en-GB" sz="1800">
                <a:solidFill>
                  <a:schemeClr val="tx1"/>
                </a:solidFill>
              </a:rPr>
              <a:t>p giảm thiểu </a:t>
            </a:r>
            <a:r>
              <a:rPr lang="en-US" altLang="en-US" sz="1800">
                <a:solidFill>
                  <a:schemeClr val="tx1"/>
                </a:solidFill>
              </a:rPr>
              <a:t>đ</a:t>
            </a:r>
            <a:r>
              <a:rPr lang="en-US" altLang="en-US" sz="1800">
                <a:solidFill>
                  <a:schemeClr val="tx1"/>
                </a:solidFill>
              </a:rPr>
              <a:t>á</a:t>
            </a:r>
            <a:r>
              <a:rPr lang="en-US" altLang="en-GB" sz="1800">
                <a:solidFill>
                  <a:schemeClr val="tx1"/>
                </a:solidFill>
              </a:rPr>
              <a:t>ng kể chi ph</a:t>
            </a:r>
            <a:r>
              <a:rPr lang="en-US" altLang="en-US" sz="1800">
                <a:solidFill>
                  <a:schemeClr val="tx1"/>
                </a:solidFill>
              </a:rPr>
              <a:t>í</a:t>
            </a:r>
            <a:r>
              <a:rPr lang="en-US" altLang="en-GB" sz="1800">
                <a:solidFill>
                  <a:schemeClr val="tx1"/>
                </a:solidFill>
              </a:rPr>
              <a:t> và thời gian huấn luyện thực nghiệm: SBERT chỉ mất ch</a:t>
            </a:r>
            <a:r>
              <a:rPr lang="en-US" altLang="en-US" sz="1800">
                <a:solidFill>
                  <a:schemeClr val="tx1"/>
                </a:solidFill>
              </a:rPr>
              <a:t>ư</a:t>
            </a:r>
            <a:r>
              <a:rPr lang="en-US" altLang="en-GB" sz="1800">
                <a:solidFill>
                  <a:schemeClr val="tx1"/>
                </a:solidFill>
              </a:rPr>
              <a:t>a </a:t>
            </a:r>
            <a:r>
              <a:rPr lang="en-US" altLang="en-US" sz="1800">
                <a:solidFill>
                  <a:schemeClr val="tx1"/>
                </a:solidFill>
              </a:rPr>
              <a:t>đ</a:t>
            </a:r>
            <a:r>
              <a:rPr lang="en-US" altLang="en-GB" sz="1800">
                <a:solidFill>
                  <a:schemeClr val="tx1"/>
                </a:solidFill>
              </a:rPr>
              <a:t>ầy 20 ph</a:t>
            </a:r>
            <a:r>
              <a:rPr lang="en-US" altLang="en-US" sz="1800">
                <a:solidFill>
                  <a:schemeClr val="tx1"/>
                </a:solidFill>
              </a:rPr>
              <a:t>ú</a:t>
            </a:r>
            <a:r>
              <a:rPr lang="en-US" altLang="en-GB" sz="1800">
                <a:solidFill>
                  <a:schemeClr val="tx1"/>
                </a:solidFill>
              </a:rPr>
              <a:t>t </a:t>
            </a:r>
            <a:r>
              <a:rPr lang="en-US" altLang="en-US" sz="1800">
                <a:solidFill>
                  <a:schemeClr val="tx1"/>
                </a:solidFill>
              </a:rPr>
              <a:t>đ</a:t>
            </a:r>
            <a:r>
              <a:rPr lang="en-US" altLang="en-GB" sz="1800">
                <a:solidFill>
                  <a:schemeClr val="tx1"/>
                </a:solidFill>
              </a:rPr>
              <a:t>ể hoàn tất qu</a:t>
            </a:r>
            <a:r>
              <a:rPr lang="en-US" altLang="en-US" sz="1800">
                <a:solidFill>
                  <a:schemeClr val="tx1"/>
                </a:solidFill>
              </a:rPr>
              <a:t>á</a:t>
            </a:r>
            <a:r>
              <a:rPr lang="en-US" altLang="en-GB" sz="1800">
                <a:solidFill>
                  <a:schemeClr val="tx1"/>
                </a:solidFill>
              </a:rPr>
              <a:t> tr</a:t>
            </a:r>
            <a:r>
              <a:rPr lang="en-US" altLang="en-US" sz="1800">
                <a:solidFill>
                  <a:schemeClr val="tx1"/>
                </a:solidFill>
              </a:rPr>
              <a:t>ì</a:t>
            </a:r>
            <a:r>
              <a:rPr lang="en-US" altLang="en-GB" sz="1800">
                <a:solidFill>
                  <a:schemeClr val="tx1"/>
                </a:solidFill>
              </a:rPr>
              <a:t>nh tinh chỉnh, nh</a:t>
            </a:r>
            <a:r>
              <a:rPr lang="en-US" altLang="en-US" sz="1800">
                <a:solidFill>
                  <a:schemeClr val="tx1"/>
                </a:solidFill>
              </a:rPr>
              <a:t>ư</a:t>
            </a:r>
            <a:r>
              <a:rPr lang="en-US" altLang="en-GB" sz="1800">
                <a:solidFill>
                  <a:schemeClr val="tx1"/>
                </a:solidFill>
              </a:rPr>
              <a:t>ng lại mang về kết quả v</a:t>
            </a:r>
            <a:r>
              <a:rPr lang="en-US" altLang="en-US" sz="1800">
                <a:solidFill>
                  <a:schemeClr val="tx1"/>
                </a:solidFill>
              </a:rPr>
              <a:t>ư</a:t>
            </a:r>
            <a:r>
              <a:rPr lang="en-US" altLang="en-GB" sz="1800">
                <a:solidFill>
                  <a:schemeClr val="tx1"/>
                </a:solidFill>
              </a:rPr>
              <a:t>ợt trội so với c</a:t>
            </a:r>
            <a:r>
              <a:rPr lang="en-US" altLang="en-US" sz="1800">
                <a:solidFill>
                  <a:schemeClr val="tx1"/>
                </a:solidFill>
              </a:rPr>
              <a:t>á</a:t>
            </a:r>
            <a:r>
              <a:rPr lang="en-US" altLang="en-GB" sz="1800">
                <a:solidFill>
                  <a:schemeClr val="tx1"/>
                </a:solidFill>
              </a:rPr>
              <a:t>c ph</a:t>
            </a:r>
            <a:r>
              <a:rPr lang="en-US" altLang="en-US" sz="1800">
                <a:solidFill>
                  <a:schemeClr val="tx1"/>
                </a:solidFill>
              </a:rPr>
              <a:t>ư</a:t>
            </a:r>
            <a:r>
              <a:rPr lang="en-US" altLang="en-US" sz="1800">
                <a:solidFill>
                  <a:schemeClr val="tx1"/>
                </a:solidFill>
              </a:rPr>
              <a:t>ơ</a:t>
            </a:r>
            <a:r>
              <a:rPr lang="en-US" altLang="en-GB" sz="1800">
                <a:solidFill>
                  <a:schemeClr val="tx1"/>
                </a:solidFill>
              </a:rPr>
              <a:t>ng ph</a:t>
            </a:r>
            <a:r>
              <a:rPr lang="en-US" altLang="en-US" sz="1800">
                <a:solidFill>
                  <a:schemeClr val="tx1"/>
                </a:solidFill>
              </a:rPr>
              <a:t>á</a:t>
            </a:r>
            <a:r>
              <a:rPr lang="en-US" altLang="en-GB" sz="1800">
                <a:solidFill>
                  <a:schemeClr val="tx1"/>
                </a:solidFill>
              </a:rPr>
              <a:t>p tạo vector nh</a:t>
            </a:r>
            <a:r>
              <a:rPr lang="en-US" altLang="en-US" sz="1800">
                <a:solidFill>
                  <a:schemeClr val="tx1"/>
                </a:solidFill>
              </a:rPr>
              <a:t>ú</a:t>
            </a:r>
            <a:r>
              <a:rPr lang="en-US" altLang="en-GB" sz="1800">
                <a:solidFill>
                  <a:schemeClr val="tx1"/>
                </a:solidFill>
              </a:rPr>
              <a:t>ng c</a:t>
            </a:r>
            <a:r>
              <a:rPr lang="en-US" altLang="en-US" sz="1800">
                <a:solidFill>
                  <a:schemeClr val="tx1"/>
                </a:solidFill>
              </a:rPr>
              <a:t>â</a:t>
            </a:r>
            <a:r>
              <a:rPr lang="en-US" altLang="en-GB" sz="1800">
                <a:solidFill>
                  <a:schemeClr val="tx1"/>
                </a:solidFill>
              </a:rPr>
              <a:t>u t</a:t>
            </a:r>
            <a:r>
              <a:rPr lang="en-US" altLang="en-US" sz="1800">
                <a:solidFill>
                  <a:schemeClr val="tx1"/>
                </a:solidFill>
              </a:rPr>
              <a:t>ư</a:t>
            </a:r>
            <a:r>
              <a:rPr lang="en-US" altLang="en-US" sz="1800">
                <a:solidFill>
                  <a:schemeClr val="tx1"/>
                </a:solidFill>
              </a:rPr>
              <a:t>ơ</a:t>
            </a:r>
            <a:r>
              <a:rPr lang="en-US" altLang="en-GB" sz="1800">
                <a:solidFill>
                  <a:schemeClr val="tx1"/>
                </a:solidFill>
              </a:rPr>
              <a:t>ng </a:t>
            </a:r>
            <a:r>
              <a:rPr lang="en-US" altLang="en-US" sz="1800">
                <a:solidFill>
                  <a:schemeClr val="tx1"/>
                </a:solidFill>
              </a:rPr>
              <a:t>đư</a:t>
            </a:r>
            <a:r>
              <a:rPr lang="en-US" altLang="en-US" sz="1800">
                <a:solidFill>
                  <a:schemeClr val="tx1"/>
                </a:solidFill>
              </a:rPr>
              <a:t>ơ</a:t>
            </a:r>
            <a:r>
              <a:rPr lang="en-US" altLang="en-GB" sz="1800">
                <a:solidFill>
                  <a:schemeClr val="tx1"/>
                </a:solidFill>
              </a:rPr>
              <a:t>ng tại thời </a:t>
            </a:r>
            <a:r>
              <a:rPr lang="en-US" altLang="en-US" sz="1800">
                <a:solidFill>
                  <a:schemeClr val="tx1"/>
                </a:solidFill>
              </a:rPr>
              <a:t>đ</a:t>
            </a:r>
            <a:r>
              <a:rPr lang="en-US" altLang="en-GB" sz="1800">
                <a:solidFill>
                  <a:schemeClr val="tx1"/>
                </a:solidFill>
              </a:rPr>
              <a:t>iểm </a:t>
            </a:r>
            <a:r>
              <a:rPr lang="en-US" altLang="en-US" sz="1800">
                <a:solidFill>
                  <a:schemeClr val="tx1"/>
                </a:solidFill>
              </a:rPr>
              <a:t>đ</a:t>
            </a:r>
            <a:r>
              <a:rPr lang="en-US" altLang="en-US" sz="1800">
                <a:solidFill>
                  <a:schemeClr val="tx1"/>
                </a:solidFill>
              </a:rPr>
              <a:t>ó</a:t>
            </a:r>
            <a:r>
              <a:rPr lang="en-US" altLang="en-GB" sz="1800">
                <a:solidFill>
                  <a:schemeClr val="tx1"/>
                </a:solidFill>
              </a:rPr>
              <a:t>.</a:t>
            </a:r>
            <a:br>
              <a:rPr lang="en-US" altLang="en-GB" sz="1800">
                <a:solidFill>
                  <a:schemeClr val="tx1"/>
                </a:solidFill>
              </a:rPr>
            </a:br>
            <a:br>
              <a:rPr lang="en-US" altLang="en-GB" sz="1800">
                <a:solidFill>
                  <a:schemeClr val="tx1"/>
                </a:solidFill>
              </a:rPr>
            </a:br>
            <a:r>
              <a:rPr lang="en-US" altLang="en-GB" sz="1800">
                <a:solidFill>
                  <a:srgbClr val="0070C0"/>
                </a:solidFill>
              </a:rPr>
              <a:t>Về mặt kiến tr</a:t>
            </a:r>
            <a:r>
              <a:rPr lang="en-US" altLang="en-US" sz="1800">
                <a:solidFill>
                  <a:srgbClr val="0070C0"/>
                </a:solidFill>
              </a:rPr>
              <a:t>ú</a:t>
            </a:r>
            <a:r>
              <a:rPr lang="en-US" altLang="en-GB" sz="1800">
                <a:solidFill>
                  <a:srgbClr val="0070C0"/>
                </a:solidFill>
              </a:rPr>
              <a:t>c</a:t>
            </a:r>
            <a:r>
              <a:rPr lang="en-US" altLang="en-GB" sz="1800">
                <a:solidFill>
                  <a:schemeClr val="tx1"/>
                </a:solidFill>
              </a:rPr>
              <a:t>, SBERT t</a:t>
            </a:r>
            <a:r>
              <a:rPr lang="en-US" altLang="en-US" sz="1800">
                <a:solidFill>
                  <a:schemeClr val="tx1"/>
                </a:solidFill>
              </a:rPr>
              <a:t>í</a:t>
            </a:r>
            <a:r>
              <a:rPr lang="en-US" altLang="en-GB" sz="1800">
                <a:solidFill>
                  <a:schemeClr val="tx1"/>
                </a:solidFill>
              </a:rPr>
              <a:t>ch hợp th</a:t>
            </a:r>
            <a:r>
              <a:rPr lang="en-US" altLang="en-US" sz="1800">
                <a:solidFill>
                  <a:schemeClr val="tx1"/>
                </a:solidFill>
              </a:rPr>
              <a:t>ê</a:t>
            </a:r>
            <a:r>
              <a:rPr lang="en-US" altLang="en-GB" sz="1800">
                <a:solidFill>
                  <a:schemeClr val="tx1"/>
                </a:solidFill>
              </a:rPr>
              <a:t>m một </a:t>
            </a:r>
            <a:r>
              <a:rPr lang="en-US" altLang="en-GB" sz="1800">
                <a:solidFill>
                  <a:srgbClr val="0070C0"/>
                </a:solidFill>
              </a:rPr>
              <a:t>Lớp to</a:t>
            </a:r>
            <a:r>
              <a:rPr lang="en-US" altLang="en-US" sz="1800">
                <a:solidFill>
                  <a:srgbClr val="0070C0"/>
                </a:solidFill>
              </a:rPr>
              <a:t>á</a:t>
            </a:r>
            <a:r>
              <a:rPr lang="en-US" altLang="en-GB" sz="1800">
                <a:solidFill>
                  <a:srgbClr val="0070C0"/>
                </a:solidFill>
              </a:rPr>
              <a:t>n gộp</a:t>
            </a:r>
            <a:r>
              <a:rPr lang="en-US" altLang="en-GB" sz="1800">
                <a:solidFill>
                  <a:schemeClr val="tx1"/>
                </a:solidFill>
              </a:rPr>
              <a:t> (Pooling Operation) ngay sau </a:t>
            </a:r>
            <a:r>
              <a:rPr lang="en-US" altLang="en-US" sz="1800">
                <a:solidFill>
                  <a:schemeClr val="tx1"/>
                </a:solidFill>
              </a:rPr>
              <a:t>đ</a:t>
            </a:r>
            <a:r>
              <a:rPr lang="en-US" altLang="en-GB" sz="1800">
                <a:solidFill>
                  <a:schemeClr val="tx1"/>
                </a:solidFill>
              </a:rPr>
              <a:t>ầu ra của BERT/RoBERTa nhằm cô </a:t>
            </a:r>
            <a:r>
              <a:rPr lang="en-US" altLang="en-US" sz="1800">
                <a:solidFill>
                  <a:schemeClr val="tx1"/>
                </a:solidFill>
              </a:rPr>
              <a:t>đ</a:t>
            </a:r>
            <a:r>
              <a:rPr lang="en-US" altLang="en-GB" sz="1800">
                <a:solidFill>
                  <a:schemeClr val="tx1"/>
                </a:solidFill>
              </a:rPr>
              <a:t>ặc thông tin từ c</a:t>
            </a:r>
            <a:r>
              <a:rPr lang="en-US" altLang="en-US" sz="1800">
                <a:solidFill>
                  <a:schemeClr val="tx1"/>
                </a:solidFill>
              </a:rPr>
              <a:t>á</a:t>
            </a:r>
            <a:r>
              <a:rPr lang="en-US" altLang="en-GB" sz="1800">
                <a:solidFill>
                  <a:schemeClr val="tx1"/>
                </a:solidFill>
              </a:rPr>
              <a:t>c từ ngữ cảnh thành một vector nh</a:t>
            </a:r>
            <a:r>
              <a:rPr lang="en-US" altLang="en-US" sz="1800">
                <a:solidFill>
                  <a:schemeClr val="tx1"/>
                </a:solidFill>
              </a:rPr>
              <a:t>ú</a:t>
            </a:r>
            <a:r>
              <a:rPr lang="en-US" altLang="en-GB" sz="1800">
                <a:solidFill>
                  <a:schemeClr val="tx1"/>
                </a:solidFill>
              </a:rPr>
              <a:t>ng c</a:t>
            </a:r>
            <a:r>
              <a:rPr lang="en-US" altLang="en-US" sz="1800">
                <a:solidFill>
                  <a:schemeClr val="tx1"/>
                </a:solidFill>
              </a:rPr>
              <a:t>â</a:t>
            </a:r>
            <a:r>
              <a:rPr lang="en-US" altLang="en-GB" sz="1800">
                <a:solidFill>
                  <a:schemeClr val="tx1"/>
                </a:solidFill>
              </a:rPr>
              <a:t>u duy nhất c</a:t>
            </a:r>
            <a:r>
              <a:rPr lang="en-US" altLang="en-US" sz="1800">
                <a:solidFill>
                  <a:schemeClr val="tx1"/>
                </a:solidFill>
              </a:rPr>
              <a:t>ó</a:t>
            </a:r>
            <a:r>
              <a:rPr lang="en-US" altLang="en-GB" sz="1800">
                <a:solidFill>
                  <a:schemeClr val="tx1"/>
                </a:solidFill>
              </a:rPr>
              <a:t> k</a:t>
            </a:r>
            <a:r>
              <a:rPr lang="en-US" altLang="en-US" sz="1800">
                <a:solidFill>
                  <a:schemeClr val="tx1"/>
                </a:solidFill>
              </a:rPr>
              <a:t>í</a:t>
            </a:r>
            <a:r>
              <a:rPr lang="en-US" altLang="en-GB" sz="1800">
                <a:solidFill>
                  <a:schemeClr val="tx1"/>
                </a:solidFill>
              </a:rPr>
              <a:t>ch th</a:t>
            </a:r>
            <a:r>
              <a:rPr lang="en-US" altLang="en-US" sz="1800">
                <a:solidFill>
                  <a:schemeClr val="tx1"/>
                </a:solidFill>
              </a:rPr>
              <a:t>ư</a:t>
            </a:r>
            <a:r>
              <a:rPr lang="en-US" altLang="en-GB" sz="1800">
                <a:solidFill>
                  <a:schemeClr val="tx1"/>
                </a:solidFill>
              </a:rPr>
              <a:t>ớc cố </a:t>
            </a:r>
            <a:r>
              <a:rPr lang="en-US" altLang="en-US" sz="1800">
                <a:solidFill>
                  <a:schemeClr val="tx1"/>
                </a:solidFill>
              </a:rPr>
              <a:t>đ</a:t>
            </a:r>
            <a:r>
              <a:rPr lang="en-US" altLang="en-GB" sz="1800">
                <a:solidFill>
                  <a:schemeClr val="tx1"/>
                </a:solidFill>
              </a:rPr>
              <a:t>ịnh. Nh</a:t>
            </a:r>
            <a:r>
              <a:rPr lang="en-US" altLang="en-US" sz="1800">
                <a:solidFill>
                  <a:schemeClr val="tx1"/>
                </a:solidFill>
              </a:rPr>
              <a:t>ó</a:t>
            </a:r>
            <a:r>
              <a:rPr lang="en-US" altLang="en-GB" sz="1800">
                <a:solidFill>
                  <a:schemeClr val="tx1"/>
                </a:solidFill>
              </a:rPr>
              <a:t>m t</a:t>
            </a:r>
            <a:r>
              <a:rPr lang="en-US" altLang="en-US" sz="1800">
                <a:solidFill>
                  <a:schemeClr val="tx1"/>
                </a:solidFill>
              </a:rPr>
              <a:t>á</a:t>
            </a:r>
            <a:r>
              <a:rPr lang="en-US" altLang="en-GB" sz="1800">
                <a:solidFill>
                  <a:schemeClr val="tx1"/>
                </a:solidFill>
              </a:rPr>
              <a:t>c giả </a:t>
            </a:r>
            <a:r>
              <a:rPr lang="en-US" altLang="en-US" sz="1800">
                <a:solidFill>
                  <a:schemeClr val="tx1"/>
                </a:solidFill>
              </a:rPr>
              <a:t>đ</a:t>
            </a:r>
            <a:r>
              <a:rPr lang="en-US" altLang="en-US" sz="1800">
                <a:solidFill>
                  <a:schemeClr val="tx1"/>
                </a:solidFill>
              </a:rPr>
              <a:t>ã</a:t>
            </a:r>
            <a:r>
              <a:rPr lang="en-US" altLang="en-GB" sz="1800">
                <a:solidFill>
                  <a:schemeClr val="tx1"/>
                </a:solidFill>
              </a:rPr>
              <a:t> tiến hành thử nghiệm song song với </a:t>
            </a:r>
            <a:r>
              <a:rPr lang="en-US" altLang="en-GB" sz="1800">
                <a:solidFill>
                  <a:srgbClr val="0070C0"/>
                </a:solidFill>
              </a:rPr>
              <a:t>ba chiến l</a:t>
            </a:r>
            <a:r>
              <a:rPr lang="en-US" altLang="en-US" sz="1800">
                <a:solidFill>
                  <a:srgbClr val="0070C0"/>
                </a:solidFill>
              </a:rPr>
              <a:t>ư</a:t>
            </a:r>
            <a:r>
              <a:rPr lang="en-US" altLang="en-GB" sz="1800">
                <a:solidFill>
                  <a:srgbClr val="0070C0"/>
                </a:solidFill>
              </a:rPr>
              <a:t>ợc pooling</a:t>
            </a:r>
            <a:r>
              <a:rPr lang="en-US" altLang="en-GB" sz="1800">
                <a:solidFill>
                  <a:schemeClr val="tx1"/>
                </a:solidFill>
              </a:rPr>
              <a:t> kh</a:t>
            </a:r>
            <a:r>
              <a:rPr lang="en-US" altLang="en-US" sz="1800">
                <a:solidFill>
                  <a:schemeClr val="tx1"/>
                </a:solidFill>
              </a:rPr>
              <a:t>á</a:t>
            </a:r>
            <a:r>
              <a:rPr lang="en-US" altLang="en-GB" sz="1800">
                <a:solidFill>
                  <a:schemeClr val="tx1"/>
                </a:solidFill>
              </a:rPr>
              <a:t>c nhau, bao gồm:</a:t>
            </a:r>
            <a:br>
              <a:rPr lang="en-US" altLang="en-GB" sz="1800">
                <a:solidFill>
                  <a:schemeClr val="tx1"/>
                </a:solidFill>
              </a:rPr>
            </a:br>
            <a:r>
              <a:rPr lang="en-US" altLang="en-GB" sz="1800">
                <a:solidFill>
                  <a:schemeClr val="tx1"/>
                </a:solidFill>
              </a:rPr>
              <a:t>	R</a:t>
            </a:r>
            <a:r>
              <a:rPr lang="en-US" altLang="en-US" sz="1800">
                <a:solidFill>
                  <a:schemeClr val="tx1"/>
                </a:solidFill>
              </a:rPr>
              <a:t>ú</a:t>
            </a:r>
            <a:r>
              <a:rPr lang="en-US" altLang="en-GB" sz="1800">
                <a:solidFill>
                  <a:schemeClr val="tx1"/>
                </a:solidFill>
              </a:rPr>
              <a:t>t tr</a:t>
            </a:r>
            <a:r>
              <a:rPr lang="en-US" altLang="en-US" sz="1800">
                <a:solidFill>
                  <a:schemeClr val="tx1"/>
                </a:solidFill>
              </a:rPr>
              <a:t>í</a:t>
            </a:r>
            <a:r>
              <a:rPr lang="en-US" altLang="en-GB" sz="1800">
                <a:solidFill>
                  <a:schemeClr val="tx1"/>
                </a:solidFill>
              </a:rPr>
              <a:t>ch trực tiếp vector </a:t>
            </a:r>
            <a:r>
              <a:rPr lang="en-US" altLang="en-US" sz="1800">
                <a:solidFill>
                  <a:schemeClr val="tx1"/>
                </a:solidFill>
              </a:rPr>
              <a:t>đ</a:t>
            </a:r>
            <a:r>
              <a:rPr lang="en-US" altLang="en-GB" sz="1800">
                <a:solidFill>
                  <a:schemeClr val="tx1"/>
                </a:solidFill>
              </a:rPr>
              <a:t>ầu ra của token [CLS]</a:t>
            </a:r>
            <a:br>
              <a:rPr lang="en-US" altLang="en-GB" sz="1800">
                <a:solidFill>
                  <a:schemeClr val="tx1"/>
                </a:solidFill>
              </a:rPr>
            </a:br>
            <a:r>
              <a:rPr lang="en-US" altLang="en-GB" sz="1800">
                <a:solidFill>
                  <a:schemeClr val="tx1"/>
                </a:solidFill>
              </a:rPr>
              <a:t>	T</a:t>
            </a:r>
            <a:r>
              <a:rPr lang="en-US" altLang="en-US" sz="1800">
                <a:solidFill>
                  <a:schemeClr val="tx1"/>
                </a:solidFill>
              </a:rPr>
              <a:t>í</a:t>
            </a:r>
            <a:r>
              <a:rPr lang="en-US" altLang="en-GB" sz="1800">
                <a:solidFill>
                  <a:schemeClr val="tx1"/>
                </a:solidFill>
              </a:rPr>
              <a:t>nh gi</a:t>
            </a:r>
            <a:r>
              <a:rPr lang="en-US" altLang="en-US" sz="1800">
                <a:solidFill>
                  <a:schemeClr val="tx1"/>
                </a:solidFill>
              </a:rPr>
              <a:t>á</a:t>
            </a:r>
            <a:r>
              <a:rPr lang="en-US" altLang="en-GB" sz="1800">
                <a:solidFill>
                  <a:schemeClr val="tx1"/>
                </a:solidFill>
              </a:rPr>
              <a:t> trị lớn nhất theo thời gian (chiến l</a:t>
            </a:r>
            <a:r>
              <a:rPr lang="en-US" altLang="en-US" sz="1800">
                <a:solidFill>
                  <a:schemeClr val="tx1"/>
                </a:solidFill>
              </a:rPr>
              <a:t>ư</a:t>
            </a:r>
            <a:r>
              <a:rPr lang="en-US" altLang="en-GB" sz="1800">
                <a:solidFill>
                  <a:schemeClr val="tx1"/>
                </a:solidFill>
              </a:rPr>
              <a:t>ợc MAX)</a:t>
            </a:r>
            <a:br>
              <a:rPr lang="en-US" altLang="en-GB" sz="1800">
                <a:solidFill>
                  <a:schemeClr val="tx1"/>
                </a:solidFill>
              </a:rPr>
            </a:br>
            <a:r>
              <a:rPr lang="en-US" altLang="en-GB" sz="1800">
                <a:solidFill>
                  <a:schemeClr val="tx1"/>
                </a:solidFill>
              </a:rPr>
              <a:t>	T</a:t>
            </a:r>
            <a:r>
              <a:rPr lang="en-US" altLang="en-US" sz="1800">
                <a:solidFill>
                  <a:schemeClr val="tx1"/>
                </a:solidFill>
              </a:rPr>
              <a:t>í</a:t>
            </a:r>
            <a:r>
              <a:rPr lang="en-US" altLang="en-GB" sz="1800">
                <a:solidFill>
                  <a:schemeClr val="tx1"/>
                </a:solidFill>
              </a:rPr>
              <a:t>nh trung b</a:t>
            </a:r>
            <a:r>
              <a:rPr lang="en-US" altLang="en-US" sz="1800">
                <a:solidFill>
                  <a:schemeClr val="tx1"/>
                </a:solidFill>
              </a:rPr>
              <a:t>ì</a:t>
            </a:r>
            <a:r>
              <a:rPr lang="en-US" altLang="en-GB" sz="1800">
                <a:solidFill>
                  <a:schemeClr val="tx1"/>
                </a:solidFill>
              </a:rPr>
              <a:t>nh cộng của tất cả c</a:t>
            </a:r>
            <a:r>
              <a:rPr lang="en-US" altLang="en-US" sz="1800">
                <a:solidFill>
                  <a:schemeClr val="tx1"/>
                </a:solidFill>
              </a:rPr>
              <a:t>á</a:t>
            </a:r>
            <a:r>
              <a:rPr lang="en-US" altLang="en-GB" sz="1800">
                <a:solidFill>
                  <a:schemeClr val="tx1"/>
                </a:solidFill>
              </a:rPr>
              <a:t>c vector từ </a:t>
            </a:r>
            <a:r>
              <a:rPr lang="en-US" altLang="en-US" sz="1800">
                <a:solidFill>
                  <a:schemeClr val="tx1"/>
                </a:solidFill>
              </a:rPr>
              <a:t>đ</a:t>
            </a:r>
            <a:r>
              <a:rPr lang="en-US" altLang="en-GB" sz="1800">
                <a:solidFill>
                  <a:schemeClr val="tx1"/>
                </a:solidFill>
              </a:rPr>
              <a:t>ầu ra (chiến l</a:t>
            </a:r>
            <a:r>
              <a:rPr lang="en-US" altLang="en-US" sz="1800">
                <a:solidFill>
                  <a:schemeClr val="tx1"/>
                </a:solidFill>
              </a:rPr>
              <a:t>ư</a:t>
            </a:r>
            <a:r>
              <a:rPr lang="en-US" altLang="en-GB" sz="1800">
                <a:solidFill>
                  <a:schemeClr val="tx1"/>
                </a:solidFill>
              </a:rPr>
              <a:t>ợc MEAN)</a:t>
            </a:r>
            <a:br>
              <a:rPr lang="en-US" altLang="en-GB" sz="1800" b="1">
                <a:solidFill>
                  <a:srgbClr val="0070C0"/>
                </a:solidFill>
              </a:rPr>
            </a:br>
            <a:r>
              <a:rPr lang="en-US" altLang="en-GB" sz="1800">
                <a:solidFill>
                  <a:schemeClr val="tx1"/>
                </a:solidFill>
              </a:rPr>
              <a:t>Trong </a:t>
            </a:r>
            <a:r>
              <a:rPr lang="en-US" altLang="en-US" sz="1800">
                <a:solidFill>
                  <a:schemeClr val="tx1"/>
                </a:solidFill>
              </a:rPr>
              <a:t>đ</a:t>
            </a:r>
            <a:r>
              <a:rPr lang="en-US" altLang="en-US" sz="1800">
                <a:solidFill>
                  <a:schemeClr val="tx1"/>
                </a:solidFill>
              </a:rPr>
              <a:t>ó</a:t>
            </a:r>
            <a:r>
              <a:rPr lang="en-US" altLang="en-GB" sz="1800">
                <a:solidFill>
                  <a:schemeClr val="tx1"/>
                </a:solidFill>
              </a:rPr>
              <a:t>, chiến l</a:t>
            </a:r>
            <a:r>
              <a:rPr lang="en-US" altLang="en-US" sz="1800">
                <a:solidFill>
                  <a:schemeClr val="tx1"/>
                </a:solidFill>
              </a:rPr>
              <a:t>ư</a:t>
            </a:r>
            <a:r>
              <a:rPr lang="en-US" altLang="en-GB" sz="1800">
                <a:solidFill>
                  <a:schemeClr val="tx1"/>
                </a:solidFill>
              </a:rPr>
              <a:t>ợc MEAN </a:t>
            </a:r>
            <a:r>
              <a:rPr lang="en-US" altLang="en-US" sz="1800">
                <a:solidFill>
                  <a:schemeClr val="tx1"/>
                </a:solidFill>
              </a:rPr>
              <a:t>đư</a:t>
            </a:r>
            <a:r>
              <a:rPr lang="en-US" altLang="en-GB" sz="1800">
                <a:solidFill>
                  <a:schemeClr val="tx1"/>
                </a:solidFill>
              </a:rPr>
              <a:t>ợc lựa chọn làm cấu h</a:t>
            </a:r>
            <a:r>
              <a:rPr lang="en-US" altLang="en-US" sz="1800">
                <a:solidFill>
                  <a:schemeClr val="tx1"/>
                </a:solidFill>
              </a:rPr>
              <a:t>ì</a:t>
            </a:r>
            <a:r>
              <a:rPr lang="en-US" altLang="en-GB" sz="1800">
                <a:solidFill>
                  <a:schemeClr val="tx1"/>
                </a:solidFill>
              </a:rPr>
              <a:t>nh mặc </a:t>
            </a:r>
            <a:r>
              <a:rPr lang="en-US" altLang="en-US" sz="1800">
                <a:solidFill>
                  <a:schemeClr val="tx1"/>
                </a:solidFill>
              </a:rPr>
              <a:t>đ</a:t>
            </a:r>
            <a:r>
              <a:rPr lang="en-US" altLang="en-GB" sz="1800">
                <a:solidFill>
                  <a:schemeClr val="tx1"/>
                </a:solidFill>
              </a:rPr>
              <a:t>ịnh nhờ mang lại hiệu n</a:t>
            </a:r>
            <a:r>
              <a:rPr lang="en-US" altLang="en-US" sz="1800">
                <a:solidFill>
                  <a:schemeClr val="tx1"/>
                </a:solidFill>
              </a:rPr>
              <a:t>ă</a:t>
            </a:r>
            <a:r>
              <a:rPr lang="en-US" altLang="en-GB" sz="1800">
                <a:solidFill>
                  <a:schemeClr val="tx1"/>
                </a:solidFill>
              </a:rPr>
              <a:t>ng tối </a:t>
            </a:r>
            <a:r>
              <a:rPr lang="en-US" altLang="en-US" sz="1800">
                <a:solidFill>
                  <a:schemeClr val="tx1"/>
                </a:solidFill>
              </a:rPr>
              <a:t>ư</a:t>
            </a:r>
            <a:r>
              <a:rPr lang="en-US" altLang="en-GB" sz="1800">
                <a:solidFill>
                  <a:schemeClr val="tx1"/>
                </a:solidFill>
              </a:rPr>
              <a:t>u nhất.</a:t>
            </a:r>
            <a:br>
              <a:rPr lang="en-US" altLang="en-GB" sz="1800">
                <a:solidFill>
                  <a:schemeClr val="tx1"/>
                </a:solidFill>
              </a:rPr>
            </a:br>
            <a:endParaRPr lang="en-US" altLang="en-GB" sz="180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59690"/>
            <a:ext cx="4440555" cy="6635750"/>
          </a:xfrm>
        </p:spPr>
        <p:txBody>
          <a:bodyPr>
            <a:noAutofit/>
          </a:bodyPr>
          <a:p>
            <a:r>
              <a:rPr lang="en-US" altLang="en-GB" sz="3500"/>
              <a:t>3. Cơ sở lý thuyết</a:t>
            </a:r>
            <a:br>
              <a:rPr lang="en-US" altLang="en-GB" sz="3500"/>
            </a:br>
            <a:br>
              <a:rPr lang="en-US" altLang="en-GB" sz="1800"/>
            </a:br>
            <a:r>
              <a:rPr lang="en-US" altLang="en-GB" sz="1800">
                <a:solidFill>
                  <a:schemeClr val="tx1"/>
                </a:solidFill>
                <a:highlight>
                  <a:srgbClr val="FFFF00"/>
                </a:highlight>
              </a:rPr>
              <a:t>3</a:t>
            </a:r>
            <a:r>
              <a:rPr lang="en-US" altLang="en-GB" sz="1800">
                <a:solidFill>
                  <a:schemeClr val="tx1"/>
                </a:solidFill>
                <a:highlight>
                  <a:srgbClr val="FFFF00"/>
                </a:highlight>
              </a:rPr>
              <a:t>.1. Transformer</a:t>
            </a:r>
            <a:br>
              <a:rPr lang="en-US" altLang="en-GB" sz="1800">
                <a:solidFill>
                  <a:schemeClr val="tx1"/>
                </a:solidFill>
              </a:rPr>
            </a:br>
            <a:br>
              <a:rPr lang="en-US" altLang="en-GB" sz="1800">
                <a:solidFill>
                  <a:schemeClr val="tx1"/>
                </a:solidFill>
              </a:rPr>
            </a:br>
            <a:r>
              <a:rPr lang="en-US" altLang="en-GB" sz="1800">
                <a:solidFill>
                  <a:schemeClr val="tx1"/>
                </a:solidFill>
              </a:rPr>
              <a:t>+ Transformer là 1 kiến tr</a:t>
            </a:r>
            <a:r>
              <a:rPr lang="en-US" altLang="en-US" sz="1800">
                <a:solidFill>
                  <a:schemeClr val="tx1"/>
                </a:solidFill>
              </a:rPr>
              <a:t>ú</a:t>
            </a:r>
            <a:r>
              <a:rPr lang="en-US" altLang="en-GB" sz="1800">
                <a:solidFill>
                  <a:schemeClr val="tx1"/>
                </a:solidFill>
              </a:rPr>
              <a:t>c mạng nơ-ron </a:t>
            </a:r>
            <a:r>
              <a:rPr lang="en-US" altLang="en-US" sz="1800">
                <a:solidFill>
                  <a:schemeClr val="tx1"/>
                </a:solidFill>
              </a:rPr>
              <a:t>đư</a:t>
            </a:r>
            <a:r>
              <a:rPr lang="en-US" altLang="en-GB" sz="1800">
                <a:solidFill>
                  <a:schemeClr val="tx1"/>
                </a:solidFill>
              </a:rPr>
              <a:t>ợc google giới thiệu n</a:t>
            </a:r>
            <a:r>
              <a:rPr lang="en-US" altLang="en-US" sz="1800">
                <a:solidFill>
                  <a:schemeClr val="tx1"/>
                </a:solidFill>
              </a:rPr>
              <a:t>ă</a:t>
            </a:r>
            <a:r>
              <a:rPr lang="en-US" altLang="en-GB" sz="1800">
                <a:solidFill>
                  <a:schemeClr val="tx1"/>
                </a:solidFill>
              </a:rPr>
              <a:t>m 2017 trong paper "Attention is all you need" (nh</a:t>
            </a:r>
            <a:r>
              <a:rPr lang="en-US" altLang="en-US" sz="1800">
                <a:solidFill>
                  <a:schemeClr val="tx1"/>
                </a:solidFill>
              </a:rPr>
              <a:t>ó</a:t>
            </a:r>
            <a:r>
              <a:rPr lang="en-US" altLang="en-GB" sz="1800">
                <a:solidFill>
                  <a:schemeClr val="tx1"/>
                </a:solidFill>
              </a:rPr>
              <a:t>m t</a:t>
            </a:r>
            <a:r>
              <a:rPr lang="en-US" altLang="en-US" sz="1800">
                <a:solidFill>
                  <a:schemeClr val="tx1"/>
                </a:solidFill>
              </a:rPr>
              <a:t>á</a:t>
            </a:r>
            <a:r>
              <a:rPr lang="en-US" altLang="en-GB" sz="1800">
                <a:solidFill>
                  <a:schemeClr val="tx1"/>
                </a:solidFill>
              </a:rPr>
              <a:t>c giả tại Google brain và Google research công bố).</a:t>
            </a:r>
            <a:br>
              <a:rPr lang="en-US" altLang="en-GB" sz="1800">
                <a:solidFill>
                  <a:schemeClr val="tx1"/>
                </a:solidFill>
              </a:rPr>
            </a:br>
            <a:br>
              <a:rPr lang="en-US" altLang="en-GB" sz="1800">
                <a:solidFill>
                  <a:schemeClr val="tx1"/>
                </a:solidFill>
              </a:rPr>
            </a:br>
            <a:r>
              <a:rPr lang="en-US" altLang="en-GB" sz="1800">
                <a:solidFill>
                  <a:schemeClr val="tx1"/>
                </a:solidFill>
              </a:rPr>
              <a:t>+ Tr</a:t>
            </a:r>
            <a:r>
              <a:rPr lang="en-US" altLang="en-US" sz="1800">
                <a:solidFill>
                  <a:schemeClr val="tx1"/>
                </a:solidFill>
              </a:rPr>
              <a:t>ư</a:t>
            </a:r>
            <a:r>
              <a:rPr lang="en-US" altLang="en-GB" sz="1800">
                <a:solidFill>
                  <a:schemeClr val="tx1"/>
                </a:solidFill>
              </a:rPr>
              <a:t>ớc transformer, ng</a:t>
            </a:r>
            <a:r>
              <a:rPr lang="en-US" altLang="en-US" sz="1800">
                <a:solidFill>
                  <a:schemeClr val="tx1"/>
                </a:solidFill>
              </a:rPr>
              <a:t>ư</a:t>
            </a:r>
            <a:r>
              <a:rPr lang="en-US" altLang="en-GB" sz="1800">
                <a:solidFill>
                  <a:schemeClr val="tx1"/>
                </a:solidFill>
              </a:rPr>
              <a:t>ời ta d</a:t>
            </a:r>
            <a:r>
              <a:rPr lang="en-US" altLang="en-US" sz="1800">
                <a:solidFill>
                  <a:schemeClr val="tx1"/>
                </a:solidFill>
              </a:rPr>
              <a:t>ù</a:t>
            </a:r>
            <a:r>
              <a:rPr lang="en-US" altLang="en-GB" sz="1800">
                <a:solidFill>
                  <a:schemeClr val="tx1"/>
                </a:solidFill>
              </a:rPr>
              <a:t>ng RNN/LSTM </a:t>
            </a:r>
            <a:r>
              <a:rPr lang="en-US" altLang="en-US" sz="1800">
                <a:solidFill>
                  <a:schemeClr val="tx1"/>
                </a:solidFill>
              </a:rPr>
              <a:t>đ</a:t>
            </a:r>
            <a:r>
              <a:rPr lang="en-US" altLang="en-GB" sz="1800">
                <a:solidFill>
                  <a:schemeClr val="tx1"/>
                </a:solidFill>
              </a:rPr>
              <a:t>ể xử l</a:t>
            </a:r>
            <a:r>
              <a:rPr lang="en-US" altLang="en-US" sz="1800">
                <a:solidFill>
                  <a:schemeClr val="tx1"/>
                </a:solidFill>
              </a:rPr>
              <a:t>ý</a:t>
            </a:r>
            <a:r>
              <a:rPr lang="en-US" altLang="en-GB" sz="1800">
                <a:solidFill>
                  <a:schemeClr val="tx1"/>
                </a:solidFill>
              </a:rPr>
              <a:t> ngôn ngữ - nh</a:t>
            </a:r>
            <a:r>
              <a:rPr lang="en-US" altLang="en-US" sz="1800">
                <a:solidFill>
                  <a:schemeClr val="tx1"/>
                </a:solidFill>
              </a:rPr>
              <a:t>ư</a:t>
            </a:r>
            <a:r>
              <a:rPr lang="en-US" altLang="en-GB" sz="1800">
                <a:solidFill>
                  <a:schemeClr val="tx1"/>
                </a:solidFill>
              </a:rPr>
              <a:t>ng ch</a:t>
            </a:r>
            <a:r>
              <a:rPr lang="en-US" altLang="en-US" sz="1800">
                <a:solidFill>
                  <a:schemeClr val="tx1"/>
                </a:solidFill>
              </a:rPr>
              <a:t>ú</a:t>
            </a:r>
            <a:r>
              <a:rPr lang="en-US" altLang="en-GB" sz="1800">
                <a:solidFill>
                  <a:schemeClr val="tx1"/>
                </a:solidFill>
              </a:rPr>
              <a:t>ng c</a:t>
            </a:r>
            <a:r>
              <a:rPr lang="en-US" altLang="en-US" sz="1800">
                <a:solidFill>
                  <a:schemeClr val="tx1"/>
                </a:solidFill>
              </a:rPr>
              <a:t>ó</a:t>
            </a:r>
            <a:r>
              <a:rPr lang="en-US" altLang="en-GB" sz="1800">
                <a:solidFill>
                  <a:schemeClr val="tx1"/>
                </a:solidFill>
              </a:rPr>
              <a:t> nh</a:t>
            </a:r>
            <a:r>
              <a:rPr lang="en-US" altLang="en-US" sz="1800">
                <a:solidFill>
                  <a:schemeClr val="tx1"/>
                </a:solidFill>
              </a:rPr>
              <a:t>ư</a:t>
            </a:r>
            <a:r>
              <a:rPr lang="en-US" altLang="en-GB" sz="1800">
                <a:solidFill>
                  <a:schemeClr val="tx1"/>
                </a:solidFill>
              </a:rPr>
              <a:t>ợc </a:t>
            </a:r>
            <a:r>
              <a:rPr lang="en-US" altLang="en-US" sz="1800">
                <a:solidFill>
                  <a:schemeClr val="tx1"/>
                </a:solidFill>
              </a:rPr>
              <a:t>đ</a:t>
            </a:r>
            <a:r>
              <a:rPr lang="en-US" altLang="en-GB" sz="1800">
                <a:solidFill>
                  <a:schemeClr val="tx1"/>
                </a:solidFill>
              </a:rPr>
              <a:t>iểm lớn là xử l</a:t>
            </a:r>
            <a:r>
              <a:rPr lang="en-US" altLang="en-US" sz="1800">
                <a:solidFill>
                  <a:schemeClr val="tx1"/>
                </a:solidFill>
              </a:rPr>
              <a:t>ý</a:t>
            </a:r>
            <a:r>
              <a:rPr lang="en-US" altLang="en-GB" sz="1800">
                <a:solidFill>
                  <a:schemeClr val="tx1"/>
                </a:solidFill>
              </a:rPr>
              <a:t> tuần tự (từng từ một) n</a:t>
            </a:r>
            <a:r>
              <a:rPr lang="en-US" altLang="en-US" sz="1800">
                <a:solidFill>
                  <a:schemeClr val="tx1"/>
                </a:solidFill>
              </a:rPr>
              <a:t>ê</a:t>
            </a:r>
            <a:r>
              <a:rPr lang="en-US" altLang="en-GB" sz="1800">
                <a:solidFill>
                  <a:schemeClr val="tx1"/>
                </a:solidFill>
              </a:rPr>
              <a:t>n rất chậm và kh</a:t>
            </a:r>
            <a:r>
              <a:rPr lang="en-US" altLang="en-US" sz="1800">
                <a:solidFill>
                  <a:schemeClr val="tx1"/>
                </a:solidFill>
              </a:rPr>
              <a:t>ó</a:t>
            </a:r>
            <a:r>
              <a:rPr lang="en-US" altLang="en-GB" sz="1800">
                <a:solidFill>
                  <a:schemeClr val="tx1"/>
                </a:solidFill>
              </a:rPr>
              <a:t> nhớ ngữ cảnh xa.</a:t>
            </a:r>
            <a:br>
              <a:rPr lang="en-US" altLang="en-GB" sz="1800">
                <a:solidFill>
                  <a:schemeClr val="tx1"/>
                </a:solidFill>
              </a:rPr>
            </a:br>
            <a:br>
              <a:rPr lang="en-US" altLang="en-GB" sz="1800">
                <a:solidFill>
                  <a:schemeClr val="tx1"/>
                </a:solidFill>
              </a:rPr>
            </a:br>
            <a:r>
              <a:rPr lang="en-US" altLang="en-GB" sz="1800">
                <a:solidFill>
                  <a:schemeClr val="tx1"/>
                </a:solidFill>
              </a:rPr>
              <a:t>+ Transformer giải quyết </a:t>
            </a:r>
            <a:r>
              <a:rPr lang="en-US" altLang="en-US" sz="1800">
                <a:solidFill>
                  <a:schemeClr val="tx1"/>
                </a:solidFill>
              </a:rPr>
              <a:t>đ</a:t>
            </a:r>
            <a:r>
              <a:rPr lang="en-US" altLang="en-GB" sz="1800">
                <a:solidFill>
                  <a:schemeClr val="tx1"/>
                </a:solidFill>
              </a:rPr>
              <a:t>iều </a:t>
            </a:r>
            <a:r>
              <a:rPr lang="en-US" altLang="en-US" sz="1800">
                <a:solidFill>
                  <a:schemeClr val="tx1"/>
                </a:solidFill>
              </a:rPr>
              <a:t>đ</a:t>
            </a:r>
            <a:r>
              <a:rPr lang="en-US" altLang="en-US" sz="1800">
                <a:solidFill>
                  <a:schemeClr val="tx1"/>
                </a:solidFill>
              </a:rPr>
              <a:t>ó</a:t>
            </a:r>
            <a:r>
              <a:rPr lang="en-US" altLang="en-GB" sz="1800">
                <a:solidFill>
                  <a:schemeClr val="tx1"/>
                </a:solidFill>
              </a:rPr>
              <a:t> bằng c</a:t>
            </a:r>
            <a:r>
              <a:rPr lang="en-US" altLang="en-US" sz="1800">
                <a:solidFill>
                  <a:schemeClr val="tx1"/>
                </a:solidFill>
              </a:rPr>
              <a:t>ơ</a:t>
            </a:r>
            <a:r>
              <a:rPr lang="en-US" altLang="en-GB" sz="1800">
                <a:solidFill>
                  <a:schemeClr val="tx1"/>
                </a:solidFill>
              </a:rPr>
              <a:t> chế self-attention - cho ph</a:t>
            </a:r>
            <a:r>
              <a:rPr lang="en-US" altLang="en-US" sz="1800">
                <a:solidFill>
                  <a:schemeClr val="tx1"/>
                </a:solidFill>
              </a:rPr>
              <a:t>é</a:t>
            </a:r>
            <a:r>
              <a:rPr lang="en-US" altLang="en-GB" sz="1800">
                <a:solidFill>
                  <a:schemeClr val="tx1"/>
                </a:solidFill>
              </a:rPr>
              <a:t>p mô h</a:t>
            </a:r>
            <a:r>
              <a:rPr lang="en-US" altLang="en-US" sz="1800">
                <a:solidFill>
                  <a:schemeClr val="tx1"/>
                </a:solidFill>
              </a:rPr>
              <a:t>ì</a:t>
            </a:r>
            <a:r>
              <a:rPr lang="en-US" altLang="en-GB" sz="1800">
                <a:solidFill>
                  <a:schemeClr val="tx1"/>
                </a:solidFill>
              </a:rPr>
              <a:t>nh nh</a:t>
            </a:r>
            <a:r>
              <a:rPr lang="en-US" altLang="en-US" sz="1800">
                <a:solidFill>
                  <a:schemeClr val="tx1"/>
                </a:solidFill>
              </a:rPr>
              <a:t>ì</a:t>
            </a:r>
            <a:r>
              <a:rPr lang="en-US" altLang="en-GB" sz="1800">
                <a:solidFill>
                  <a:schemeClr val="tx1"/>
                </a:solidFill>
              </a:rPr>
              <a:t>n toàn bộ c</a:t>
            </a:r>
            <a:r>
              <a:rPr lang="en-US" altLang="en-US" sz="1800">
                <a:solidFill>
                  <a:schemeClr val="tx1"/>
                </a:solidFill>
              </a:rPr>
              <a:t>â</a:t>
            </a:r>
            <a:r>
              <a:rPr lang="en-US" altLang="en-GB" sz="1800">
                <a:solidFill>
                  <a:schemeClr val="tx1"/>
                </a:solidFill>
              </a:rPr>
              <a:t>u c</a:t>
            </a:r>
            <a:r>
              <a:rPr lang="en-US" altLang="en-US" sz="1800">
                <a:solidFill>
                  <a:schemeClr val="tx1"/>
                </a:solidFill>
              </a:rPr>
              <a:t>ù</a:t>
            </a:r>
            <a:r>
              <a:rPr lang="en-US" altLang="en-GB" sz="1800">
                <a:solidFill>
                  <a:schemeClr val="tx1"/>
                </a:solidFill>
              </a:rPr>
              <a:t>ng l</a:t>
            </a:r>
            <a:r>
              <a:rPr lang="en-US" altLang="en-US" sz="1800">
                <a:solidFill>
                  <a:schemeClr val="tx1"/>
                </a:solidFill>
              </a:rPr>
              <a:t>ú</a:t>
            </a:r>
            <a:r>
              <a:rPr lang="en-US" altLang="en-GB" sz="1800">
                <a:solidFill>
                  <a:schemeClr val="tx1"/>
                </a:solidFill>
              </a:rPr>
              <a:t>c và hiểu </a:t>
            </a:r>
            <a:r>
              <a:rPr lang="en-US" altLang="en-US" sz="1800">
                <a:solidFill>
                  <a:schemeClr val="tx1"/>
                </a:solidFill>
              </a:rPr>
              <a:t>đư</a:t>
            </a:r>
            <a:r>
              <a:rPr lang="en-US" altLang="en-GB" sz="1800">
                <a:solidFill>
                  <a:schemeClr val="tx1"/>
                </a:solidFill>
              </a:rPr>
              <a:t>ợc từ nào li</a:t>
            </a:r>
            <a:r>
              <a:rPr lang="en-US" altLang="en-US" sz="1800">
                <a:solidFill>
                  <a:schemeClr val="tx1"/>
                </a:solidFill>
              </a:rPr>
              <a:t>ê</a:t>
            </a:r>
            <a:r>
              <a:rPr lang="en-US" altLang="en-GB" sz="1800">
                <a:solidFill>
                  <a:schemeClr val="tx1"/>
                </a:solidFill>
              </a:rPr>
              <a:t>n quan </a:t>
            </a:r>
            <a:r>
              <a:rPr lang="en-US" altLang="en-US" sz="1800">
                <a:solidFill>
                  <a:schemeClr val="tx1"/>
                </a:solidFill>
              </a:rPr>
              <a:t>đ</a:t>
            </a:r>
            <a:r>
              <a:rPr lang="en-US" altLang="en-GB" sz="1800">
                <a:solidFill>
                  <a:schemeClr val="tx1"/>
                </a:solidFill>
              </a:rPr>
              <a:t>ến từ nào.</a:t>
            </a:r>
            <a:br>
              <a:rPr lang="en-US" altLang="en-GB" sz="1800">
                <a:solidFill>
                  <a:schemeClr val="tx1"/>
                </a:solidFill>
              </a:rPr>
            </a:br>
            <a:br>
              <a:rPr lang="en-US" altLang="en-GB" sz="1800">
                <a:solidFill>
                  <a:schemeClr val="tx1"/>
                </a:solidFill>
              </a:rPr>
            </a:br>
            <a:r>
              <a:rPr lang="en-US" altLang="en-GB" sz="1800">
                <a:solidFill>
                  <a:schemeClr val="tx1"/>
                </a:solidFill>
              </a:rPr>
              <a:t>+ Kiến tr</a:t>
            </a:r>
            <a:r>
              <a:rPr lang="en-US" altLang="en-US" sz="1800">
                <a:solidFill>
                  <a:schemeClr val="tx1"/>
                </a:solidFill>
              </a:rPr>
              <a:t>ú</a:t>
            </a:r>
            <a:r>
              <a:rPr lang="en-US" altLang="en-GB" sz="1800">
                <a:solidFill>
                  <a:schemeClr val="tx1"/>
                </a:solidFill>
              </a:rPr>
              <a:t>c Transformer gồm 2 phần ch</a:t>
            </a:r>
            <a:r>
              <a:rPr lang="en-US" altLang="en-US" sz="1800">
                <a:solidFill>
                  <a:schemeClr val="tx1"/>
                </a:solidFill>
              </a:rPr>
              <a:t>í</a:t>
            </a:r>
            <a:r>
              <a:rPr lang="en-US" altLang="en-GB" sz="1800">
                <a:solidFill>
                  <a:schemeClr val="tx1"/>
                </a:solidFill>
              </a:rPr>
              <a:t>nh là encoder và decoder</a:t>
            </a:r>
            <a:br>
              <a:rPr lang="en-US" altLang="en-GB" sz="1800">
                <a:solidFill>
                  <a:schemeClr val="tx1"/>
                </a:solidFill>
              </a:rPr>
            </a:br>
            <a:br>
              <a:rPr lang="en-US" altLang="en-GB" sz="1800">
                <a:solidFill>
                  <a:schemeClr val="tx1"/>
                </a:solidFill>
              </a:rPr>
            </a:br>
            <a:endParaRPr lang="en-US" altLang="en-GB" sz="1800">
              <a:solidFill>
                <a:schemeClr val="tx1"/>
              </a:solidFill>
            </a:endParaRPr>
          </a:p>
        </p:txBody>
      </p:sp>
      <p:graphicFrame>
        <p:nvGraphicFramePr>
          <p:cNvPr id="2" name="Object 1"/>
          <p:cNvGraphicFramePr/>
          <p:nvPr/>
        </p:nvGraphicFramePr>
        <p:xfrm>
          <a:off x="4907915" y="764540"/>
          <a:ext cx="6975475" cy="5007610"/>
        </p:xfrm>
        <a:graphic>
          <a:graphicData uri="http://schemas.openxmlformats.org/presentationml/2006/ole">
            <mc:AlternateContent xmlns:mc="http://schemas.openxmlformats.org/markup-compatibility/2006">
              <mc:Choice xmlns:v="urn:schemas-microsoft-com:vml" Requires="v">
                <p:oleObj spid="_x0000_s3" name="" r:id="rId1" imgW="9806940" imgH="6225540" progId="Paint.Picture">
                  <p:embed/>
                </p:oleObj>
              </mc:Choice>
              <mc:Fallback>
                <p:oleObj name="" r:id="rId1" imgW="9806940" imgH="6225540" progId="Paint.Picture">
                  <p:embed/>
                  <p:pic>
                    <p:nvPicPr>
                      <p:cNvPr id="0" name="Picture 2"/>
                      <p:cNvPicPr/>
                      <p:nvPr/>
                    </p:nvPicPr>
                    <p:blipFill>
                      <a:blip r:embed="rId2"/>
                      <a:stretch>
                        <a:fillRect/>
                      </a:stretch>
                    </p:blipFill>
                    <p:spPr>
                      <a:xfrm>
                        <a:off x="4907915" y="764540"/>
                        <a:ext cx="6975475" cy="5007610"/>
                      </a:xfrm>
                      <a:prstGeom prst="rect">
                        <a:avLst/>
                      </a:prstGeom>
                    </p:spPr>
                  </p:pic>
                </p:oleObj>
              </mc:Fallback>
            </mc:AlternateContent>
          </a:graphicData>
        </a:graphic>
      </p:graphicFrame>
      <p:sp>
        <p:nvSpPr>
          <p:cNvPr id="5" name="Rectangles 4"/>
          <p:cNvSpPr/>
          <p:nvPr/>
        </p:nvSpPr>
        <p:spPr>
          <a:xfrm>
            <a:off x="4907280" y="321310"/>
            <a:ext cx="7185025" cy="5828030"/>
          </a:xfrm>
          <a:prstGeom prst="rect">
            <a:avLst/>
          </a:prstGeom>
          <a:ln w="28575"/>
        </p:spPr>
        <p:style>
          <a:lnRef idx="2">
            <a:schemeClr val="accent1"/>
          </a:lnRef>
          <a:fillRef idx="0">
            <a:srgbClr val="FFFFFF"/>
          </a:fillRef>
          <a:effectRef idx="0">
            <a:srgbClr val="FFFFFF"/>
          </a:effectRef>
          <a:fontRef idx="minor">
            <a:schemeClr val="tx1"/>
          </a:fontRef>
        </p:style>
        <p:txBody>
          <a:bodyPr rtlCol="0" anchor="ctr"/>
          <a:p>
            <a:pPr algn="ctr"/>
            <a:endParaRPr lang="en-GB"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59690"/>
            <a:ext cx="4906010" cy="6635750"/>
          </a:xfrm>
        </p:spPr>
        <p:txBody>
          <a:bodyPr>
            <a:noAutofit/>
          </a:bodyPr>
          <a:p>
            <a:r>
              <a:rPr lang="en-US" altLang="en-GB" sz="3500"/>
              <a:t>3. Cơ sở lý thuyết</a:t>
            </a:r>
            <a:br>
              <a:rPr lang="en-US" altLang="en-GB" sz="3500"/>
            </a:br>
            <a:br>
              <a:rPr lang="en-US" altLang="en-GB" sz="1800"/>
            </a:br>
            <a:r>
              <a:rPr lang="en-US" altLang="en-GB" sz="1800">
                <a:solidFill>
                  <a:schemeClr val="tx1"/>
                </a:solidFill>
                <a:highlight>
                  <a:srgbClr val="FFFF00"/>
                </a:highlight>
              </a:rPr>
              <a:t>3.1. Transformer</a:t>
            </a:r>
            <a:br>
              <a:rPr lang="en-US" altLang="en-GB" sz="1800">
                <a:solidFill>
                  <a:schemeClr val="tx1"/>
                </a:solidFill>
              </a:rPr>
            </a:br>
            <a:br>
              <a:rPr lang="en-US" altLang="en-GB" sz="1800">
                <a:solidFill>
                  <a:schemeClr val="tx1"/>
                </a:solidFill>
              </a:rPr>
            </a:br>
            <a:r>
              <a:rPr lang="en-US" altLang="en-GB" sz="1800">
                <a:solidFill>
                  <a:schemeClr val="tx1"/>
                </a:solidFill>
              </a:rPr>
              <a:t>+ </a:t>
            </a:r>
            <a:r>
              <a:rPr lang="en-US" altLang="en-GB" sz="1800">
                <a:solidFill>
                  <a:srgbClr val="FF0000"/>
                </a:solidFill>
              </a:rPr>
              <a:t>Encoder - bộ phận "Đọc hiểu"</a:t>
            </a:r>
            <a:r>
              <a:rPr lang="en-US" altLang="en-GB" sz="1800">
                <a:solidFill>
                  <a:schemeClr val="tx1"/>
                </a:solidFill>
              </a:rPr>
              <a:t>: Nhận c</a:t>
            </a:r>
            <a:r>
              <a:rPr lang="en-US" altLang="en-US" sz="1800">
                <a:solidFill>
                  <a:schemeClr val="tx1"/>
                </a:solidFill>
              </a:rPr>
              <a:t>â</a:t>
            </a:r>
            <a:r>
              <a:rPr lang="en-US" altLang="en-GB" sz="1800">
                <a:solidFill>
                  <a:schemeClr val="tx1"/>
                </a:solidFill>
              </a:rPr>
              <a:t>u </a:t>
            </a:r>
            <a:r>
              <a:rPr lang="en-US" altLang="en-US" sz="1800">
                <a:solidFill>
                  <a:schemeClr val="tx1"/>
                </a:solidFill>
              </a:rPr>
              <a:t>đ</a:t>
            </a:r>
            <a:r>
              <a:rPr lang="en-US" altLang="en-GB" sz="1800">
                <a:solidFill>
                  <a:schemeClr val="tx1"/>
                </a:solidFill>
              </a:rPr>
              <a:t>ầu vào và chuyển thành vector ngữ ngh</a:t>
            </a:r>
            <a:r>
              <a:rPr lang="en-US" altLang="en-US" sz="1800">
                <a:solidFill>
                  <a:schemeClr val="tx1"/>
                </a:solidFill>
              </a:rPr>
              <a:t>ĩ</a:t>
            </a:r>
            <a:r>
              <a:rPr lang="en-US" altLang="en-GB" sz="1800">
                <a:solidFill>
                  <a:schemeClr val="tx1"/>
                </a:solidFill>
              </a:rPr>
              <a:t>a (embedding) chứa </a:t>
            </a:r>
            <a:r>
              <a:rPr lang="en-US" altLang="en-US" sz="1800">
                <a:solidFill>
                  <a:schemeClr val="tx1"/>
                </a:solidFill>
              </a:rPr>
              <a:t>đ</a:t>
            </a:r>
            <a:r>
              <a:rPr lang="en-US" altLang="en-GB" sz="1800">
                <a:solidFill>
                  <a:schemeClr val="tx1"/>
                </a:solidFill>
              </a:rPr>
              <a:t>ầy </a:t>
            </a:r>
            <a:r>
              <a:rPr lang="en-US" altLang="en-US" sz="1800">
                <a:solidFill>
                  <a:schemeClr val="tx1"/>
                </a:solidFill>
              </a:rPr>
              <a:t>đ</a:t>
            </a:r>
            <a:r>
              <a:rPr lang="en-US" altLang="en-GB" sz="1800">
                <a:solidFill>
                  <a:schemeClr val="tx1"/>
                </a:solidFill>
              </a:rPr>
              <a:t>ủ thông tin về </a:t>
            </a:r>
            <a:r>
              <a:rPr lang="en-US" altLang="en-US" sz="1800">
                <a:solidFill>
                  <a:schemeClr val="tx1"/>
                </a:solidFill>
              </a:rPr>
              <a:t>ý</a:t>
            </a:r>
            <a:r>
              <a:rPr lang="en-US" altLang="en-GB" sz="1800">
                <a:solidFill>
                  <a:schemeClr val="tx1"/>
                </a:solidFill>
              </a:rPr>
              <a:t> ngh</a:t>
            </a:r>
            <a:r>
              <a:rPr lang="en-US" altLang="en-US" sz="1800">
                <a:solidFill>
                  <a:schemeClr val="tx1"/>
                </a:solidFill>
              </a:rPr>
              <a:t>ĩ</a:t>
            </a:r>
            <a:r>
              <a:rPr lang="en-US" altLang="en-GB" sz="1800">
                <a:solidFill>
                  <a:schemeClr val="tx1"/>
                </a:solidFill>
              </a:rPr>
              <a:t>a của c</a:t>
            </a:r>
            <a:r>
              <a:rPr lang="en-US" altLang="en-US" sz="1800">
                <a:solidFill>
                  <a:schemeClr val="tx1"/>
                </a:solidFill>
              </a:rPr>
              <a:t>â</a:t>
            </a:r>
            <a:r>
              <a:rPr lang="en-US" altLang="en-GB" sz="1800">
                <a:solidFill>
                  <a:schemeClr val="tx1"/>
                </a:solidFill>
              </a:rPr>
              <a:t>u </a:t>
            </a:r>
            <a:r>
              <a:rPr lang="en-US" altLang="en-US" sz="1800">
                <a:solidFill>
                  <a:schemeClr val="tx1"/>
                </a:solidFill>
              </a:rPr>
              <a:t>đ</a:t>
            </a:r>
            <a:r>
              <a:rPr lang="en-US" altLang="en-US" sz="1800">
                <a:solidFill>
                  <a:schemeClr val="tx1"/>
                </a:solidFill>
              </a:rPr>
              <a:t>ó</a:t>
            </a:r>
            <a:r>
              <a:rPr lang="en-US" altLang="en-GB" sz="1800">
                <a:solidFill>
                  <a:schemeClr val="tx1"/>
                </a:solidFill>
              </a:rPr>
              <a:t>.</a:t>
            </a:r>
            <a:br>
              <a:rPr lang="en-US" altLang="en-GB" sz="1800">
                <a:solidFill>
                  <a:schemeClr val="tx1"/>
                </a:solidFill>
              </a:rPr>
            </a:br>
            <a:br>
              <a:rPr lang="en-US" altLang="en-GB" sz="1800">
                <a:solidFill>
                  <a:schemeClr val="tx1"/>
                </a:solidFill>
              </a:rPr>
            </a:br>
            <a:r>
              <a:rPr lang="en-US" altLang="en-GB" sz="1800">
                <a:solidFill>
                  <a:schemeClr val="tx1"/>
                </a:solidFill>
              </a:rPr>
              <a:t>Mục ti</a:t>
            </a:r>
            <a:r>
              <a:rPr lang="en-US" altLang="en-US" sz="1800">
                <a:solidFill>
                  <a:schemeClr val="tx1"/>
                </a:solidFill>
              </a:rPr>
              <a:t>ê</a:t>
            </a:r>
            <a:r>
              <a:rPr lang="en-US" altLang="en-GB" sz="1800">
                <a:solidFill>
                  <a:schemeClr val="tx1"/>
                </a:solidFill>
              </a:rPr>
              <a:t>u: </a:t>
            </a:r>
            <a:r>
              <a:rPr lang="en-US" altLang="en-GB" sz="1800">
                <a:solidFill>
                  <a:srgbClr val="0070C0"/>
                </a:solidFill>
              </a:rPr>
              <a:t>hiểu v</a:t>
            </a:r>
            <a:r>
              <a:rPr lang="en-US" altLang="en-US" sz="1800">
                <a:solidFill>
                  <a:srgbClr val="0070C0"/>
                </a:solidFill>
              </a:rPr>
              <a:t>ă</a:t>
            </a:r>
            <a:r>
              <a:rPr lang="en-US" altLang="en-GB" sz="1800">
                <a:solidFill>
                  <a:srgbClr val="0070C0"/>
                </a:solidFill>
              </a:rPr>
              <a:t>n bản</a:t>
            </a:r>
            <a:r>
              <a:rPr lang="en-US" altLang="en-GB" sz="1800">
                <a:solidFill>
                  <a:schemeClr val="tx1"/>
                </a:solidFill>
              </a:rPr>
              <a:t>, </a:t>
            </a:r>
            <a:r>
              <a:rPr lang="en-US" altLang="en-GB" sz="1800">
                <a:sym typeface="+mn-ea"/>
              </a:rPr>
              <a:t>không sinh ra từ mới, mà chỉ hiểu và m</a:t>
            </a:r>
            <a:r>
              <a:rPr lang="en-US" altLang="en-US" sz="1800">
                <a:sym typeface="+mn-ea"/>
              </a:rPr>
              <a:t>ã</a:t>
            </a:r>
            <a:r>
              <a:rPr lang="en-US" altLang="en-GB" sz="1800">
                <a:sym typeface="+mn-ea"/>
              </a:rPr>
              <a:t> h</a:t>
            </a:r>
            <a:r>
              <a:rPr lang="en-US" altLang="en-US" sz="1800">
                <a:sym typeface="+mn-ea"/>
              </a:rPr>
              <a:t>ó</a:t>
            </a:r>
            <a:r>
              <a:rPr lang="en-US" altLang="en-GB" sz="1800">
                <a:sym typeface="+mn-ea"/>
              </a:rPr>
              <a:t>a thông tin</a:t>
            </a:r>
            <a:br>
              <a:rPr lang="en-US" altLang="en-GB" sz="1800">
                <a:solidFill>
                  <a:schemeClr val="tx1"/>
                </a:solidFill>
              </a:rPr>
            </a:br>
            <a:br>
              <a:rPr lang="en-US" altLang="en-GB" sz="1800">
                <a:solidFill>
                  <a:schemeClr val="tx1"/>
                </a:solidFill>
              </a:rPr>
            </a:br>
            <a:r>
              <a:rPr lang="en-US" altLang="en-GB" sz="1800">
                <a:solidFill>
                  <a:schemeClr val="tx1"/>
                </a:solidFill>
              </a:rPr>
              <a:t>V</a:t>
            </a:r>
            <a:r>
              <a:rPr lang="en-US" altLang="en-US" sz="1800">
                <a:solidFill>
                  <a:schemeClr val="tx1"/>
                </a:solidFill>
              </a:rPr>
              <a:t>í</a:t>
            </a:r>
            <a:r>
              <a:rPr lang="en-US" altLang="en-GB" sz="1800">
                <a:solidFill>
                  <a:schemeClr val="tx1"/>
                </a:solidFill>
              </a:rPr>
              <a:t> dụ:</a:t>
            </a:r>
            <a:br>
              <a:rPr lang="en-US" altLang="en-GB" sz="1800">
                <a:solidFill>
                  <a:schemeClr val="tx1"/>
                </a:solidFill>
              </a:rPr>
            </a:br>
            <a:r>
              <a:rPr lang="en-US" altLang="en-GB" sz="1800">
                <a:solidFill>
                  <a:schemeClr val="tx1"/>
                </a:solidFill>
              </a:rPr>
              <a:t>"Tôi học NLP"</a:t>
            </a:r>
            <a:br>
              <a:rPr lang="en-US" altLang="en-GB" sz="1800">
                <a:solidFill>
                  <a:schemeClr val="tx1"/>
                </a:solidFill>
              </a:rPr>
            </a:br>
            <a:r>
              <a:rPr lang="en-US" altLang="en-GB" sz="1800">
                <a:solidFill>
                  <a:schemeClr val="tx1"/>
                </a:solidFill>
              </a:rPr>
              <a:t>        </a:t>
            </a:r>
            <a:r>
              <a:rPr lang="en-US" altLang="en-US" sz="1800">
                <a:solidFill>
                  <a:schemeClr val="tx1"/>
                </a:solidFill>
              </a:rPr>
              <a:t>↓</a:t>
            </a:r>
            <a:br>
              <a:rPr lang="en-US" altLang="en-US" sz="1800">
                <a:solidFill>
                  <a:schemeClr val="tx1"/>
                </a:solidFill>
              </a:rPr>
            </a:br>
            <a:r>
              <a:rPr lang="en-US" altLang="en-GB" sz="1800">
                <a:solidFill>
                  <a:schemeClr val="tx1"/>
                </a:solidFill>
              </a:rPr>
              <a:t>   [ENCODER]</a:t>
            </a:r>
            <a:br>
              <a:rPr lang="en-US" altLang="en-GB" sz="1800">
                <a:solidFill>
                  <a:schemeClr val="tx1"/>
                </a:solidFill>
              </a:rPr>
            </a:br>
            <a:r>
              <a:rPr lang="en-US" altLang="en-GB" sz="1800">
                <a:solidFill>
                  <a:schemeClr val="tx1"/>
                </a:solidFill>
              </a:rPr>
              <a:t>        </a:t>
            </a:r>
            <a:r>
              <a:rPr lang="en-US" altLang="en-US" sz="1800">
                <a:solidFill>
                  <a:schemeClr val="tx1"/>
                </a:solidFill>
              </a:rPr>
              <a:t>↓</a:t>
            </a:r>
            <a:br>
              <a:rPr lang="en-US" altLang="en-US" sz="1800">
                <a:solidFill>
                  <a:schemeClr val="tx1"/>
                </a:solidFill>
              </a:rPr>
            </a:br>
            <a:r>
              <a:rPr lang="en-US" altLang="en-GB" sz="1800">
                <a:solidFill>
                  <a:schemeClr val="tx1"/>
                </a:solidFill>
              </a:rPr>
              <a:t>[0.23, -0.11, 0.87, ...] </a:t>
            </a:r>
            <a:r>
              <a:rPr lang="en-US" altLang="en-US" sz="1800">
                <a:solidFill>
                  <a:schemeClr val="tx1"/>
                </a:solidFill>
              </a:rPr>
              <a:t>←</a:t>
            </a:r>
            <a:r>
              <a:rPr lang="en-US" altLang="en-GB" sz="1800">
                <a:solidFill>
                  <a:schemeClr val="tx1"/>
                </a:solidFill>
              </a:rPr>
              <a:t> vector ngữ ngh</a:t>
            </a:r>
            <a:r>
              <a:rPr lang="en-US" altLang="en-US" sz="1800">
                <a:solidFill>
                  <a:schemeClr val="tx1"/>
                </a:solidFill>
              </a:rPr>
              <a:t>ĩ</a:t>
            </a:r>
            <a:r>
              <a:rPr lang="en-US" altLang="en-GB" sz="1800">
                <a:solidFill>
                  <a:schemeClr val="tx1"/>
                </a:solidFill>
              </a:rPr>
              <a:t>a</a:t>
            </a:r>
            <a:br>
              <a:rPr lang="en-US" altLang="en-GB" sz="1800">
                <a:solidFill>
                  <a:schemeClr val="tx1"/>
                </a:solidFill>
              </a:rPr>
            </a:br>
            <a:br>
              <a:rPr lang="en-US" altLang="en-GB" sz="1800">
                <a:solidFill>
                  <a:schemeClr val="tx1"/>
                </a:solidFill>
              </a:rPr>
            </a:br>
            <a:br>
              <a:rPr lang="en-US" altLang="en-GB" sz="1800">
                <a:solidFill>
                  <a:schemeClr val="tx1"/>
                </a:solidFill>
              </a:rPr>
            </a:br>
            <a:r>
              <a:rPr lang="en-US" altLang="en-GB" sz="1800">
                <a:solidFill>
                  <a:schemeClr val="tx1"/>
                </a:solidFill>
              </a:rPr>
              <a:t>+ Mô h</a:t>
            </a:r>
            <a:r>
              <a:rPr lang="en-US" altLang="en-US" sz="1800">
                <a:solidFill>
                  <a:schemeClr val="tx1"/>
                </a:solidFill>
              </a:rPr>
              <a:t>ì</a:t>
            </a:r>
            <a:r>
              <a:rPr lang="en-US" altLang="en-GB" sz="1800">
                <a:solidFill>
                  <a:schemeClr val="tx1"/>
                </a:solidFill>
              </a:rPr>
              <a:t>nh ti</a:t>
            </a:r>
            <a:r>
              <a:rPr lang="en-US" altLang="en-US" sz="1800">
                <a:solidFill>
                  <a:schemeClr val="tx1"/>
                </a:solidFill>
              </a:rPr>
              <a:t>ê</a:t>
            </a:r>
            <a:r>
              <a:rPr lang="en-US" altLang="en-GB" sz="1800">
                <a:solidFill>
                  <a:schemeClr val="tx1"/>
                </a:solidFill>
              </a:rPr>
              <a:t>u biểu: BERT, RoBERTa, SBERT (encoder-only)</a:t>
            </a:r>
            <a:endParaRPr lang="en-US" altLang="en-GB" sz="1800">
              <a:solidFill>
                <a:schemeClr val="tx1"/>
              </a:solidFill>
            </a:endParaRPr>
          </a:p>
        </p:txBody>
      </p:sp>
      <p:graphicFrame>
        <p:nvGraphicFramePr>
          <p:cNvPr id="6" name="Object 5"/>
          <p:cNvGraphicFramePr/>
          <p:nvPr/>
        </p:nvGraphicFramePr>
        <p:xfrm>
          <a:off x="5417185" y="880745"/>
          <a:ext cx="6466205" cy="5977255"/>
        </p:xfrm>
        <a:graphic>
          <a:graphicData uri="http://schemas.openxmlformats.org/presentationml/2006/ole">
            <mc:AlternateContent xmlns:mc="http://schemas.openxmlformats.org/markup-compatibility/2006">
              <mc:Choice xmlns:v="urn:schemas-microsoft-com:vml" Requires="v">
                <p:oleObj spid="_x0000_s7" name="" r:id="rId1" imgW="11254740" imgH="11256010" progId="Paint.Picture">
                  <p:embed/>
                </p:oleObj>
              </mc:Choice>
              <mc:Fallback>
                <p:oleObj name="" r:id="rId1" imgW="11254740" imgH="11256010" progId="Paint.Picture">
                  <p:embed/>
                  <p:pic>
                    <p:nvPicPr>
                      <p:cNvPr id="0" name="Picture 6"/>
                      <p:cNvPicPr/>
                      <p:nvPr/>
                    </p:nvPicPr>
                    <p:blipFill>
                      <a:blip r:embed="rId2"/>
                      <a:stretch>
                        <a:fillRect/>
                      </a:stretch>
                    </p:blipFill>
                    <p:spPr>
                      <a:xfrm>
                        <a:off x="5417185" y="880745"/>
                        <a:ext cx="6466205" cy="5977255"/>
                      </a:xfrm>
                      <a:prstGeom prst="rect">
                        <a:avLst/>
                      </a:prstGeom>
                    </p:spPr>
                  </p:pic>
                </p:oleObj>
              </mc:Fallback>
            </mc:AlternateContent>
          </a:graphicData>
        </a:graphic>
      </p:graphicFrame>
      <p:graphicFrame>
        <p:nvGraphicFramePr>
          <p:cNvPr id="3" name="Object 2"/>
          <p:cNvGraphicFramePr/>
          <p:nvPr/>
        </p:nvGraphicFramePr>
        <p:xfrm>
          <a:off x="7548880" y="0"/>
          <a:ext cx="4119880" cy="817880"/>
        </p:xfrm>
        <a:graphic>
          <a:graphicData uri="http://schemas.openxmlformats.org/presentationml/2006/ole">
            <mc:AlternateContent xmlns:mc="http://schemas.openxmlformats.org/markup-compatibility/2006">
              <mc:Choice xmlns:v="urn:schemas-microsoft-com:vml" Requires="v">
                <p:oleObj spid="_x0000_s5" name="" r:id="rId3" imgW="9982200" imgH="1981200" progId="Paint.Picture">
                  <p:embed/>
                </p:oleObj>
              </mc:Choice>
              <mc:Fallback>
                <p:oleObj name="" r:id="rId3" imgW="9982200" imgH="1981200" progId="Paint.Picture">
                  <p:embed/>
                  <p:pic>
                    <p:nvPicPr>
                      <p:cNvPr id="0" name="Picture 4"/>
                      <p:cNvPicPr/>
                      <p:nvPr/>
                    </p:nvPicPr>
                    <p:blipFill>
                      <a:blip r:embed="rId4"/>
                      <a:stretch>
                        <a:fillRect/>
                      </a:stretch>
                    </p:blipFill>
                    <p:spPr>
                      <a:xfrm>
                        <a:off x="7548880" y="0"/>
                        <a:ext cx="4119880" cy="817880"/>
                      </a:xfrm>
                      <a:prstGeom prst="rect">
                        <a:avLst/>
                      </a:prstGeom>
                    </p:spPr>
                  </p:pic>
                </p:oleObj>
              </mc:Fallback>
            </mc:AlternateContent>
          </a:graphicData>
        </a:graphic>
      </p:graphicFrame>
      <p:cxnSp>
        <p:nvCxnSpPr>
          <p:cNvPr id="8" name="Straight Arrow Connector 7"/>
          <p:cNvCxnSpPr/>
          <p:nvPr/>
        </p:nvCxnSpPr>
        <p:spPr>
          <a:xfrm flipH="1" flipV="1">
            <a:off x="8632825" y="874395"/>
            <a:ext cx="41910" cy="4603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 name="Straight Arrow Connector 8"/>
          <p:cNvCxnSpPr/>
          <p:nvPr/>
        </p:nvCxnSpPr>
        <p:spPr>
          <a:xfrm flipV="1">
            <a:off x="10333355" y="617220"/>
            <a:ext cx="197485" cy="6610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27635" y="130810"/>
            <a:ext cx="7063105" cy="6635750"/>
          </a:xfrm>
        </p:spPr>
        <p:txBody>
          <a:bodyPr>
            <a:noAutofit/>
          </a:bodyPr>
          <a:p>
            <a:r>
              <a:rPr lang="en-US" altLang="en-GB" sz="3500"/>
              <a:t>3. Cơ sở lý thuyết</a:t>
            </a:r>
            <a:br>
              <a:rPr lang="en-US" altLang="en-GB" sz="3500"/>
            </a:br>
            <a:br>
              <a:rPr lang="en-US" altLang="en-GB" sz="1800"/>
            </a:br>
            <a:r>
              <a:rPr lang="en-US" altLang="en-GB" sz="1800">
                <a:solidFill>
                  <a:schemeClr val="tx1"/>
                </a:solidFill>
                <a:highlight>
                  <a:srgbClr val="FFFF00"/>
                </a:highlight>
              </a:rPr>
              <a:t>3.1. Transformer</a:t>
            </a:r>
            <a:br>
              <a:rPr lang="en-US" altLang="en-GB" sz="1800">
                <a:solidFill>
                  <a:schemeClr val="tx1"/>
                </a:solidFill>
              </a:rPr>
            </a:br>
            <a:br>
              <a:rPr lang="en-US" altLang="en-GB" sz="1800">
                <a:solidFill>
                  <a:schemeClr val="tx1"/>
                </a:solidFill>
              </a:rPr>
            </a:br>
            <a:r>
              <a:rPr lang="en-US" altLang="en-GB" sz="1800">
                <a:solidFill>
                  <a:schemeClr val="tx1"/>
                </a:solidFill>
              </a:rPr>
              <a:t>L</a:t>
            </a:r>
            <a:r>
              <a:rPr lang="en-US" altLang="en-US" sz="1800">
                <a:solidFill>
                  <a:schemeClr val="tx1"/>
                </a:solidFill>
              </a:rPr>
              <a:t>Ư</a:t>
            </a:r>
            <a:r>
              <a:rPr lang="en-US" altLang="en-GB" sz="1800">
                <a:solidFill>
                  <a:schemeClr val="tx1"/>
                </a:solidFill>
              </a:rPr>
              <a:t>U </a:t>
            </a:r>
            <a:r>
              <a:rPr lang="en-US" altLang="en-US" sz="1800">
                <a:solidFill>
                  <a:schemeClr val="tx1"/>
                </a:solidFill>
              </a:rPr>
              <a:t>Ý</a:t>
            </a:r>
            <a:r>
              <a:rPr lang="en-US" altLang="en-GB" sz="1800">
                <a:solidFill>
                  <a:schemeClr val="tx1"/>
                </a:solidFill>
              </a:rPr>
              <a:t>:</a:t>
            </a:r>
            <a:br>
              <a:rPr lang="en-US" altLang="en-GB" sz="1800">
                <a:solidFill>
                  <a:schemeClr val="tx1"/>
                </a:solidFill>
              </a:rPr>
            </a:br>
            <a:r>
              <a:rPr lang="en-US" altLang="en-GB" sz="1800">
                <a:solidFill>
                  <a:schemeClr val="tx1"/>
                </a:solidFill>
              </a:rPr>
              <a:t>- Mỗi encoder block = 1 layer trong mạng học s</a:t>
            </a:r>
            <a:r>
              <a:rPr lang="en-US" altLang="en-US" sz="1800">
                <a:solidFill>
                  <a:schemeClr val="tx1"/>
                </a:solidFill>
              </a:rPr>
              <a:t>â</a:t>
            </a:r>
            <a:r>
              <a:rPr lang="en-US" altLang="en-GB" sz="1800">
                <a:solidFill>
                  <a:schemeClr val="tx1"/>
                </a:solidFill>
              </a:rPr>
              <a:t>u.</a:t>
            </a:r>
            <a:br>
              <a:rPr lang="en-US" altLang="en-GB" sz="1800">
                <a:solidFill>
                  <a:schemeClr val="tx1"/>
                </a:solidFill>
              </a:rPr>
            </a:br>
            <a:r>
              <a:rPr lang="en-US" altLang="en-GB" sz="1800">
                <a:solidFill>
                  <a:schemeClr val="tx1"/>
                </a:solidFill>
              </a:rPr>
              <a:t>- Trong mỗi layer này gồm:</a:t>
            </a:r>
            <a:br>
              <a:rPr lang="en-US" altLang="en-GB" sz="1800">
                <a:solidFill>
                  <a:schemeClr val="tx1"/>
                </a:solidFill>
              </a:rPr>
            </a:br>
            <a:r>
              <a:rPr lang="en-US" altLang="en-GB" sz="1800">
                <a:solidFill>
                  <a:schemeClr val="tx1"/>
                </a:solidFill>
              </a:rPr>
              <a:t>	Multi-head Self-attention</a:t>
            </a:r>
            <a:br>
              <a:rPr lang="en-US" altLang="en-GB" sz="1800">
                <a:solidFill>
                  <a:schemeClr val="tx1"/>
                </a:solidFill>
              </a:rPr>
            </a:br>
            <a:r>
              <a:rPr lang="en-US" altLang="en-GB" sz="1800">
                <a:solidFill>
                  <a:schemeClr val="tx1"/>
                </a:solidFill>
              </a:rPr>
              <a:t>	Residual connection + LayerNorm</a:t>
            </a:r>
            <a:br>
              <a:rPr lang="en-US" altLang="en-GB" sz="1800">
                <a:solidFill>
                  <a:schemeClr val="tx1"/>
                </a:solidFill>
              </a:rPr>
            </a:br>
            <a:r>
              <a:rPr lang="en-US" altLang="en-GB" sz="1800">
                <a:solidFill>
                  <a:schemeClr val="tx1"/>
                </a:solidFill>
              </a:rPr>
              <a:t>	Feed-forward network</a:t>
            </a:r>
            <a:br>
              <a:rPr lang="en-US" altLang="en-GB" sz="1800">
                <a:solidFill>
                  <a:schemeClr val="tx1"/>
                </a:solidFill>
              </a:rPr>
            </a:br>
            <a:r>
              <a:rPr lang="en-US" altLang="en-GB" sz="1800">
                <a:solidFill>
                  <a:schemeClr val="tx1"/>
                </a:solidFill>
              </a:rPr>
              <a:t>	Residual connection + LayerNorm</a:t>
            </a:r>
            <a:br>
              <a:rPr lang="en-US" altLang="en-GB" sz="1800">
                <a:solidFill>
                  <a:schemeClr val="tx1"/>
                </a:solidFill>
              </a:rPr>
            </a:br>
            <a:br>
              <a:rPr lang="en-US" altLang="en-GB" sz="1800">
                <a:solidFill>
                  <a:schemeClr val="tx1"/>
                </a:solidFill>
              </a:rPr>
            </a:br>
            <a:r>
              <a:rPr lang="en-US" altLang="en-GB" sz="1800">
                <a:solidFill>
                  <a:schemeClr val="tx1"/>
                </a:solidFill>
              </a:rPr>
              <a:t>- Mỗi Multi-head Self-attention chứa nhiều head chạy song song b</a:t>
            </a:r>
            <a:r>
              <a:rPr lang="en-US" altLang="en-US" sz="1800">
                <a:solidFill>
                  <a:schemeClr val="tx1"/>
                </a:solidFill>
              </a:rPr>
              <a:t>ê</a:t>
            </a:r>
            <a:r>
              <a:rPr lang="en-US" altLang="en-GB" sz="1800">
                <a:solidFill>
                  <a:schemeClr val="tx1"/>
                </a:solidFill>
              </a:rPr>
              <a:t>n trong.</a:t>
            </a:r>
            <a:br>
              <a:rPr lang="en-US" altLang="en-GB" sz="1800">
                <a:solidFill>
                  <a:schemeClr val="tx1"/>
                </a:solidFill>
              </a:rPr>
            </a:br>
            <a:r>
              <a:rPr lang="en-US" altLang="en-GB" sz="1800">
                <a:solidFill>
                  <a:schemeClr val="tx1"/>
                </a:solidFill>
              </a:rPr>
              <a:t>- Nhờ vậy mà model c</a:t>
            </a:r>
            <a:r>
              <a:rPr lang="en-US" altLang="en-US" sz="1800">
                <a:solidFill>
                  <a:schemeClr val="tx1"/>
                </a:solidFill>
              </a:rPr>
              <a:t>ó</a:t>
            </a:r>
            <a:r>
              <a:rPr lang="en-US" altLang="en-GB" sz="1800">
                <a:solidFill>
                  <a:schemeClr val="tx1"/>
                </a:solidFill>
              </a:rPr>
              <a:t> thể học </a:t>
            </a:r>
            <a:r>
              <a:rPr lang="en-US" altLang="en-US" sz="1800">
                <a:solidFill>
                  <a:schemeClr val="tx1"/>
                </a:solidFill>
              </a:rPr>
              <a:t>đư</a:t>
            </a:r>
            <a:r>
              <a:rPr lang="en-US" altLang="en-GB" sz="1800">
                <a:solidFill>
                  <a:schemeClr val="tx1"/>
                </a:solidFill>
              </a:rPr>
              <a:t>ợc nhiều kiểu mối quan hệ giữa c</a:t>
            </a:r>
            <a:r>
              <a:rPr lang="en-US" altLang="en-US" sz="1800">
                <a:solidFill>
                  <a:schemeClr val="tx1"/>
                </a:solidFill>
              </a:rPr>
              <a:t>á</a:t>
            </a:r>
            <a:r>
              <a:rPr lang="en-US" altLang="en-GB" sz="1800">
                <a:solidFill>
                  <a:schemeClr val="tx1"/>
                </a:solidFill>
              </a:rPr>
              <a:t>c token với nhau.</a:t>
            </a:r>
            <a:br>
              <a:rPr lang="en-US" altLang="en-GB" sz="1800">
                <a:solidFill>
                  <a:schemeClr val="tx1"/>
                </a:solidFill>
              </a:rPr>
            </a:br>
            <a:r>
              <a:rPr lang="en-US" altLang="en-GB" sz="1800">
                <a:solidFill>
                  <a:schemeClr val="tx1"/>
                </a:solidFill>
              </a:rPr>
              <a:t>- </a:t>
            </a:r>
            <a:r>
              <a:rPr lang="en-US" altLang="en-US" sz="1800">
                <a:solidFill>
                  <a:schemeClr val="tx1"/>
                </a:solidFill>
              </a:rPr>
              <a:t>Đ</a:t>
            </a:r>
            <a:r>
              <a:rPr lang="en-US" altLang="en-GB" sz="1800">
                <a:solidFill>
                  <a:schemeClr val="tx1"/>
                </a:solidFill>
              </a:rPr>
              <a:t>ể </a:t>
            </a:r>
            <a:r>
              <a:rPr lang="en-US" altLang="en-US" sz="1800">
                <a:solidFill>
                  <a:schemeClr val="tx1"/>
                </a:solidFill>
              </a:rPr>
              <a:t>đ</a:t>
            </a:r>
            <a:r>
              <a:rPr lang="en-US" altLang="en-GB" sz="1800">
                <a:solidFill>
                  <a:schemeClr val="tx1"/>
                </a:solidFill>
              </a:rPr>
              <a:t>ảm bảo </a:t>
            </a:r>
            <a:r>
              <a:rPr lang="en-US" altLang="en-US" sz="1800">
                <a:solidFill>
                  <a:schemeClr val="tx1"/>
                </a:solidFill>
              </a:rPr>
              <a:t>đ</a:t>
            </a:r>
            <a:r>
              <a:rPr lang="en-US" altLang="en-GB" sz="1800">
                <a:solidFill>
                  <a:schemeClr val="tx1"/>
                </a:solidFill>
              </a:rPr>
              <a:t>ộ phức tạp t</a:t>
            </a:r>
            <a:r>
              <a:rPr lang="en-US" altLang="en-US" sz="1800">
                <a:solidFill>
                  <a:schemeClr val="tx1"/>
                </a:solidFill>
              </a:rPr>
              <a:t>í</a:t>
            </a:r>
            <a:r>
              <a:rPr lang="en-US" altLang="en-GB" sz="1800">
                <a:solidFill>
                  <a:schemeClr val="tx1"/>
                </a:solidFill>
              </a:rPr>
              <a:t>nh to</a:t>
            </a:r>
            <a:r>
              <a:rPr lang="en-US" altLang="en-US" sz="1800">
                <a:solidFill>
                  <a:schemeClr val="tx1"/>
                </a:solidFill>
              </a:rPr>
              <a:t>á</a:t>
            </a:r>
            <a:r>
              <a:rPr lang="en-US" altLang="en-GB" sz="1800">
                <a:solidFill>
                  <a:schemeClr val="tx1"/>
                </a:solidFill>
              </a:rPr>
              <a:t>n không phụ thuộc vào số head, ta giảm k</a:t>
            </a:r>
            <a:r>
              <a:rPr lang="en-US" altLang="en-US" sz="1800">
                <a:solidFill>
                  <a:schemeClr val="tx1"/>
                </a:solidFill>
              </a:rPr>
              <a:t>í</a:t>
            </a:r>
            <a:r>
              <a:rPr lang="en-US" altLang="en-GB" sz="1800">
                <a:solidFill>
                  <a:schemeClr val="tx1"/>
                </a:solidFill>
              </a:rPr>
              <a:t>ch th</a:t>
            </a:r>
            <a:r>
              <a:rPr lang="en-US" altLang="en-US" sz="1800">
                <a:solidFill>
                  <a:schemeClr val="tx1"/>
                </a:solidFill>
              </a:rPr>
              <a:t>ư</a:t>
            </a:r>
            <a:r>
              <a:rPr lang="en-US" altLang="en-GB" sz="1800">
                <a:solidFill>
                  <a:schemeClr val="tx1"/>
                </a:solidFill>
              </a:rPr>
              <a:t>ớc c</a:t>
            </a:r>
            <a:r>
              <a:rPr lang="en-US" altLang="en-US" sz="1800">
                <a:solidFill>
                  <a:schemeClr val="tx1"/>
                </a:solidFill>
              </a:rPr>
              <a:t>á</a:t>
            </a:r>
            <a:r>
              <a:rPr lang="en-US" altLang="en-GB" sz="1800">
                <a:solidFill>
                  <a:schemeClr val="tx1"/>
                </a:solidFill>
              </a:rPr>
              <a:t>c query, key, value vector. Khi này c</a:t>
            </a:r>
            <a:r>
              <a:rPr lang="en-US" altLang="en-US" sz="1800">
                <a:solidFill>
                  <a:schemeClr val="tx1"/>
                </a:solidFill>
              </a:rPr>
              <a:t>á</a:t>
            </a:r>
            <a:r>
              <a:rPr lang="en-US" altLang="en-GB" sz="1800">
                <a:solidFill>
                  <a:schemeClr val="tx1"/>
                </a:solidFill>
              </a:rPr>
              <a:t>c ma trận trọng số W</a:t>
            </a:r>
            <a:r>
              <a:rPr lang="en-US" altLang="en-GB" sz="1800" baseline="30000">
                <a:solidFill>
                  <a:schemeClr val="tx1"/>
                </a:solidFill>
              </a:rPr>
              <a:t>K,Q,V</a:t>
            </a:r>
            <a:r>
              <a:rPr lang="en-US" altLang="en-GB" sz="1800">
                <a:solidFill>
                  <a:schemeClr val="tx1"/>
                </a:solidFill>
              </a:rPr>
              <a:t> c</a:t>
            </a:r>
            <a:r>
              <a:rPr lang="en-US" altLang="en-US" sz="1800">
                <a:solidFill>
                  <a:schemeClr val="tx1"/>
                </a:solidFill>
              </a:rPr>
              <a:t>ó</a:t>
            </a:r>
            <a:r>
              <a:rPr lang="en-US" altLang="en-GB" sz="1800">
                <a:solidFill>
                  <a:schemeClr val="tx1"/>
                </a:solidFill>
              </a:rPr>
              <a:t> số cột giảm </a:t>
            </a:r>
            <a:r>
              <a:rPr lang="en-US" altLang="en-US" sz="1800">
                <a:solidFill>
                  <a:schemeClr val="tx1"/>
                </a:solidFill>
              </a:rPr>
              <a:t>đ</a:t>
            </a:r>
            <a:r>
              <a:rPr lang="en-US" altLang="en-GB" sz="1800">
                <a:solidFill>
                  <a:schemeClr val="tx1"/>
                </a:solidFill>
              </a:rPr>
              <a:t>i, trong khi số hàng vẫn bằng d_model (số chiều của embeddings).</a:t>
            </a:r>
            <a:br>
              <a:rPr lang="en-US" altLang="en-GB" sz="1800">
                <a:solidFill>
                  <a:schemeClr val="tx1"/>
                </a:solidFill>
              </a:rPr>
            </a:br>
            <a:br>
              <a:rPr lang="en-US" altLang="en-GB" sz="1800">
                <a:solidFill>
                  <a:schemeClr val="tx1"/>
                </a:solidFill>
              </a:rPr>
            </a:br>
            <a:r>
              <a:rPr lang="en-US" altLang="en-GB" sz="1800">
                <a:solidFill>
                  <a:schemeClr val="tx1"/>
                </a:solidFill>
              </a:rPr>
              <a:t>      </a:t>
            </a:r>
            <a:r>
              <a:rPr lang="en-US" altLang="en-GB" sz="1800">
                <a:solidFill>
                  <a:srgbClr val="0070C0"/>
                </a:solidFill>
              </a:rPr>
              <a:t>                       Số cột = d_head = d_model / số head</a:t>
            </a:r>
            <a:br>
              <a:rPr lang="en-US" altLang="en-GB" sz="1800">
                <a:solidFill>
                  <a:schemeClr val="tx1"/>
                </a:solidFill>
              </a:rPr>
            </a:br>
            <a:br>
              <a:rPr lang="en-US" altLang="en-GB" sz="1800">
                <a:solidFill>
                  <a:schemeClr val="tx1"/>
                </a:solidFill>
              </a:rPr>
            </a:br>
            <a:r>
              <a:rPr lang="en-US" altLang="en-GB" sz="1800">
                <a:solidFill>
                  <a:schemeClr val="tx1"/>
                </a:solidFill>
              </a:rPr>
              <a:t>- Trong transformer, số head </a:t>
            </a:r>
            <a:r>
              <a:rPr lang="en-US" altLang="en-US" sz="1800">
                <a:solidFill>
                  <a:schemeClr val="tx1"/>
                </a:solidFill>
              </a:rPr>
              <a:t>đư</a:t>
            </a:r>
            <a:r>
              <a:rPr lang="en-US" altLang="en-GB" sz="1800">
                <a:solidFill>
                  <a:schemeClr val="tx1"/>
                </a:solidFill>
              </a:rPr>
              <a:t>ợc chọn là 8.</a:t>
            </a:r>
            <a:br>
              <a:rPr lang="en-US" altLang="en-GB" sz="1800">
                <a:solidFill>
                  <a:schemeClr val="tx1"/>
                </a:solidFill>
              </a:rPr>
            </a:br>
            <a:r>
              <a:rPr lang="en-US" altLang="en-GB" sz="1800">
                <a:solidFill>
                  <a:schemeClr val="tx1"/>
                </a:solidFill>
              </a:rPr>
              <a:t>- Sau </a:t>
            </a:r>
            <a:r>
              <a:rPr lang="en-US" altLang="en-US" sz="1800">
                <a:solidFill>
                  <a:schemeClr val="tx1"/>
                </a:solidFill>
              </a:rPr>
              <a:t>đ</a:t>
            </a:r>
            <a:r>
              <a:rPr lang="en-US" altLang="en-US" sz="1800">
                <a:solidFill>
                  <a:schemeClr val="tx1"/>
                </a:solidFill>
              </a:rPr>
              <a:t>ó</a:t>
            </a:r>
            <a:r>
              <a:rPr lang="en-US" altLang="en-GB" sz="1800">
                <a:solidFill>
                  <a:schemeClr val="tx1"/>
                </a:solidFill>
              </a:rPr>
              <a:t>, c</a:t>
            </a:r>
            <a:r>
              <a:rPr lang="en-US" altLang="en-US" sz="1800">
                <a:solidFill>
                  <a:schemeClr val="tx1"/>
                </a:solidFill>
              </a:rPr>
              <a:t>á</a:t>
            </a:r>
            <a:r>
              <a:rPr lang="en-US" altLang="en-GB" sz="1800">
                <a:solidFill>
                  <a:schemeClr val="tx1"/>
                </a:solidFill>
              </a:rPr>
              <a:t>c vector output của mỗi head </a:t>
            </a:r>
            <a:r>
              <a:rPr lang="en-US" altLang="en-US" sz="1800">
                <a:solidFill>
                  <a:schemeClr val="tx1"/>
                </a:solidFill>
              </a:rPr>
              <a:t>đư</a:t>
            </a:r>
            <a:r>
              <a:rPr lang="en-US" altLang="en-GB" sz="1800">
                <a:solidFill>
                  <a:schemeClr val="tx1"/>
                </a:solidFill>
              </a:rPr>
              <a:t>ợc nối lại với nhau . kết quả </a:t>
            </a:r>
            <a:r>
              <a:rPr lang="en-US" altLang="en-US" sz="1800">
                <a:solidFill>
                  <a:schemeClr val="tx1"/>
                </a:solidFill>
              </a:rPr>
              <a:t>đư</a:t>
            </a:r>
            <a:r>
              <a:rPr lang="en-US" altLang="en-GB" sz="1800">
                <a:solidFill>
                  <a:schemeClr val="tx1"/>
                </a:solidFill>
              </a:rPr>
              <a:t>ợc nh</a:t>
            </a:r>
            <a:r>
              <a:rPr lang="en-US" altLang="en-US" sz="1800">
                <a:solidFill>
                  <a:schemeClr val="tx1"/>
                </a:solidFill>
              </a:rPr>
              <a:t>â</a:t>
            </a:r>
            <a:r>
              <a:rPr lang="en-US" altLang="en-GB" sz="1800">
                <a:solidFill>
                  <a:schemeClr val="tx1"/>
                </a:solidFill>
              </a:rPr>
              <a:t>n với ma trận Wo (d_model x d_model). Cuối c</a:t>
            </a:r>
            <a:r>
              <a:rPr lang="en-US" altLang="en-US" sz="1800">
                <a:solidFill>
                  <a:schemeClr val="tx1"/>
                </a:solidFill>
              </a:rPr>
              <a:t>ù</a:t>
            </a:r>
            <a:r>
              <a:rPr lang="en-US" altLang="en-GB" sz="1800">
                <a:solidFill>
                  <a:schemeClr val="tx1"/>
                </a:solidFill>
              </a:rPr>
              <a:t>ng thu </a:t>
            </a:r>
            <a:r>
              <a:rPr lang="en-US" altLang="en-US" sz="1800">
                <a:solidFill>
                  <a:schemeClr val="tx1"/>
                </a:solidFill>
              </a:rPr>
              <a:t>đư</a:t>
            </a:r>
            <a:r>
              <a:rPr lang="en-US" altLang="en-GB" sz="1800">
                <a:solidFill>
                  <a:schemeClr val="tx1"/>
                </a:solidFill>
              </a:rPr>
              <a:t>ợc c</a:t>
            </a:r>
            <a:r>
              <a:rPr lang="en-US" altLang="en-US" sz="1800">
                <a:solidFill>
                  <a:schemeClr val="tx1"/>
                </a:solidFill>
              </a:rPr>
              <a:t>á</a:t>
            </a:r>
            <a:r>
              <a:rPr lang="en-US" altLang="en-GB" sz="1800">
                <a:solidFill>
                  <a:schemeClr val="tx1"/>
                </a:solidFill>
              </a:rPr>
              <a:t>c vector output cuối c</a:t>
            </a:r>
            <a:r>
              <a:rPr lang="en-US" altLang="en-US" sz="1800">
                <a:solidFill>
                  <a:schemeClr val="tx1"/>
                </a:solidFill>
              </a:rPr>
              <a:t>ù</a:t>
            </a:r>
            <a:r>
              <a:rPr lang="en-US" altLang="en-GB" sz="1800">
                <a:solidFill>
                  <a:schemeClr val="tx1"/>
                </a:solidFill>
              </a:rPr>
              <a:t>ng của toàn bộ khối Multi-head Attention </a:t>
            </a:r>
            <a:endParaRPr lang="en-US" altLang="en-GB" sz="1800">
              <a:solidFill>
                <a:schemeClr val="tx1"/>
              </a:solidFill>
            </a:endParaRPr>
          </a:p>
        </p:txBody>
      </p:sp>
      <p:graphicFrame>
        <p:nvGraphicFramePr>
          <p:cNvPr id="2" name="Object 1"/>
          <p:cNvGraphicFramePr/>
          <p:nvPr/>
        </p:nvGraphicFramePr>
        <p:xfrm>
          <a:off x="5367655" y="130810"/>
          <a:ext cx="6770370" cy="3161030"/>
        </p:xfrm>
        <a:graphic>
          <a:graphicData uri="http://schemas.openxmlformats.org/presentationml/2006/ole">
            <mc:AlternateContent xmlns:mc="http://schemas.openxmlformats.org/markup-compatibility/2006">
              <mc:Choice xmlns:v="urn:schemas-microsoft-com:vml" Requires="v">
                <p:oleObj spid="_x0000_s10" name="" r:id="rId1" imgW="7932420" imgH="3703320" progId="Paint.Picture">
                  <p:embed/>
                </p:oleObj>
              </mc:Choice>
              <mc:Fallback>
                <p:oleObj name="" r:id="rId1" imgW="7932420" imgH="3703320" progId="Paint.Picture">
                  <p:embed/>
                  <p:pic>
                    <p:nvPicPr>
                      <p:cNvPr id="0" name="Picture 9"/>
                      <p:cNvPicPr/>
                      <p:nvPr/>
                    </p:nvPicPr>
                    <p:blipFill>
                      <a:blip r:embed="rId2"/>
                      <a:stretch>
                        <a:fillRect/>
                      </a:stretch>
                    </p:blipFill>
                    <p:spPr>
                      <a:xfrm>
                        <a:off x="5367655" y="130810"/>
                        <a:ext cx="6770370" cy="3161030"/>
                      </a:xfrm>
                      <a:prstGeom prst="rect">
                        <a:avLst/>
                      </a:prstGeom>
                    </p:spPr>
                  </p:pic>
                </p:oleObj>
              </mc:Fallback>
            </mc:AlternateContent>
          </a:graphicData>
        </a:graphic>
      </p:graphicFrame>
      <p:graphicFrame>
        <p:nvGraphicFramePr>
          <p:cNvPr id="11" name="Object 10"/>
          <p:cNvGraphicFramePr/>
          <p:nvPr/>
        </p:nvGraphicFramePr>
        <p:xfrm>
          <a:off x="7137400" y="3910965"/>
          <a:ext cx="5000625" cy="2510155"/>
        </p:xfrm>
        <a:graphic>
          <a:graphicData uri="http://schemas.openxmlformats.org/presentationml/2006/ole">
            <mc:AlternateContent xmlns:mc="http://schemas.openxmlformats.org/markup-compatibility/2006">
              <mc:Choice xmlns:v="urn:schemas-microsoft-com:vml" Requires="v">
                <p:oleObj spid="_x0000_s12" name="" r:id="rId3" imgW="7909560" imgH="3970020" progId="Paint.Picture">
                  <p:embed/>
                </p:oleObj>
              </mc:Choice>
              <mc:Fallback>
                <p:oleObj name="" r:id="rId3" imgW="7909560" imgH="3970020" progId="Paint.Picture">
                  <p:embed/>
                  <p:pic>
                    <p:nvPicPr>
                      <p:cNvPr id="0" name="Picture 11"/>
                      <p:cNvPicPr/>
                      <p:nvPr/>
                    </p:nvPicPr>
                    <p:blipFill>
                      <a:blip r:embed="rId4"/>
                      <a:stretch>
                        <a:fillRect/>
                      </a:stretch>
                    </p:blipFill>
                    <p:spPr>
                      <a:xfrm>
                        <a:off x="7137400" y="3910965"/>
                        <a:ext cx="5000625" cy="2510155"/>
                      </a:xfrm>
                      <a:prstGeom prst="rect">
                        <a:avLst/>
                      </a:prstGeom>
                    </p:spPr>
                  </p:pic>
                </p:oleObj>
              </mc:Fallback>
            </mc:AlternateContent>
          </a:graphicData>
        </a:graphic>
      </p:graphicFrame>
      <p:sp>
        <p:nvSpPr>
          <p:cNvPr id="13" name="Text Box 12"/>
          <p:cNvSpPr txBox="1"/>
          <p:nvPr/>
        </p:nvSpPr>
        <p:spPr>
          <a:xfrm>
            <a:off x="6823710" y="363220"/>
            <a:ext cx="702945" cy="368300"/>
          </a:xfrm>
          <a:prstGeom prst="rect">
            <a:avLst/>
          </a:prstGeom>
          <a:noFill/>
        </p:spPr>
        <p:txBody>
          <a:bodyPr wrap="square" rtlCol="0">
            <a:spAutoFit/>
          </a:bodyPr>
          <a:p>
            <a:r>
              <a:rPr lang="en-US" altLang="en-GB"/>
              <a:t>(T)</a:t>
            </a:r>
            <a:endParaRPr lang="en-US" alt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27635" y="130810"/>
            <a:ext cx="7840980" cy="6635750"/>
          </a:xfrm>
        </p:spPr>
        <p:txBody>
          <a:bodyPr>
            <a:noAutofit/>
          </a:bodyPr>
          <a:p>
            <a:r>
              <a:rPr lang="en-US" altLang="en-GB" sz="3500"/>
              <a:t>3. Cơ sở lý thuyết</a:t>
            </a:r>
            <a:br>
              <a:rPr lang="en-US" altLang="en-GB" sz="3500"/>
            </a:br>
            <a:br>
              <a:rPr lang="en-US" altLang="en-GB" sz="1800"/>
            </a:br>
            <a:r>
              <a:rPr lang="en-US" altLang="en-GB" sz="1800">
                <a:solidFill>
                  <a:schemeClr val="tx1"/>
                </a:solidFill>
                <a:highlight>
                  <a:srgbClr val="FFFF00"/>
                </a:highlight>
              </a:rPr>
              <a:t>3.1. Transformer</a:t>
            </a:r>
            <a:br>
              <a:rPr lang="en-US" altLang="en-GB" sz="1800">
                <a:solidFill>
                  <a:schemeClr val="tx1"/>
                </a:solidFill>
              </a:rPr>
            </a:br>
            <a:br>
              <a:rPr lang="en-US" altLang="en-GB" sz="1800">
                <a:solidFill>
                  <a:schemeClr val="tx1"/>
                </a:solidFill>
              </a:rPr>
            </a:br>
            <a:br>
              <a:rPr lang="en-US" altLang="en-GB" sz="1800">
                <a:solidFill>
                  <a:schemeClr val="tx1"/>
                </a:solidFill>
              </a:rPr>
            </a:br>
            <a:r>
              <a:rPr lang="en-US" altLang="en-GB" sz="1800" b="1">
                <a:solidFill>
                  <a:srgbClr val="0070C0"/>
                </a:solidFill>
              </a:rPr>
              <a:t>Cấu tr</a:t>
            </a:r>
            <a:r>
              <a:rPr lang="en-US" altLang="en-US" sz="1800" b="1">
                <a:solidFill>
                  <a:srgbClr val="0070C0"/>
                </a:solidFill>
              </a:rPr>
              <a:t>ú</a:t>
            </a:r>
            <a:r>
              <a:rPr lang="en-US" altLang="en-GB" sz="1800" b="1">
                <a:solidFill>
                  <a:srgbClr val="0070C0"/>
                </a:solidFill>
              </a:rPr>
              <a:t>c luồng dữ liệu b</a:t>
            </a:r>
            <a:r>
              <a:rPr lang="en-US" altLang="en-US" sz="1800" b="1">
                <a:solidFill>
                  <a:srgbClr val="0070C0"/>
                </a:solidFill>
              </a:rPr>
              <a:t>ê</a:t>
            </a:r>
            <a:r>
              <a:rPr lang="en-US" altLang="en-GB" sz="1800" b="1">
                <a:solidFill>
                  <a:srgbClr val="0070C0"/>
                </a:solidFill>
              </a:rPr>
              <a:t>n trong khối Encoder:</a:t>
            </a:r>
            <a:br>
              <a:rPr lang="en-US" altLang="en-GB" sz="1800">
                <a:solidFill>
                  <a:schemeClr val="tx1"/>
                </a:solidFill>
              </a:rPr>
            </a:br>
            <a:br>
              <a:rPr lang="en-US" altLang="en-GB" sz="1800">
                <a:solidFill>
                  <a:schemeClr val="tx1"/>
                </a:solidFill>
              </a:rPr>
            </a:br>
            <a:r>
              <a:rPr lang="en-US" altLang="en-GB" sz="1800" b="1">
                <a:solidFill>
                  <a:schemeClr val="tx1"/>
                </a:solidFill>
              </a:rPr>
              <a:t>1. Tr</a:t>
            </a:r>
            <a:r>
              <a:rPr lang="en-US" altLang="en-US" sz="1800" b="1">
                <a:solidFill>
                  <a:schemeClr val="tx1"/>
                </a:solidFill>
              </a:rPr>
              <a:t>í</a:t>
            </a:r>
            <a:r>
              <a:rPr lang="en-US" altLang="en-GB" sz="1800" b="1">
                <a:solidFill>
                  <a:schemeClr val="tx1"/>
                </a:solidFill>
              </a:rPr>
              <a:t>ch xuất Ngữ cảnh (Từ lớp Attention)</a:t>
            </a:r>
            <a:br>
              <a:rPr lang="en-US" altLang="en-GB" sz="1800">
                <a:solidFill>
                  <a:schemeClr val="tx1"/>
                </a:solidFill>
              </a:rPr>
            </a:br>
            <a:r>
              <a:rPr lang="en-US" sz="1800">
                <a:solidFill>
                  <a:schemeClr val="tx1"/>
                </a:solidFill>
              </a:rPr>
              <a:t>	</a:t>
            </a:r>
            <a:r>
              <a:rPr lang="en-US" altLang="en-US" sz="1800">
                <a:solidFill>
                  <a:schemeClr val="tx1"/>
                </a:solidFill>
              </a:rPr>
              <a:t>Đ</a:t>
            </a:r>
            <a:r>
              <a:rPr lang="en-US" altLang="en-GB" sz="1800">
                <a:solidFill>
                  <a:schemeClr val="tx1"/>
                </a:solidFill>
              </a:rPr>
              <a:t>ầu ra của lớp Attention là một Vector ngữ cảnh (Context Vector).</a:t>
            </a:r>
            <a:br>
              <a:rPr lang="en-US" altLang="en-GB" sz="1800">
                <a:solidFill>
                  <a:schemeClr val="tx1"/>
                </a:solidFill>
              </a:rPr>
            </a:br>
            <a:r>
              <a:rPr lang="en-US" altLang="en-GB" sz="1800">
                <a:solidFill>
                  <a:schemeClr val="tx1"/>
                </a:solidFill>
              </a:rPr>
              <a:t>	Vector này </a:t>
            </a:r>
            <a:r>
              <a:rPr lang="en-US" altLang="en-US" sz="1800">
                <a:solidFill>
                  <a:schemeClr val="tx1"/>
                </a:solidFill>
              </a:rPr>
              <a:t>đ</a:t>
            </a:r>
            <a:r>
              <a:rPr lang="en-US" altLang="en-GB" sz="1800">
                <a:solidFill>
                  <a:schemeClr val="tx1"/>
                </a:solidFill>
              </a:rPr>
              <a:t>ịnh l</a:t>
            </a:r>
            <a:r>
              <a:rPr lang="en-US" altLang="en-US" sz="1800">
                <a:solidFill>
                  <a:schemeClr val="tx1"/>
                </a:solidFill>
              </a:rPr>
              <a:t>ư</a:t>
            </a:r>
            <a:r>
              <a:rPr lang="en-US" altLang="en-GB" sz="1800">
                <a:solidFill>
                  <a:schemeClr val="tx1"/>
                </a:solidFill>
              </a:rPr>
              <a:t>ợng mức </a:t>
            </a:r>
            <a:r>
              <a:rPr lang="en-US" altLang="en-US" sz="1800">
                <a:solidFill>
                  <a:schemeClr val="tx1"/>
                </a:solidFill>
              </a:rPr>
              <a:t>đ</a:t>
            </a:r>
            <a:r>
              <a:rPr lang="en-US" altLang="en-GB" sz="1800">
                <a:solidFill>
                  <a:schemeClr val="tx1"/>
                </a:solidFill>
              </a:rPr>
              <a:t>ộ ảnh h</a:t>
            </a:r>
            <a:r>
              <a:rPr lang="en-US" altLang="en-US" sz="1800">
                <a:solidFill>
                  <a:schemeClr val="tx1"/>
                </a:solidFill>
              </a:rPr>
              <a:t>ư</a:t>
            </a:r>
            <a:r>
              <a:rPr lang="en-US" altLang="en-GB" sz="1800">
                <a:solidFill>
                  <a:schemeClr val="tx1"/>
                </a:solidFill>
              </a:rPr>
              <a:t>ởng của toàn bộ c</a:t>
            </a:r>
            <a:r>
              <a:rPr lang="en-US" altLang="en-US" sz="1800">
                <a:solidFill>
                  <a:schemeClr val="tx1"/>
                </a:solidFill>
              </a:rPr>
              <a:t>á</a:t>
            </a:r>
            <a:r>
              <a:rPr lang="en-US" altLang="en-GB" sz="1800">
                <a:solidFill>
                  <a:schemeClr val="tx1"/>
                </a:solidFill>
              </a:rPr>
              <a:t>c từ trong c</a:t>
            </a:r>
            <a:r>
              <a:rPr lang="en-US" altLang="en-US" sz="1800">
                <a:solidFill>
                  <a:schemeClr val="tx1"/>
                </a:solidFill>
              </a:rPr>
              <a:t>â</a:t>
            </a:r>
            <a:r>
              <a:rPr lang="en-US" altLang="en-GB" sz="1800">
                <a:solidFill>
                  <a:schemeClr val="tx1"/>
                </a:solidFill>
              </a:rPr>
              <a:t>u l</a:t>
            </a:r>
            <a:r>
              <a:rPr lang="en-US" altLang="en-US" sz="1800">
                <a:solidFill>
                  <a:schemeClr val="tx1"/>
                </a:solidFill>
              </a:rPr>
              <a:t>ê</a:t>
            </a:r>
            <a:r>
              <a:rPr lang="en-US" altLang="en-GB" sz="1800">
                <a:solidFill>
                  <a:schemeClr val="tx1"/>
                </a:solidFill>
              </a:rPr>
              <a:t>n từ </a:t>
            </a:r>
            <a:r>
              <a:rPr lang="en-US" altLang="en-US" sz="1800">
                <a:solidFill>
                  <a:schemeClr val="tx1"/>
                </a:solidFill>
              </a:rPr>
              <a:t>đ</a:t>
            </a:r>
            <a:r>
              <a:rPr lang="en-US" altLang="en-GB" sz="1800">
                <a:solidFill>
                  <a:schemeClr val="tx1"/>
                </a:solidFill>
              </a:rPr>
              <a:t>ang x</a:t>
            </a:r>
            <a:r>
              <a:rPr lang="en-US" altLang="en-US" sz="1800">
                <a:solidFill>
                  <a:schemeClr val="tx1"/>
                </a:solidFill>
              </a:rPr>
              <a:t>é</a:t>
            </a:r>
            <a:r>
              <a:rPr lang="en-US" altLang="en-GB" sz="1800">
                <a:solidFill>
                  <a:schemeClr val="tx1"/>
                </a:solidFill>
              </a:rPr>
              <a:t>t.</a:t>
            </a:r>
            <a:br>
              <a:rPr lang="en-US" altLang="en-GB" sz="1800">
                <a:solidFill>
                  <a:schemeClr val="tx1"/>
                </a:solidFill>
              </a:rPr>
            </a:br>
            <a:br>
              <a:rPr lang="en-US" altLang="en-GB" sz="1800">
                <a:solidFill>
                  <a:schemeClr val="tx1"/>
                </a:solidFill>
              </a:rPr>
            </a:br>
            <a:r>
              <a:rPr lang="en-US" altLang="en-GB" sz="1800" b="1">
                <a:solidFill>
                  <a:schemeClr val="tx1"/>
                </a:solidFill>
              </a:rPr>
              <a:t>2. Xử l</a:t>
            </a:r>
            <a:r>
              <a:rPr lang="en-US" altLang="en-US" sz="1800" b="1">
                <a:solidFill>
                  <a:schemeClr val="tx1"/>
                </a:solidFill>
              </a:rPr>
              <a:t>ý</a:t>
            </a:r>
            <a:r>
              <a:rPr lang="en-US" altLang="en-GB" sz="1800" b="1">
                <a:solidFill>
                  <a:schemeClr val="tx1"/>
                </a:solidFill>
              </a:rPr>
              <a:t> và Chuẩn h</a:t>
            </a:r>
            <a:r>
              <a:rPr lang="en-US" altLang="en-US" sz="1800" b="1">
                <a:solidFill>
                  <a:schemeClr val="tx1"/>
                </a:solidFill>
              </a:rPr>
              <a:t>ó</a:t>
            </a:r>
            <a:r>
              <a:rPr lang="en-US" altLang="en-GB" sz="1800" b="1">
                <a:solidFill>
                  <a:schemeClr val="tx1"/>
                </a:solidFill>
              </a:rPr>
              <a:t>a</a:t>
            </a:r>
            <a:br>
              <a:rPr lang="en-US" altLang="en-GB" sz="1800">
                <a:solidFill>
                  <a:schemeClr val="tx1"/>
                </a:solidFill>
              </a:rPr>
            </a:br>
            <a:r>
              <a:rPr lang="en-US" altLang="en-GB" sz="1800">
                <a:solidFill>
                  <a:schemeClr val="tx1"/>
                </a:solidFill>
              </a:rPr>
              <a:t>	Cộng gộp &amp; Chuẩn h</a:t>
            </a:r>
            <a:r>
              <a:rPr lang="en-US" altLang="en-US" sz="1800">
                <a:solidFill>
                  <a:schemeClr val="tx1"/>
                </a:solidFill>
              </a:rPr>
              <a:t>ó</a:t>
            </a:r>
            <a:r>
              <a:rPr lang="en-US" altLang="en-GB" sz="1800">
                <a:solidFill>
                  <a:schemeClr val="tx1"/>
                </a:solidFill>
              </a:rPr>
              <a:t>a lần 1: D</a:t>
            </a:r>
            <a:r>
              <a:rPr lang="en-US" altLang="en-US" sz="1800">
                <a:solidFill>
                  <a:schemeClr val="tx1"/>
                </a:solidFill>
              </a:rPr>
              <a:t>ù</a:t>
            </a:r>
            <a:r>
              <a:rPr lang="en-US" altLang="en-GB" sz="1800">
                <a:solidFill>
                  <a:schemeClr val="tx1"/>
                </a:solidFill>
              </a:rPr>
              <a:t>ng Residual Connection </a:t>
            </a:r>
            <a:r>
              <a:rPr lang="en-US" altLang="en-US" sz="1800">
                <a:solidFill>
                  <a:schemeClr val="tx1"/>
                </a:solidFill>
              </a:rPr>
              <a:t>đ</a:t>
            </a:r>
            <a:r>
              <a:rPr lang="en-US" altLang="en-GB" sz="1800">
                <a:solidFill>
                  <a:schemeClr val="tx1"/>
                </a:solidFill>
              </a:rPr>
              <a:t>ể cộng trực tiếp input gốc, </a:t>
            </a:r>
            <a:r>
              <a:rPr lang="en-US" altLang="en-US" sz="1800">
                <a:solidFill>
                  <a:schemeClr val="tx1"/>
                </a:solidFill>
              </a:rPr>
              <a:t>đ</a:t>
            </a:r>
            <a:r>
              <a:rPr lang="en-US" altLang="en-GB" sz="1800">
                <a:solidFill>
                  <a:schemeClr val="tx1"/>
                </a:solidFill>
              </a:rPr>
              <a:t>ảm bảo không trôi mất thông tin từ vựng ban </a:t>
            </a:r>
            <a:r>
              <a:rPr lang="en-US" altLang="en-US" sz="1800">
                <a:solidFill>
                  <a:schemeClr val="tx1"/>
                </a:solidFill>
              </a:rPr>
              <a:t>đ</a:t>
            </a:r>
            <a:r>
              <a:rPr lang="en-US" altLang="en-GB" sz="1800">
                <a:solidFill>
                  <a:schemeClr val="tx1"/>
                </a:solidFill>
              </a:rPr>
              <a:t>ầu. Sau đó đưa qua Layer Normalization.</a:t>
            </a:r>
            <a:br>
              <a:rPr lang="en-US" altLang="en-GB" sz="1800">
                <a:solidFill>
                  <a:schemeClr val="tx1"/>
                </a:solidFill>
              </a:rPr>
            </a:br>
            <a:r>
              <a:rPr lang="en-US" altLang="en-GB" sz="1800">
                <a:solidFill>
                  <a:schemeClr val="tx1"/>
                </a:solidFill>
              </a:rPr>
              <a:t>	Feed-Forward Network: Trải phẳng dữ liệu sang không gian chiều lớn h</a:t>
            </a:r>
            <a:r>
              <a:rPr lang="en-US" altLang="en-US" sz="1800">
                <a:solidFill>
                  <a:schemeClr val="tx1"/>
                </a:solidFill>
              </a:rPr>
              <a:t>ơ</a:t>
            </a:r>
            <a:r>
              <a:rPr lang="en-US" altLang="en-GB" sz="1800">
                <a:solidFill>
                  <a:schemeClr val="tx1"/>
                </a:solidFill>
              </a:rPr>
              <a:t>n bằng hàm ReLU, sau </a:t>
            </a:r>
            <a:r>
              <a:rPr lang="en-US" altLang="en-US" sz="1800">
                <a:solidFill>
                  <a:schemeClr val="tx1"/>
                </a:solidFill>
              </a:rPr>
              <a:t>đ</a:t>
            </a:r>
            <a:r>
              <a:rPr lang="en-US" altLang="en-US" sz="1800">
                <a:solidFill>
                  <a:schemeClr val="tx1"/>
                </a:solidFill>
              </a:rPr>
              <a:t>ó</a:t>
            </a:r>
            <a:r>
              <a:rPr lang="en-US" altLang="en-GB" sz="1800">
                <a:solidFill>
                  <a:schemeClr val="tx1"/>
                </a:solidFill>
              </a:rPr>
              <a:t> n</a:t>
            </a:r>
            <a:r>
              <a:rPr lang="en-US" altLang="en-US" sz="1800">
                <a:solidFill>
                  <a:schemeClr val="tx1"/>
                </a:solidFill>
              </a:rPr>
              <a:t>é</a:t>
            </a:r>
            <a:r>
              <a:rPr lang="en-US" altLang="en-GB" sz="1800">
                <a:solidFill>
                  <a:schemeClr val="tx1"/>
                </a:solidFill>
              </a:rPr>
              <a:t>n lại về k</a:t>
            </a:r>
            <a:r>
              <a:rPr lang="en-US" altLang="en-US" sz="1800">
                <a:solidFill>
                  <a:schemeClr val="tx1"/>
                </a:solidFill>
              </a:rPr>
              <a:t>í</a:t>
            </a:r>
            <a:r>
              <a:rPr lang="en-US" altLang="en-GB" sz="1800">
                <a:solidFill>
                  <a:schemeClr val="tx1"/>
                </a:solidFill>
              </a:rPr>
              <a:t>ch th</a:t>
            </a:r>
            <a:r>
              <a:rPr lang="en-US" altLang="en-US" sz="1800">
                <a:solidFill>
                  <a:schemeClr val="tx1"/>
                </a:solidFill>
              </a:rPr>
              <a:t>ư</a:t>
            </a:r>
            <a:r>
              <a:rPr lang="en-US" altLang="en-GB" sz="1800">
                <a:solidFill>
                  <a:schemeClr val="tx1"/>
                </a:solidFill>
              </a:rPr>
              <a:t>ớc c</a:t>
            </a:r>
            <a:r>
              <a:rPr lang="en-US" altLang="en-US" sz="1800">
                <a:solidFill>
                  <a:schemeClr val="tx1"/>
                </a:solidFill>
              </a:rPr>
              <a:t>ũ</a:t>
            </a:r>
            <a:r>
              <a:rPr lang="en-US" altLang="en-GB" sz="1800">
                <a:solidFill>
                  <a:schemeClr val="tx1"/>
                </a:solidFill>
              </a:rPr>
              <a:t> (d_model)</a:t>
            </a:r>
            <a:br>
              <a:rPr lang="en-US" altLang="en-GB" sz="1800">
                <a:solidFill>
                  <a:schemeClr val="tx1"/>
                </a:solidFill>
              </a:rPr>
            </a:br>
            <a:r>
              <a:rPr lang="en-US" altLang="en-GB" sz="1800">
                <a:solidFill>
                  <a:schemeClr val="tx1"/>
                </a:solidFill>
              </a:rPr>
              <a:t>	Cộng gộp &amp; Chuẩn h</a:t>
            </a:r>
            <a:r>
              <a:rPr lang="en-US" altLang="en-US" sz="1800">
                <a:solidFill>
                  <a:schemeClr val="tx1"/>
                </a:solidFill>
              </a:rPr>
              <a:t>ó</a:t>
            </a:r>
            <a:r>
              <a:rPr lang="en-US" altLang="en-GB" sz="1800">
                <a:solidFill>
                  <a:schemeClr val="tx1"/>
                </a:solidFill>
              </a:rPr>
              <a:t>a lần 2: Sinh ra Output cuối c</a:t>
            </a:r>
            <a:r>
              <a:rPr lang="en-US" altLang="en-US" sz="1800">
                <a:solidFill>
                  <a:schemeClr val="tx1"/>
                </a:solidFill>
              </a:rPr>
              <a:t>ù</a:t>
            </a:r>
            <a:r>
              <a:rPr lang="en-US" altLang="en-GB" sz="1800">
                <a:solidFill>
                  <a:schemeClr val="tx1"/>
                </a:solidFill>
              </a:rPr>
              <a:t>ng của khối.</a:t>
            </a:r>
            <a:br>
              <a:rPr lang="en-US" altLang="en-GB" sz="1800">
                <a:solidFill>
                  <a:schemeClr val="tx1"/>
                </a:solidFill>
              </a:rPr>
            </a:br>
            <a:br>
              <a:rPr lang="en-US" altLang="en-GB" sz="1800">
                <a:solidFill>
                  <a:schemeClr val="tx1"/>
                </a:solidFill>
              </a:rPr>
            </a:br>
            <a:r>
              <a:rPr lang="en-US" altLang="en-GB" sz="1800" b="1">
                <a:solidFill>
                  <a:schemeClr val="tx1"/>
                </a:solidFill>
              </a:rPr>
              <a:t>3. Mở rộng Kiến tr</a:t>
            </a:r>
            <a:r>
              <a:rPr lang="en-US" altLang="en-US" sz="1800" b="1">
                <a:solidFill>
                  <a:schemeClr val="tx1"/>
                </a:solidFill>
              </a:rPr>
              <a:t>ú</a:t>
            </a:r>
            <a:r>
              <a:rPr lang="en-US" altLang="en-GB" sz="1800" b="1">
                <a:solidFill>
                  <a:schemeClr val="tx1"/>
                </a:solidFill>
              </a:rPr>
              <a:t>c Tổng thể</a:t>
            </a:r>
            <a:br>
              <a:rPr lang="en-US" altLang="en-GB" sz="1800">
                <a:solidFill>
                  <a:schemeClr val="tx1"/>
                </a:solidFill>
              </a:rPr>
            </a:br>
            <a:r>
              <a:rPr lang="en-US" altLang="en-GB" sz="1800">
                <a:solidFill>
                  <a:schemeClr val="tx1"/>
                </a:solidFill>
              </a:rPr>
              <a:t>	Output của khối Encoder hiện tại sẽ trở thành Input trực tiếp cho khối tiếp theo.</a:t>
            </a:r>
            <a:br>
              <a:rPr lang="en-US" altLang="en-GB" sz="1800">
                <a:solidFill>
                  <a:schemeClr val="tx1"/>
                </a:solidFill>
              </a:rPr>
            </a:br>
            <a:r>
              <a:rPr lang="en-US" altLang="en-GB" sz="1800">
                <a:solidFill>
                  <a:schemeClr val="tx1"/>
                </a:solidFill>
              </a:rPr>
              <a:t>	Qu</a:t>
            </a:r>
            <a:r>
              <a:rPr lang="en-US" altLang="en-US" sz="1800">
                <a:solidFill>
                  <a:schemeClr val="tx1"/>
                </a:solidFill>
              </a:rPr>
              <a:t>á</a:t>
            </a:r>
            <a:r>
              <a:rPr lang="en-US" altLang="en-GB" sz="1800">
                <a:solidFill>
                  <a:schemeClr val="tx1"/>
                </a:solidFill>
              </a:rPr>
              <a:t> tr</a:t>
            </a:r>
            <a:r>
              <a:rPr lang="en-US" altLang="en-US" sz="1800">
                <a:solidFill>
                  <a:schemeClr val="tx1"/>
                </a:solidFill>
              </a:rPr>
              <a:t>ì</a:t>
            </a:r>
            <a:r>
              <a:rPr lang="en-US" altLang="en-GB" sz="1800">
                <a:solidFill>
                  <a:schemeClr val="tx1"/>
                </a:solidFill>
              </a:rPr>
              <a:t>nh này </a:t>
            </a:r>
            <a:r>
              <a:rPr lang="en-US" altLang="en-US" sz="1800">
                <a:solidFill>
                  <a:schemeClr val="tx1"/>
                </a:solidFill>
              </a:rPr>
              <a:t>đư</a:t>
            </a:r>
            <a:r>
              <a:rPr lang="en-US" altLang="en-GB" sz="1800">
                <a:solidFill>
                  <a:schemeClr val="tx1"/>
                </a:solidFill>
              </a:rPr>
              <a:t>ợc lặp lại N lần thông qua việc xếp chồng c</a:t>
            </a:r>
            <a:r>
              <a:rPr lang="en-US" altLang="en-US" sz="1800">
                <a:solidFill>
                  <a:schemeClr val="tx1"/>
                </a:solidFill>
              </a:rPr>
              <a:t>á</a:t>
            </a:r>
            <a:r>
              <a:rPr lang="en-US" altLang="en-GB" sz="1800">
                <a:solidFill>
                  <a:schemeClr val="tx1"/>
                </a:solidFill>
              </a:rPr>
              <a:t>c khối (Mô h</a:t>
            </a:r>
            <a:r>
              <a:rPr lang="en-US" altLang="en-US" sz="1800">
                <a:solidFill>
                  <a:schemeClr val="tx1"/>
                </a:solidFill>
              </a:rPr>
              <a:t>ì</a:t>
            </a:r>
            <a:r>
              <a:rPr lang="en-US" altLang="en-GB" sz="1800">
                <a:solidFill>
                  <a:schemeClr val="tx1"/>
                </a:solidFill>
              </a:rPr>
              <a:t>nh BERT-base sử dụng N = 12 khối li</a:t>
            </a:r>
            <a:r>
              <a:rPr lang="en-US" altLang="en-US" sz="1800">
                <a:solidFill>
                  <a:schemeClr val="tx1"/>
                </a:solidFill>
              </a:rPr>
              <a:t>ê</a:t>
            </a:r>
            <a:r>
              <a:rPr lang="en-US" altLang="en-GB" sz="1800">
                <a:solidFill>
                  <a:schemeClr val="tx1"/>
                </a:solidFill>
              </a:rPr>
              <a:t>n tiếp).</a:t>
            </a:r>
            <a:endParaRPr lang="en-US" altLang="en-GB" sz="1800">
              <a:solidFill>
                <a:schemeClr val="tx1"/>
              </a:solidFill>
            </a:endParaRPr>
          </a:p>
        </p:txBody>
      </p:sp>
      <p:graphicFrame>
        <p:nvGraphicFramePr>
          <p:cNvPr id="6" name="Object 5"/>
          <p:cNvGraphicFramePr/>
          <p:nvPr/>
        </p:nvGraphicFramePr>
        <p:xfrm>
          <a:off x="5085715" y="0"/>
          <a:ext cx="7032625" cy="2290445"/>
        </p:xfrm>
        <a:graphic>
          <a:graphicData uri="http://schemas.openxmlformats.org/presentationml/2006/ole">
            <mc:AlternateContent xmlns:mc="http://schemas.openxmlformats.org/markup-compatibility/2006">
              <mc:Choice xmlns:v="urn:schemas-microsoft-com:vml" Requires="v">
                <p:oleObj spid="_x0000_s7" name="" r:id="rId1" imgW="7955280" imgH="2590800" progId="Paint.Picture">
                  <p:embed/>
                </p:oleObj>
              </mc:Choice>
              <mc:Fallback>
                <p:oleObj name="" r:id="rId1" imgW="7955280" imgH="2590800" progId="Paint.Picture">
                  <p:embed/>
                  <p:pic>
                    <p:nvPicPr>
                      <p:cNvPr id="0" name="Picture 6"/>
                      <p:cNvPicPr/>
                      <p:nvPr/>
                    </p:nvPicPr>
                    <p:blipFill>
                      <a:blip r:embed="rId2"/>
                      <a:stretch>
                        <a:fillRect/>
                      </a:stretch>
                    </p:blipFill>
                    <p:spPr>
                      <a:xfrm>
                        <a:off x="5085715" y="0"/>
                        <a:ext cx="7032625" cy="2290445"/>
                      </a:xfrm>
                      <a:prstGeom prst="rect">
                        <a:avLst/>
                      </a:prstGeom>
                    </p:spPr>
                  </p:pic>
                </p:oleObj>
              </mc:Fallback>
            </mc:AlternateContent>
          </a:graphicData>
        </a:graphic>
      </p:graphicFrame>
      <p:pic>
        <p:nvPicPr>
          <p:cNvPr id="8" name="Picture 7"/>
          <p:cNvPicPr>
            <a:picLocks noChangeAspect="1"/>
          </p:cNvPicPr>
          <p:nvPr/>
        </p:nvPicPr>
        <p:blipFill>
          <a:blip r:embed="rId3"/>
          <a:stretch>
            <a:fillRect/>
          </a:stretch>
        </p:blipFill>
        <p:spPr>
          <a:xfrm>
            <a:off x="8218170" y="2725420"/>
            <a:ext cx="3900170" cy="38379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59690"/>
            <a:ext cx="4694555" cy="6635750"/>
          </a:xfrm>
        </p:spPr>
        <p:txBody>
          <a:bodyPr>
            <a:noAutofit/>
          </a:bodyPr>
          <a:p>
            <a:r>
              <a:rPr lang="en-US" altLang="en-GB" sz="3500"/>
              <a:t>3. Cơ sở lý thuyết</a:t>
            </a:r>
            <a:br>
              <a:rPr lang="en-US" altLang="en-GB" sz="3500"/>
            </a:br>
            <a:br>
              <a:rPr lang="en-US" altLang="en-GB" sz="1800"/>
            </a:br>
            <a:r>
              <a:rPr lang="en-US" altLang="en-GB" sz="1800">
                <a:solidFill>
                  <a:schemeClr val="tx1"/>
                </a:solidFill>
                <a:highlight>
                  <a:srgbClr val="FFFF00"/>
                </a:highlight>
              </a:rPr>
              <a:t>3.1. Transformer</a:t>
            </a:r>
            <a:br>
              <a:rPr lang="en-US" altLang="en-GB" sz="1800">
                <a:solidFill>
                  <a:schemeClr val="tx1"/>
                </a:solidFill>
              </a:rPr>
            </a:br>
            <a:br>
              <a:rPr lang="en-US" altLang="en-GB" sz="1800">
                <a:solidFill>
                  <a:schemeClr val="tx1"/>
                </a:solidFill>
              </a:rPr>
            </a:br>
            <a:r>
              <a:rPr lang="en-US" altLang="en-GB" sz="1800">
                <a:solidFill>
                  <a:schemeClr val="tx1"/>
                </a:solidFill>
              </a:rPr>
              <a:t>+ </a:t>
            </a:r>
            <a:r>
              <a:rPr lang="en-US" altLang="en-GB" sz="1800">
                <a:solidFill>
                  <a:srgbClr val="FF0000"/>
                </a:solidFill>
              </a:rPr>
              <a:t>Decoder - bộ phận "Sinh v</a:t>
            </a:r>
            <a:r>
              <a:rPr lang="en-US" altLang="en-US" sz="1800">
                <a:solidFill>
                  <a:srgbClr val="FF0000"/>
                </a:solidFill>
              </a:rPr>
              <a:t>ă</a:t>
            </a:r>
            <a:r>
              <a:rPr lang="en-US" altLang="en-GB" sz="1800">
                <a:solidFill>
                  <a:srgbClr val="FF0000"/>
                </a:solidFill>
              </a:rPr>
              <a:t>n bản"</a:t>
            </a:r>
            <a:r>
              <a:rPr lang="en-US" altLang="en-GB" sz="1800">
                <a:solidFill>
                  <a:schemeClr val="tx1"/>
                </a:solidFill>
              </a:rPr>
              <a:t>. Nhận vector ngữ ngh</a:t>
            </a:r>
            <a:r>
              <a:rPr lang="en-US" altLang="en-US" sz="1800">
                <a:solidFill>
                  <a:schemeClr val="tx1"/>
                </a:solidFill>
              </a:rPr>
              <a:t>ĩ</a:t>
            </a:r>
            <a:r>
              <a:rPr lang="en-US" altLang="en-GB" sz="1800">
                <a:solidFill>
                  <a:schemeClr val="tx1"/>
                </a:solidFill>
              </a:rPr>
              <a:t>a (từ encoder hoặc tự n</a:t>
            </a:r>
            <a:r>
              <a:rPr lang="en-US" altLang="en-US" sz="1800">
                <a:solidFill>
                  <a:schemeClr val="tx1"/>
                </a:solidFill>
              </a:rPr>
              <a:t>ó</a:t>
            </a:r>
            <a:r>
              <a:rPr lang="en-US" altLang="en-GB" sz="1800">
                <a:solidFill>
                  <a:schemeClr val="tx1"/>
                </a:solidFill>
              </a:rPr>
              <a:t>) và sinh ra </a:t>
            </a:r>
            <a:r>
              <a:rPr lang="en-US" altLang="en-GB" sz="1800">
                <a:solidFill>
                  <a:srgbClr val="0070C0"/>
                </a:solidFill>
              </a:rPr>
              <a:t>TỪNG TỪ MỘT </a:t>
            </a:r>
            <a:r>
              <a:rPr lang="en-US" altLang="en-US" sz="1800">
                <a:solidFill>
                  <a:schemeClr val="tx1"/>
                </a:solidFill>
              </a:rPr>
              <a:t>đ</a:t>
            </a:r>
            <a:r>
              <a:rPr lang="en-US" altLang="en-GB" sz="1800">
                <a:solidFill>
                  <a:schemeClr val="tx1"/>
                </a:solidFill>
              </a:rPr>
              <a:t>ể tạo thành c</a:t>
            </a:r>
            <a:r>
              <a:rPr lang="en-US" altLang="en-US" sz="1800">
                <a:solidFill>
                  <a:schemeClr val="tx1"/>
                </a:solidFill>
              </a:rPr>
              <a:t>â</a:t>
            </a:r>
            <a:r>
              <a:rPr lang="en-US" altLang="en-GB" sz="1800">
                <a:solidFill>
                  <a:schemeClr val="tx1"/>
                </a:solidFill>
              </a:rPr>
              <a:t>u output.</a:t>
            </a:r>
            <a:br>
              <a:rPr lang="en-US" altLang="en-GB" sz="1800">
                <a:solidFill>
                  <a:schemeClr val="tx1"/>
                </a:solidFill>
              </a:rPr>
            </a:br>
            <a:br>
              <a:rPr lang="en-US" altLang="en-GB" sz="1800">
                <a:solidFill>
                  <a:schemeClr val="tx1"/>
                </a:solidFill>
              </a:rPr>
            </a:br>
            <a:r>
              <a:rPr lang="en-US" altLang="en-GB" sz="1800">
                <a:solidFill>
                  <a:schemeClr val="tx1"/>
                </a:solidFill>
              </a:rPr>
              <a:t>Mục ti</a:t>
            </a:r>
            <a:r>
              <a:rPr lang="en-US" altLang="en-US" sz="1800">
                <a:solidFill>
                  <a:schemeClr val="tx1"/>
                </a:solidFill>
              </a:rPr>
              <a:t>ê</a:t>
            </a:r>
            <a:r>
              <a:rPr lang="en-US" altLang="en-GB" sz="1800">
                <a:solidFill>
                  <a:schemeClr val="tx1"/>
                </a:solidFill>
              </a:rPr>
              <a:t>u: Sinh v</a:t>
            </a:r>
            <a:r>
              <a:rPr lang="en-US" altLang="en-US" sz="1800">
                <a:solidFill>
                  <a:schemeClr val="tx1"/>
                </a:solidFill>
              </a:rPr>
              <a:t>ă</a:t>
            </a:r>
            <a:r>
              <a:rPr lang="en-US" altLang="en-GB" sz="1800">
                <a:solidFill>
                  <a:schemeClr val="tx1"/>
                </a:solidFill>
              </a:rPr>
              <a:t>n bản</a:t>
            </a:r>
            <a:br>
              <a:rPr lang="en-US" altLang="en-GB" sz="1800">
                <a:solidFill>
                  <a:schemeClr val="tx1"/>
                </a:solidFill>
              </a:rPr>
            </a:br>
            <a:br>
              <a:rPr lang="en-US" altLang="en-GB" sz="1800">
                <a:solidFill>
                  <a:schemeClr val="tx1"/>
                </a:solidFill>
              </a:rPr>
            </a:br>
            <a:r>
              <a:rPr lang="en-US" altLang="en-GB" sz="1800">
                <a:solidFill>
                  <a:schemeClr val="tx1"/>
                </a:solidFill>
              </a:rPr>
              <a:t>V</a:t>
            </a:r>
            <a:r>
              <a:rPr lang="en-US" altLang="en-US" sz="1800">
                <a:solidFill>
                  <a:schemeClr val="tx1"/>
                </a:solidFill>
              </a:rPr>
              <a:t>í</a:t>
            </a:r>
            <a:r>
              <a:rPr lang="en-US" altLang="en-GB" sz="1800">
                <a:solidFill>
                  <a:schemeClr val="tx1"/>
                </a:solidFill>
              </a:rPr>
              <a:t> dụ:</a:t>
            </a:r>
            <a:br>
              <a:rPr lang="en-US" altLang="en-GB" sz="1800">
                <a:solidFill>
                  <a:schemeClr val="tx1"/>
                </a:solidFill>
              </a:rPr>
            </a:br>
            <a:r>
              <a:rPr lang="en-US" altLang="en-GB" sz="1800">
                <a:solidFill>
                  <a:schemeClr val="tx1"/>
                </a:solidFill>
              </a:rPr>
              <a:t>[vector ngữ ngh</a:t>
            </a:r>
            <a:r>
              <a:rPr lang="en-US" altLang="en-US" sz="1800">
                <a:solidFill>
                  <a:schemeClr val="tx1"/>
                </a:solidFill>
              </a:rPr>
              <a:t>ĩ</a:t>
            </a:r>
            <a:r>
              <a:rPr lang="en-US" altLang="en-GB" sz="1800">
                <a:solidFill>
                  <a:schemeClr val="tx1"/>
                </a:solidFill>
              </a:rPr>
              <a:t>a]</a:t>
            </a:r>
            <a:br>
              <a:rPr lang="en-US" altLang="en-GB" sz="1800">
                <a:solidFill>
                  <a:schemeClr val="tx1"/>
                </a:solidFill>
              </a:rPr>
            </a:br>
            <a:r>
              <a:rPr lang="en-US" altLang="en-GB" sz="1800">
                <a:solidFill>
                  <a:schemeClr val="tx1"/>
                </a:solidFill>
              </a:rPr>
              <a:t>        </a:t>
            </a:r>
            <a:r>
              <a:rPr lang="en-US" altLang="en-US" sz="1800">
                <a:solidFill>
                  <a:schemeClr val="tx1"/>
                </a:solidFill>
              </a:rPr>
              <a:t>↓</a:t>
            </a:r>
            <a:br>
              <a:rPr lang="en-US" altLang="en-US" sz="1800">
                <a:solidFill>
                  <a:schemeClr val="tx1"/>
                </a:solidFill>
              </a:rPr>
            </a:br>
            <a:r>
              <a:rPr lang="en-US" altLang="en-GB" sz="1800">
                <a:solidFill>
                  <a:schemeClr val="tx1"/>
                </a:solidFill>
              </a:rPr>
              <a:t>   [DECODER]</a:t>
            </a:r>
            <a:br>
              <a:rPr lang="en-US" altLang="en-GB" sz="1800">
                <a:solidFill>
                  <a:schemeClr val="tx1"/>
                </a:solidFill>
              </a:rPr>
            </a:br>
            <a:r>
              <a:rPr lang="en-US" altLang="en-GB" sz="1800">
                <a:solidFill>
                  <a:schemeClr val="tx1"/>
                </a:solidFill>
              </a:rPr>
              <a:t>        </a:t>
            </a:r>
            <a:r>
              <a:rPr lang="en-US" altLang="en-US" sz="1800">
                <a:solidFill>
                  <a:schemeClr val="tx1"/>
                </a:solidFill>
              </a:rPr>
              <a:t>↓</a:t>
            </a:r>
            <a:br>
              <a:rPr lang="en-US" altLang="en-US" sz="1800">
                <a:solidFill>
                  <a:schemeClr val="tx1"/>
                </a:solidFill>
              </a:rPr>
            </a:br>
            <a:r>
              <a:rPr lang="en-US" altLang="en-GB" sz="1800">
                <a:solidFill>
                  <a:schemeClr val="tx1"/>
                </a:solidFill>
              </a:rPr>
              <a:t>"I" </a:t>
            </a:r>
            <a:r>
              <a:rPr lang="en-US" altLang="en-US" sz="1800">
                <a:solidFill>
                  <a:schemeClr val="tx1"/>
                </a:solidFill>
              </a:rPr>
              <a:t>→</a:t>
            </a:r>
            <a:r>
              <a:rPr lang="en-US" altLang="en-GB" sz="1800">
                <a:solidFill>
                  <a:schemeClr val="tx1"/>
                </a:solidFill>
              </a:rPr>
              <a:t> "love" </a:t>
            </a:r>
            <a:r>
              <a:rPr lang="en-US" altLang="en-US" sz="1800">
                <a:solidFill>
                  <a:schemeClr val="tx1"/>
                </a:solidFill>
              </a:rPr>
              <a:t>→</a:t>
            </a:r>
            <a:r>
              <a:rPr lang="en-US" altLang="en-GB" sz="1800">
                <a:solidFill>
                  <a:schemeClr val="tx1"/>
                </a:solidFill>
              </a:rPr>
              <a:t> "NLP" </a:t>
            </a:r>
            <a:r>
              <a:rPr lang="en-US" altLang="en-US" sz="1800">
                <a:solidFill>
                  <a:schemeClr val="tx1"/>
                </a:solidFill>
              </a:rPr>
              <a:t>→</a:t>
            </a:r>
            <a:r>
              <a:rPr lang="en-US" altLang="en-GB" sz="1800">
                <a:solidFill>
                  <a:schemeClr val="tx1"/>
                </a:solidFill>
              </a:rPr>
              <a:t> [END]</a:t>
            </a:r>
            <a:br>
              <a:rPr lang="en-US" altLang="en-GB" sz="1800">
                <a:solidFill>
                  <a:schemeClr val="tx1"/>
                </a:solidFill>
              </a:rPr>
            </a:br>
            <a:br>
              <a:rPr lang="en-US" altLang="en-GB" sz="1800">
                <a:solidFill>
                  <a:schemeClr val="tx1"/>
                </a:solidFill>
              </a:rPr>
            </a:br>
            <a:br>
              <a:rPr lang="en-US" altLang="en-GB" sz="1800">
                <a:solidFill>
                  <a:schemeClr val="tx1"/>
                </a:solidFill>
              </a:rPr>
            </a:br>
            <a:r>
              <a:rPr lang="en-US" altLang="en-GB" sz="1800">
                <a:solidFill>
                  <a:schemeClr val="tx1"/>
                </a:solidFill>
              </a:rPr>
              <a:t>Mô h</a:t>
            </a:r>
            <a:r>
              <a:rPr lang="en-US" altLang="en-US" sz="1800">
                <a:solidFill>
                  <a:schemeClr val="tx1"/>
                </a:solidFill>
              </a:rPr>
              <a:t>ì</a:t>
            </a:r>
            <a:r>
              <a:rPr lang="en-US" altLang="en-GB" sz="1800">
                <a:solidFill>
                  <a:schemeClr val="tx1"/>
                </a:solidFill>
              </a:rPr>
              <a:t>nh ti</a:t>
            </a:r>
            <a:r>
              <a:rPr lang="en-US" altLang="en-US" sz="1800">
                <a:solidFill>
                  <a:schemeClr val="tx1"/>
                </a:solidFill>
              </a:rPr>
              <a:t>ê</a:t>
            </a:r>
            <a:r>
              <a:rPr lang="en-US" altLang="en-GB" sz="1800">
                <a:solidFill>
                  <a:schemeClr val="tx1"/>
                </a:solidFill>
              </a:rPr>
              <a:t>u biểu: GPT-2, GPT-4, LLaMA, Gemini, Claude,... C</a:t>
            </a:r>
            <a:r>
              <a:rPr lang="en-US" altLang="en-US" sz="1800">
                <a:solidFill>
                  <a:schemeClr val="tx1"/>
                </a:solidFill>
              </a:rPr>
              <a:t>á</a:t>
            </a:r>
            <a:r>
              <a:rPr lang="en-US" altLang="en-GB" sz="1800">
                <a:solidFill>
                  <a:schemeClr val="tx1"/>
                </a:solidFill>
              </a:rPr>
              <a:t>c mô h</a:t>
            </a:r>
            <a:r>
              <a:rPr lang="en-US" altLang="en-US" sz="1800">
                <a:solidFill>
                  <a:schemeClr val="tx1"/>
                </a:solidFill>
              </a:rPr>
              <a:t>ì</a:t>
            </a:r>
            <a:r>
              <a:rPr lang="en-US" altLang="en-GB" sz="1800">
                <a:solidFill>
                  <a:schemeClr val="tx1"/>
                </a:solidFill>
              </a:rPr>
              <a:t>nh ngôn ngữ lớn (</a:t>
            </a:r>
            <a:r>
              <a:rPr lang="en-US" sz="1800">
                <a:solidFill>
                  <a:schemeClr val="tx1"/>
                </a:solidFill>
              </a:rPr>
              <a:t>LLM)</a:t>
            </a:r>
            <a:r>
              <a:rPr lang="en-US" altLang="en-GB" sz="1800">
                <a:solidFill>
                  <a:schemeClr val="tx1"/>
                </a:solidFill>
              </a:rPr>
              <a:t> chủ yếu là decoder-only.</a:t>
            </a:r>
            <a:endParaRPr lang="en-US" altLang="en-GB" sz="1800">
              <a:solidFill>
                <a:schemeClr val="tx1"/>
              </a:solidFill>
            </a:endParaRPr>
          </a:p>
        </p:txBody>
      </p:sp>
      <p:graphicFrame>
        <p:nvGraphicFramePr>
          <p:cNvPr id="2" name="Object 1"/>
          <p:cNvGraphicFramePr/>
          <p:nvPr/>
        </p:nvGraphicFramePr>
        <p:xfrm>
          <a:off x="5245100" y="3234055"/>
          <a:ext cx="6565900" cy="3543300"/>
        </p:xfrm>
        <a:graphic>
          <a:graphicData uri="http://schemas.openxmlformats.org/presentationml/2006/ole">
            <mc:AlternateContent xmlns:mc="http://schemas.openxmlformats.org/markup-compatibility/2006">
              <mc:Choice xmlns:v="urn:schemas-microsoft-com:vml" Requires="v">
                <p:oleObj spid="_x0000_s3" name="" r:id="rId1" imgW="10911840" imgH="6118860" progId="Paint.Picture">
                  <p:embed/>
                </p:oleObj>
              </mc:Choice>
              <mc:Fallback>
                <p:oleObj name="" r:id="rId1" imgW="10911840" imgH="6118860" progId="Paint.Picture">
                  <p:embed/>
                  <p:pic>
                    <p:nvPicPr>
                      <p:cNvPr id="0" name="Picture 2"/>
                      <p:cNvPicPr/>
                      <p:nvPr/>
                    </p:nvPicPr>
                    <p:blipFill>
                      <a:blip r:embed="rId2"/>
                      <a:stretch>
                        <a:fillRect/>
                      </a:stretch>
                    </p:blipFill>
                    <p:spPr>
                      <a:xfrm>
                        <a:off x="5245100" y="3234055"/>
                        <a:ext cx="6565900" cy="3543300"/>
                      </a:xfrm>
                      <a:prstGeom prst="rect">
                        <a:avLst/>
                      </a:prstGeom>
                    </p:spPr>
                  </p:pic>
                </p:oleObj>
              </mc:Fallback>
            </mc:AlternateContent>
          </a:graphicData>
        </a:graphic>
      </p:graphicFrame>
      <p:pic>
        <p:nvPicPr>
          <p:cNvPr id="6" name="Picture 5"/>
          <p:cNvPicPr>
            <a:picLocks noChangeAspect="1"/>
          </p:cNvPicPr>
          <p:nvPr/>
        </p:nvPicPr>
        <p:blipFill>
          <a:blip r:embed="rId3"/>
          <a:stretch>
            <a:fillRect/>
          </a:stretch>
        </p:blipFill>
        <p:spPr>
          <a:xfrm>
            <a:off x="8848725" y="0"/>
            <a:ext cx="2845435" cy="3001010"/>
          </a:xfrm>
          <a:prstGeom prst="rect">
            <a:avLst/>
          </a:prstGeom>
        </p:spPr>
      </p:pic>
      <p:pic>
        <p:nvPicPr>
          <p:cNvPr id="10" name="Picture 9"/>
          <p:cNvPicPr>
            <a:picLocks noChangeAspect="1"/>
          </p:cNvPicPr>
          <p:nvPr/>
        </p:nvPicPr>
        <p:blipFill>
          <a:blip r:embed="rId4"/>
          <a:stretch>
            <a:fillRect/>
          </a:stretch>
        </p:blipFill>
        <p:spPr>
          <a:xfrm>
            <a:off x="5455285" y="0"/>
            <a:ext cx="2967355" cy="29197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59690"/>
            <a:ext cx="11632565" cy="6635750"/>
          </a:xfrm>
        </p:spPr>
        <p:txBody>
          <a:bodyPr>
            <a:noAutofit/>
          </a:bodyPr>
          <a:p>
            <a:r>
              <a:rPr lang="en-US" altLang="en-GB" sz="3500"/>
              <a:t>3. Cơ sở lý thuyết</a:t>
            </a:r>
            <a:br>
              <a:rPr lang="en-US" altLang="en-GB" sz="3500"/>
            </a:br>
            <a:br>
              <a:rPr lang="en-US" altLang="en-GB" sz="1800"/>
            </a:br>
            <a:r>
              <a:rPr lang="en-US" altLang="en-GB" sz="1800">
                <a:solidFill>
                  <a:schemeClr val="tx1"/>
                </a:solidFill>
                <a:highlight>
                  <a:srgbClr val="FFFF00"/>
                </a:highlight>
              </a:rPr>
              <a:t>3.2. BERT (2018)</a:t>
            </a:r>
            <a:br>
              <a:rPr lang="en-US" altLang="en-GB" sz="1800">
                <a:solidFill>
                  <a:schemeClr val="tx1"/>
                </a:solidFill>
                <a:highlight>
                  <a:srgbClr val="FFFF00"/>
                </a:highlight>
              </a:rPr>
            </a:br>
            <a:br>
              <a:rPr lang="en-US" altLang="en-GB" sz="1800">
                <a:solidFill>
                  <a:schemeClr val="tx1"/>
                </a:solidFill>
              </a:rPr>
            </a:br>
            <a:r>
              <a:rPr lang="en-US" altLang="en-GB" sz="1800">
                <a:solidFill>
                  <a:schemeClr val="tx1"/>
                </a:solidFill>
              </a:rPr>
              <a:t>+ Ra mắt trong bài b</a:t>
            </a:r>
            <a:r>
              <a:rPr lang="en-US" altLang="en-US" sz="1800">
                <a:solidFill>
                  <a:schemeClr val="tx1"/>
                </a:solidFill>
              </a:rPr>
              <a:t>á</a:t>
            </a:r>
            <a:r>
              <a:rPr lang="en-US" altLang="en-GB" sz="1800">
                <a:solidFill>
                  <a:schemeClr val="tx1"/>
                </a:solidFill>
              </a:rPr>
              <a:t>o "BERT: Pre-training of Deep Bidirectional Transformers for Language Understanding" của Google AI (Devlin et al.).</a:t>
            </a:r>
            <a:br>
              <a:rPr lang="en-US" altLang="en-GB" sz="1800">
                <a:solidFill>
                  <a:schemeClr val="tx1"/>
                </a:solidFill>
              </a:rPr>
            </a:br>
            <a:br>
              <a:rPr lang="en-US" altLang="en-GB" sz="1800">
                <a:solidFill>
                  <a:schemeClr val="tx1"/>
                </a:solidFill>
              </a:rPr>
            </a:br>
            <a:r>
              <a:rPr lang="en-US" altLang="en-GB" sz="1800">
                <a:solidFill>
                  <a:schemeClr val="tx1"/>
                </a:solidFill>
              </a:rPr>
              <a:t>+ BERT chỉ sử dụng phần Encoder của Transformer (xếp chồng nhiều lớp Encoder), bỏ phần Decoder.</a:t>
            </a:r>
            <a:br>
              <a:rPr lang="en-US" altLang="en-GB" sz="1800">
                <a:solidFill>
                  <a:schemeClr val="tx1"/>
                </a:solidFill>
              </a:rPr>
            </a:br>
            <a:br>
              <a:rPr lang="en-US" altLang="en-GB" sz="1800">
                <a:solidFill>
                  <a:schemeClr val="tx1"/>
                </a:solidFill>
              </a:rPr>
            </a:br>
            <a:r>
              <a:rPr lang="en-US" sz="1800">
                <a:solidFill>
                  <a:schemeClr val="tx1"/>
                </a:solidFill>
              </a:rPr>
              <a:t>+ </a:t>
            </a:r>
            <a:r>
              <a:rPr lang="en-US" altLang="en-US" sz="1800">
                <a:solidFill>
                  <a:schemeClr val="tx1"/>
                </a:solidFill>
              </a:rPr>
              <a:t>Đ</a:t>
            </a:r>
            <a:r>
              <a:rPr lang="en-US" altLang="en-GB" sz="1800">
                <a:solidFill>
                  <a:schemeClr val="tx1"/>
                </a:solidFill>
              </a:rPr>
              <a:t>iểm kh</a:t>
            </a:r>
            <a:r>
              <a:rPr lang="en-US" altLang="en-US" sz="1800">
                <a:solidFill>
                  <a:schemeClr val="tx1"/>
                </a:solidFill>
              </a:rPr>
              <a:t>á</a:t>
            </a:r>
            <a:r>
              <a:rPr lang="en-US" altLang="en-GB" sz="1800">
                <a:solidFill>
                  <a:schemeClr val="tx1"/>
                </a:solidFill>
              </a:rPr>
              <a:t>c biệt cốt l</a:t>
            </a:r>
            <a:r>
              <a:rPr lang="en-US" altLang="en-US" sz="1800">
                <a:solidFill>
                  <a:schemeClr val="tx1"/>
                </a:solidFill>
              </a:rPr>
              <a:t>õ</a:t>
            </a:r>
            <a:r>
              <a:rPr lang="en-US" altLang="en-GB" sz="1800">
                <a:solidFill>
                  <a:schemeClr val="tx1"/>
                </a:solidFill>
              </a:rPr>
              <a:t>i: BERT huấn luyện hai chiều (bidirectional) - tức là khi dự </a:t>
            </a:r>
            <a:r>
              <a:rPr lang="en-US" altLang="en-US" sz="1800">
                <a:solidFill>
                  <a:schemeClr val="tx1"/>
                </a:solidFill>
              </a:rPr>
              <a:t>đ</a:t>
            </a:r>
            <a:r>
              <a:rPr lang="en-US" altLang="en-GB" sz="1800">
                <a:solidFill>
                  <a:schemeClr val="tx1"/>
                </a:solidFill>
              </a:rPr>
              <a:t>o</a:t>
            </a:r>
            <a:r>
              <a:rPr lang="en-US" altLang="en-US" sz="1800">
                <a:solidFill>
                  <a:schemeClr val="tx1"/>
                </a:solidFill>
              </a:rPr>
              <a:t>á</a:t>
            </a:r>
            <a:r>
              <a:rPr lang="en-US" altLang="en-GB" sz="1800">
                <a:solidFill>
                  <a:schemeClr val="tx1"/>
                </a:solidFill>
              </a:rPr>
              <a:t>n một từ, model </a:t>
            </a:r>
            <a:r>
              <a:rPr lang="en-US" altLang="en-US" sz="1800">
                <a:solidFill>
                  <a:schemeClr val="tx1"/>
                </a:solidFill>
              </a:rPr>
              <a:t>đư</a:t>
            </a:r>
            <a:r>
              <a:rPr lang="en-US" altLang="en-GB" sz="1800">
                <a:solidFill>
                  <a:schemeClr val="tx1"/>
                </a:solidFill>
              </a:rPr>
              <a:t>ợc "nh</a:t>
            </a:r>
            <a:r>
              <a:rPr lang="en-US" altLang="en-US" sz="1800">
                <a:solidFill>
                  <a:schemeClr val="tx1"/>
                </a:solidFill>
              </a:rPr>
              <a:t>ì</a:t>
            </a:r>
            <a:r>
              <a:rPr lang="en-US" altLang="en-GB" sz="1800">
                <a:solidFill>
                  <a:schemeClr val="tx1"/>
                </a:solidFill>
              </a:rPr>
              <a:t>n" cả ngữ cảnh b</a:t>
            </a:r>
            <a:r>
              <a:rPr lang="en-US" altLang="en-US" sz="1800">
                <a:solidFill>
                  <a:schemeClr val="tx1"/>
                </a:solidFill>
              </a:rPr>
              <a:t>ê</a:t>
            </a:r>
            <a:r>
              <a:rPr lang="en-US" altLang="en-GB" sz="1800">
                <a:solidFill>
                  <a:schemeClr val="tx1"/>
                </a:solidFill>
              </a:rPr>
              <a:t>n tr</a:t>
            </a:r>
            <a:r>
              <a:rPr lang="en-US" altLang="en-US" sz="1800">
                <a:solidFill>
                  <a:schemeClr val="tx1"/>
                </a:solidFill>
              </a:rPr>
              <a:t>á</a:t>
            </a:r>
            <a:r>
              <a:rPr lang="en-US" altLang="en-GB" sz="1800">
                <a:solidFill>
                  <a:schemeClr val="tx1"/>
                </a:solidFill>
              </a:rPr>
              <a:t>i lẫn b</a:t>
            </a:r>
            <a:r>
              <a:rPr lang="en-US" altLang="en-US" sz="1800">
                <a:solidFill>
                  <a:schemeClr val="tx1"/>
                </a:solidFill>
              </a:rPr>
              <a:t>ê</a:t>
            </a:r>
            <a:r>
              <a:rPr lang="en-US" altLang="en-GB" sz="1800">
                <a:solidFill>
                  <a:schemeClr val="tx1"/>
                </a:solidFill>
              </a:rPr>
              <a:t>n phải c</a:t>
            </a:r>
            <a:r>
              <a:rPr lang="en-US" altLang="en-US" sz="1800">
                <a:solidFill>
                  <a:schemeClr val="tx1"/>
                </a:solidFill>
              </a:rPr>
              <a:t>ù</a:t>
            </a:r>
            <a:r>
              <a:rPr lang="en-US" altLang="en-GB" sz="1800">
                <a:solidFill>
                  <a:schemeClr val="tx1"/>
                </a:solidFill>
              </a:rPr>
              <a:t>ng l</a:t>
            </a:r>
            <a:r>
              <a:rPr lang="en-US" altLang="en-US" sz="1800">
                <a:solidFill>
                  <a:schemeClr val="tx1"/>
                </a:solidFill>
              </a:rPr>
              <a:t>ú</a:t>
            </a:r>
            <a:r>
              <a:rPr lang="en-US" altLang="en-GB" sz="1800">
                <a:solidFill>
                  <a:schemeClr val="tx1"/>
                </a:solidFill>
              </a:rPr>
              <a:t>c, nhờ kỹ thuật huấn luyện Masked Language Model (MLM) (che ngẫu nhi</a:t>
            </a:r>
            <a:r>
              <a:rPr lang="en-US" altLang="en-US" sz="1800">
                <a:solidFill>
                  <a:schemeClr val="tx1"/>
                </a:solidFill>
              </a:rPr>
              <a:t>ê</a:t>
            </a:r>
            <a:r>
              <a:rPr lang="en-US" altLang="en-GB" sz="1800">
                <a:solidFill>
                  <a:schemeClr val="tx1"/>
                </a:solidFill>
              </a:rPr>
              <a:t>n một số từ rồi bắt model </a:t>
            </a:r>
            <a:r>
              <a:rPr lang="en-US" altLang="en-US" sz="1800">
                <a:solidFill>
                  <a:schemeClr val="tx1"/>
                </a:solidFill>
              </a:rPr>
              <a:t>đ</a:t>
            </a:r>
            <a:r>
              <a:rPr lang="en-US" altLang="en-GB" sz="1800">
                <a:solidFill>
                  <a:schemeClr val="tx1"/>
                </a:solidFill>
              </a:rPr>
              <a:t>o</a:t>
            </a:r>
            <a:r>
              <a:rPr lang="en-US" altLang="en-US" sz="1800">
                <a:solidFill>
                  <a:schemeClr val="tx1"/>
                </a:solidFill>
              </a:rPr>
              <a:t>á</a:t>
            </a:r>
            <a:r>
              <a:rPr lang="en-US" altLang="en-GB" sz="1800">
                <a:solidFill>
                  <a:schemeClr val="tx1"/>
                </a:solidFill>
              </a:rPr>
              <a:t>n lại) và Next Sentence Prediction (NSP).</a:t>
            </a:r>
            <a:br>
              <a:rPr lang="en-US" altLang="en-GB" sz="1800">
                <a:solidFill>
                  <a:schemeClr val="tx1"/>
                </a:solidFill>
              </a:rPr>
            </a:br>
            <a:br>
              <a:rPr lang="en-US" altLang="en-GB" sz="1800">
                <a:solidFill>
                  <a:schemeClr val="tx1"/>
                </a:solidFill>
              </a:rPr>
            </a:br>
            <a:r>
              <a:rPr lang="en-US" altLang="en-GB" sz="1800">
                <a:solidFill>
                  <a:schemeClr val="tx1"/>
                </a:solidFill>
              </a:rPr>
              <a:t>+ kiến tr</a:t>
            </a:r>
            <a:r>
              <a:rPr lang="en-US" altLang="en-US" sz="1800">
                <a:solidFill>
                  <a:schemeClr val="tx1"/>
                </a:solidFill>
              </a:rPr>
              <a:t>ú</a:t>
            </a:r>
            <a:r>
              <a:rPr lang="en-US" altLang="en-GB" sz="1800">
                <a:solidFill>
                  <a:schemeClr val="tx1"/>
                </a:solidFill>
              </a:rPr>
              <a:t>c của BERT là một Encoder Transformer 2 chiều nhiều lớp (multi layer bidirectional transformer encoder).</a:t>
            </a:r>
            <a:br>
              <a:rPr lang="en-US" altLang="en-GB" sz="1800">
                <a:solidFill>
                  <a:schemeClr val="tx1"/>
                </a:solidFill>
              </a:rPr>
            </a:br>
            <a:br>
              <a:rPr lang="en-US" altLang="en-GB" sz="1800">
                <a:solidFill>
                  <a:schemeClr val="tx1"/>
                </a:solidFill>
              </a:rPr>
            </a:br>
            <a:r>
              <a:rPr lang="en-US" altLang="en-GB" sz="1800">
                <a:solidFill>
                  <a:schemeClr val="tx1"/>
                </a:solidFill>
              </a:rPr>
              <a:t>+ Trong giai </a:t>
            </a:r>
            <a:r>
              <a:rPr lang="en-US" altLang="en-US" sz="1800">
                <a:solidFill>
                  <a:schemeClr val="tx1"/>
                </a:solidFill>
              </a:rPr>
              <a:t>đ</a:t>
            </a:r>
            <a:r>
              <a:rPr lang="en-US" altLang="en-GB" sz="1800">
                <a:solidFill>
                  <a:schemeClr val="tx1"/>
                </a:solidFill>
              </a:rPr>
              <a:t>oạn fine-tune, mô h</a:t>
            </a:r>
            <a:r>
              <a:rPr lang="en-US" altLang="en-US" sz="1800">
                <a:solidFill>
                  <a:schemeClr val="tx1"/>
                </a:solidFill>
              </a:rPr>
              <a:t>ì</a:t>
            </a:r>
            <a:r>
              <a:rPr lang="en-US" altLang="en-GB" sz="1800">
                <a:solidFill>
                  <a:schemeClr val="tx1"/>
                </a:solidFill>
              </a:rPr>
              <a:t>nh pre-trained BERT c</a:t>
            </a:r>
            <a:r>
              <a:rPr lang="en-US" altLang="en-US" sz="1800">
                <a:solidFill>
                  <a:schemeClr val="tx1"/>
                </a:solidFill>
              </a:rPr>
              <a:t>ó</a:t>
            </a:r>
            <a:r>
              <a:rPr lang="en-US" altLang="en-GB" sz="1800">
                <a:solidFill>
                  <a:schemeClr val="tx1"/>
                </a:solidFill>
              </a:rPr>
              <a:t> thể dễ dàng th</a:t>
            </a:r>
            <a:r>
              <a:rPr lang="en-US" altLang="en-US" sz="1800">
                <a:solidFill>
                  <a:schemeClr val="tx1"/>
                </a:solidFill>
              </a:rPr>
              <a:t>í</a:t>
            </a:r>
            <a:r>
              <a:rPr lang="en-US" altLang="en-GB" sz="1800">
                <a:solidFill>
                  <a:schemeClr val="tx1"/>
                </a:solidFill>
              </a:rPr>
              <a:t>ch ứng với nhiều bài to</a:t>
            </a:r>
            <a:r>
              <a:rPr lang="en-US" altLang="en-US" sz="1800">
                <a:solidFill>
                  <a:schemeClr val="tx1"/>
                </a:solidFill>
              </a:rPr>
              <a:t>á</a:t>
            </a:r>
            <a:r>
              <a:rPr lang="en-US" altLang="en-GB" sz="1800">
                <a:solidFill>
                  <a:schemeClr val="tx1"/>
                </a:solidFill>
              </a:rPr>
              <a:t>n kh</a:t>
            </a:r>
            <a:r>
              <a:rPr lang="en-US" altLang="en-US" sz="1800">
                <a:solidFill>
                  <a:schemeClr val="tx1"/>
                </a:solidFill>
              </a:rPr>
              <a:t>á</a:t>
            </a:r>
            <a:r>
              <a:rPr lang="en-US" altLang="en-GB" sz="1800">
                <a:solidFill>
                  <a:schemeClr val="tx1"/>
                </a:solidFill>
              </a:rPr>
              <a:t>c nhau (nh</a:t>
            </a:r>
            <a:r>
              <a:rPr lang="en-US" altLang="en-US" sz="1800">
                <a:solidFill>
                  <a:schemeClr val="tx1"/>
                </a:solidFill>
              </a:rPr>
              <a:t>ư</a:t>
            </a:r>
            <a:r>
              <a:rPr lang="en-US" altLang="en-GB" sz="1800">
                <a:solidFill>
                  <a:schemeClr val="tx1"/>
                </a:solidFill>
              </a:rPr>
              <a:t> hỏi </a:t>
            </a:r>
            <a:r>
              <a:rPr lang="en-US" altLang="en-US" sz="1800">
                <a:solidFill>
                  <a:schemeClr val="tx1"/>
                </a:solidFill>
              </a:rPr>
              <a:t>đ</a:t>
            </a:r>
            <a:r>
              <a:rPr lang="en-US" altLang="en-US" sz="1800">
                <a:solidFill>
                  <a:schemeClr val="tx1"/>
                </a:solidFill>
              </a:rPr>
              <a:t>áp</a:t>
            </a:r>
            <a:r>
              <a:rPr lang="en-US" altLang="en-GB" sz="1800">
                <a:solidFill>
                  <a:schemeClr val="tx1"/>
                </a:solidFill>
              </a:rPr>
              <a:t>, ph</a:t>
            </a:r>
            <a:r>
              <a:rPr lang="en-US" altLang="en-US" sz="1800">
                <a:solidFill>
                  <a:schemeClr val="tx1"/>
                </a:solidFill>
              </a:rPr>
              <a:t>â</a:t>
            </a:r>
            <a:r>
              <a:rPr lang="en-US" altLang="en-GB" sz="1800">
                <a:solidFill>
                  <a:schemeClr val="tx1"/>
                </a:solidFill>
              </a:rPr>
              <a:t>n loại v</a:t>
            </a:r>
            <a:r>
              <a:rPr lang="en-US" altLang="en-US" sz="1800">
                <a:solidFill>
                  <a:schemeClr val="tx1"/>
                </a:solidFill>
              </a:rPr>
              <a:t>ă</a:t>
            </a:r>
            <a:r>
              <a:rPr lang="en-US" altLang="en-GB" sz="1800">
                <a:solidFill>
                  <a:schemeClr val="tx1"/>
                </a:solidFill>
              </a:rPr>
              <a:t>n bản) chỉ bằng c</a:t>
            </a:r>
            <a:r>
              <a:rPr lang="en-US" altLang="en-US" sz="1800">
                <a:solidFill>
                  <a:schemeClr val="tx1"/>
                </a:solidFill>
              </a:rPr>
              <a:t>á</a:t>
            </a:r>
            <a:r>
              <a:rPr lang="en-US" altLang="en-GB" sz="1800">
                <a:solidFill>
                  <a:schemeClr val="tx1"/>
                </a:solidFill>
              </a:rPr>
              <a:t>ch th</a:t>
            </a:r>
            <a:r>
              <a:rPr lang="en-US" altLang="en-US" sz="1800">
                <a:solidFill>
                  <a:schemeClr val="tx1"/>
                </a:solidFill>
              </a:rPr>
              <a:t>ê</a:t>
            </a:r>
            <a:r>
              <a:rPr lang="en-US" altLang="en-GB" sz="1800">
                <a:solidFill>
                  <a:schemeClr val="tx1"/>
                </a:solidFill>
              </a:rPr>
              <a:t>m vào một lớp output layer duy nhất mà không cần sửa </a:t>
            </a:r>
            <a:r>
              <a:rPr lang="en-US" altLang="en-US" sz="1800">
                <a:solidFill>
                  <a:schemeClr val="tx1"/>
                </a:solidFill>
              </a:rPr>
              <a:t>đ</a:t>
            </a:r>
            <a:r>
              <a:rPr lang="en-US" altLang="en-GB" sz="1800">
                <a:solidFill>
                  <a:schemeClr val="tx1"/>
                </a:solidFill>
              </a:rPr>
              <a:t>ổi nhiều kiến tr</a:t>
            </a:r>
            <a:r>
              <a:rPr lang="en-US" altLang="en-US" sz="1800">
                <a:solidFill>
                  <a:schemeClr val="tx1"/>
                </a:solidFill>
              </a:rPr>
              <a:t>ú</a:t>
            </a:r>
            <a:r>
              <a:rPr lang="en-US" altLang="en-GB" sz="1800">
                <a:solidFill>
                  <a:schemeClr val="tx1"/>
                </a:solidFill>
              </a:rPr>
              <a:t>c </a:t>
            </a:r>
            <a:r>
              <a:rPr lang="en-US" altLang="en-US" sz="1800">
                <a:solidFill>
                  <a:schemeClr val="tx1"/>
                </a:solidFill>
              </a:rPr>
              <a:t>đ</a:t>
            </a:r>
            <a:r>
              <a:rPr lang="en-US" altLang="en-GB" sz="1800">
                <a:solidFill>
                  <a:schemeClr val="tx1"/>
                </a:solidFill>
              </a:rPr>
              <a:t>ặc th</a:t>
            </a:r>
            <a:r>
              <a:rPr lang="en-US" altLang="en-US" sz="1800">
                <a:solidFill>
                  <a:schemeClr val="tx1"/>
                </a:solidFill>
              </a:rPr>
              <a:t>ù</a:t>
            </a:r>
            <a:r>
              <a:rPr lang="en-US" altLang="en-GB" sz="1800">
                <a:solidFill>
                  <a:schemeClr val="tx1"/>
                </a:solidFill>
              </a:rPr>
              <a:t> của bài to</a:t>
            </a:r>
            <a:r>
              <a:rPr lang="en-US" altLang="en-US" sz="1800">
                <a:solidFill>
                  <a:schemeClr val="tx1"/>
                </a:solidFill>
              </a:rPr>
              <a:t>á</a:t>
            </a:r>
            <a:r>
              <a:rPr lang="en-US" altLang="en-GB" sz="1800">
                <a:solidFill>
                  <a:schemeClr val="tx1"/>
                </a:solidFill>
              </a:rPr>
              <a:t>n </a:t>
            </a:r>
            <a:r>
              <a:rPr lang="en-US" altLang="en-US" sz="1800">
                <a:solidFill>
                  <a:schemeClr val="tx1"/>
                </a:solidFill>
              </a:rPr>
              <a:t>đ</a:t>
            </a:r>
            <a:r>
              <a:rPr lang="en-US" altLang="en-US" sz="1800">
                <a:solidFill>
                  <a:schemeClr val="tx1"/>
                </a:solidFill>
              </a:rPr>
              <a:t>ó.</a:t>
            </a:r>
            <a:br>
              <a:rPr lang="en-US" altLang="en-US" sz="1800">
                <a:solidFill>
                  <a:schemeClr val="tx1"/>
                </a:solidFill>
              </a:rPr>
            </a:br>
            <a:br>
              <a:rPr lang="en-US" altLang="en-US" sz="1800">
                <a:solidFill>
                  <a:schemeClr val="tx1"/>
                </a:solidFill>
              </a:rPr>
            </a:br>
            <a:r>
              <a:rPr lang="en-US" altLang="en-GB" sz="1800">
                <a:solidFill>
                  <a:srgbClr val="0070C0"/>
                </a:solidFill>
              </a:rPr>
              <a:t>T</a:t>
            </a:r>
            <a:r>
              <a:rPr lang="en-US" altLang="en-US" sz="1800">
                <a:solidFill>
                  <a:srgbClr val="0070C0"/>
                </a:solidFill>
              </a:rPr>
              <a:t>ó</a:t>
            </a:r>
            <a:r>
              <a:rPr lang="en-US" altLang="en-GB" sz="1800">
                <a:solidFill>
                  <a:srgbClr val="0070C0"/>
                </a:solidFill>
              </a:rPr>
              <a:t>m gọn quan hệ giữa BERT và Transformer:</a:t>
            </a:r>
            <a:br>
              <a:rPr lang="en-US" altLang="en-GB" sz="1800">
                <a:solidFill>
                  <a:schemeClr val="tx1"/>
                </a:solidFill>
              </a:rPr>
            </a:br>
            <a:r>
              <a:rPr lang="en-US" altLang="en-GB" sz="1800">
                <a:solidFill>
                  <a:schemeClr val="tx1"/>
                </a:solidFill>
              </a:rPr>
              <a:t>Transformer (2017) là kiến tr</a:t>
            </a:r>
            <a:r>
              <a:rPr lang="en-US" altLang="en-US" sz="1800">
                <a:solidFill>
                  <a:schemeClr val="tx1"/>
                </a:solidFill>
              </a:rPr>
              <a:t>ú</a:t>
            </a:r>
            <a:r>
              <a:rPr lang="en-US" altLang="en-GB" sz="1800">
                <a:solidFill>
                  <a:schemeClr val="tx1"/>
                </a:solidFill>
              </a:rPr>
              <a:t>c gốc gồm Encoder + Decoder:</a:t>
            </a:r>
            <a:br>
              <a:rPr lang="en-US" altLang="en-GB" sz="1800">
                <a:solidFill>
                  <a:schemeClr val="tx1"/>
                </a:solidFill>
              </a:rPr>
            </a:br>
            <a:r>
              <a:rPr lang="en-US" altLang="en-GB" sz="1800">
                <a:solidFill>
                  <a:schemeClr val="tx1"/>
                </a:solidFill>
              </a:rPr>
              <a:t>	Chỉ lấy Encoder, huấn luyện 2 chiều  </a:t>
            </a:r>
            <a:r>
              <a:rPr lang="en-US" altLang="en-US" sz="1800">
                <a:solidFill>
                  <a:schemeClr val="tx1"/>
                </a:solidFill>
              </a:rPr>
              <a:t>-&gt; </a:t>
            </a:r>
            <a:r>
              <a:rPr lang="en-US" altLang="en-GB" sz="1800">
                <a:solidFill>
                  <a:schemeClr val="tx1"/>
                </a:solidFill>
              </a:rPr>
              <a:t>BERT (2018) hiểu ngôn ngữ (NLU)</a:t>
            </a:r>
            <a:br>
              <a:rPr lang="en-US" altLang="en-US" sz="1800">
                <a:solidFill>
                  <a:schemeClr val="tx1"/>
                </a:solidFill>
              </a:rPr>
            </a:br>
            <a:r>
              <a:rPr lang="en-US" altLang="en-US" sz="1800">
                <a:solidFill>
                  <a:schemeClr val="tx1"/>
                </a:solidFill>
              </a:rPr>
              <a:t>	</a:t>
            </a:r>
            <a:r>
              <a:rPr lang="en-US" altLang="en-GB" sz="1800">
                <a:solidFill>
                  <a:schemeClr val="tx1"/>
                </a:solidFill>
              </a:rPr>
              <a:t>Chỉ lấy Decoder, huấn luyện 1 chiều  </a:t>
            </a:r>
            <a:r>
              <a:rPr lang="en-US" altLang="en-US" sz="1800">
                <a:solidFill>
                  <a:schemeClr val="tx1"/>
                </a:solidFill>
              </a:rPr>
              <a:t>-&gt; </a:t>
            </a:r>
            <a:r>
              <a:rPr lang="en-US" altLang="en-GB" sz="1800">
                <a:solidFill>
                  <a:schemeClr val="tx1"/>
                </a:solidFill>
              </a:rPr>
              <a:t>GPT (2018) sinh ngôn ngữ (NLG)</a:t>
            </a:r>
            <a:endParaRPr lang="en-US" altLang="en-GB" sz="180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59690"/>
            <a:ext cx="6127115" cy="6635750"/>
          </a:xfrm>
        </p:spPr>
        <p:txBody>
          <a:bodyPr>
            <a:noAutofit/>
          </a:bodyPr>
          <a:p>
            <a:r>
              <a:rPr lang="en-US" altLang="en-GB" sz="3500"/>
              <a:t>4. Kiến trúc SBERT</a:t>
            </a:r>
            <a:br>
              <a:rPr lang="en-US" altLang="en-GB" sz="3500"/>
            </a:br>
            <a:br>
              <a:rPr lang="en-US" altLang="en-GB" sz="1800">
                <a:solidFill>
                  <a:schemeClr val="tx1"/>
                </a:solidFill>
                <a:highlight>
                  <a:srgbClr val="FFFF00"/>
                </a:highlight>
              </a:rPr>
            </a:br>
            <a:r>
              <a:rPr lang="en-US" altLang="en-GB" sz="1800">
                <a:solidFill>
                  <a:schemeClr val="tx1"/>
                </a:solidFill>
                <a:highlight>
                  <a:srgbClr val="FFFF00"/>
                </a:highlight>
              </a:rPr>
              <a:t>4.1. Lớp Pooling</a:t>
            </a:r>
            <a:br>
              <a:rPr lang="en-US" altLang="en-GB" sz="1800">
                <a:solidFill>
                  <a:schemeClr val="tx1"/>
                </a:solidFill>
              </a:rPr>
            </a:br>
            <a:br>
              <a:rPr lang="en-US" altLang="en-GB" sz="1800">
                <a:solidFill>
                  <a:schemeClr val="tx1"/>
                </a:solidFill>
              </a:rPr>
            </a:br>
            <a:r>
              <a:rPr lang="en-US" altLang="en-GB" sz="1800">
                <a:solidFill>
                  <a:schemeClr val="tx1"/>
                </a:solidFill>
              </a:rPr>
              <a:t>Đầu ra gốc của BERT là một chuỗi vector với mỗi vector ứng với một token trong c</a:t>
            </a:r>
            <a:r>
              <a:rPr lang="en-US" altLang="en-US" sz="1800">
                <a:solidFill>
                  <a:schemeClr val="tx1"/>
                </a:solidFill>
              </a:rPr>
              <a:t>â</a:t>
            </a:r>
            <a:r>
              <a:rPr lang="en-US" altLang="en-GB" sz="1800">
                <a:solidFill>
                  <a:schemeClr val="tx1"/>
                </a:solidFill>
              </a:rPr>
              <a:t>u chứ ch</a:t>
            </a:r>
            <a:r>
              <a:rPr lang="en-US" altLang="en-US" sz="1800">
                <a:solidFill>
                  <a:schemeClr val="tx1"/>
                </a:solidFill>
              </a:rPr>
              <a:t>ư</a:t>
            </a:r>
            <a:r>
              <a:rPr lang="en-US" altLang="en-GB" sz="1800">
                <a:solidFill>
                  <a:schemeClr val="tx1"/>
                </a:solidFill>
              </a:rPr>
              <a:t>a phải một vector </a:t>
            </a:r>
            <a:r>
              <a:rPr lang="en-US" altLang="en-US" sz="1800">
                <a:solidFill>
                  <a:schemeClr val="tx1"/>
                </a:solidFill>
              </a:rPr>
              <a:t>đ</a:t>
            </a:r>
            <a:r>
              <a:rPr lang="en-US" altLang="en-GB" sz="1800">
                <a:solidFill>
                  <a:schemeClr val="tx1"/>
                </a:solidFill>
              </a:rPr>
              <a:t>ại diện duy nhất cho cả c</a:t>
            </a:r>
            <a:r>
              <a:rPr lang="en-US" altLang="en-US" sz="1800">
                <a:solidFill>
                  <a:schemeClr val="tx1"/>
                </a:solidFill>
              </a:rPr>
              <a:t>â</a:t>
            </a:r>
            <a:r>
              <a:rPr lang="en-US" altLang="en-GB" sz="1800">
                <a:solidFill>
                  <a:schemeClr val="tx1"/>
                </a:solidFill>
              </a:rPr>
              <a:t>u. V</a:t>
            </a:r>
            <a:r>
              <a:rPr lang="en-US" altLang="en-US" sz="1800">
                <a:solidFill>
                  <a:schemeClr val="tx1"/>
                </a:solidFill>
              </a:rPr>
              <a:t>ì</a:t>
            </a:r>
            <a:r>
              <a:rPr lang="en-US" altLang="en-GB" sz="1800">
                <a:solidFill>
                  <a:schemeClr val="tx1"/>
                </a:solidFill>
              </a:rPr>
              <a:t> vậy, SBERT bổ sung th</a:t>
            </a:r>
            <a:r>
              <a:rPr lang="en-US" altLang="en-US" sz="1800">
                <a:solidFill>
                  <a:schemeClr val="tx1"/>
                </a:solidFill>
              </a:rPr>
              <a:t>ê</a:t>
            </a:r>
            <a:r>
              <a:rPr lang="en-US" altLang="en-GB" sz="1800">
                <a:solidFill>
                  <a:schemeClr val="tx1"/>
                </a:solidFill>
              </a:rPr>
              <a:t>m một lớp Pooling ngay sau </a:t>
            </a:r>
            <a:r>
              <a:rPr lang="en-US" altLang="en-US" sz="1800">
                <a:solidFill>
                  <a:schemeClr val="tx1"/>
                </a:solidFill>
              </a:rPr>
              <a:t>đ</a:t>
            </a:r>
            <a:r>
              <a:rPr lang="en-US" altLang="en-GB" sz="1800">
                <a:solidFill>
                  <a:schemeClr val="tx1"/>
                </a:solidFill>
              </a:rPr>
              <a:t>ầu ra của BERT/RoBERTa </a:t>
            </a:r>
            <a:r>
              <a:rPr lang="en-US" altLang="en-US" sz="1800">
                <a:solidFill>
                  <a:schemeClr val="tx1"/>
                </a:solidFill>
              </a:rPr>
              <a:t>đ</a:t>
            </a:r>
            <a:r>
              <a:rPr lang="en-US" altLang="en-GB" sz="1800">
                <a:solidFill>
                  <a:schemeClr val="tx1"/>
                </a:solidFill>
              </a:rPr>
              <a:t>ể cô </a:t>
            </a:r>
            <a:r>
              <a:rPr lang="en-US" altLang="en-US" sz="1800">
                <a:solidFill>
                  <a:schemeClr val="tx1"/>
                </a:solidFill>
              </a:rPr>
              <a:t>đ</a:t>
            </a:r>
            <a:r>
              <a:rPr lang="en-US" altLang="en-GB" sz="1800">
                <a:solidFill>
                  <a:schemeClr val="tx1"/>
                </a:solidFill>
              </a:rPr>
              <a:t>ặc toàn bộ c</a:t>
            </a:r>
            <a:r>
              <a:rPr lang="en-US" altLang="en-US" sz="1800">
                <a:solidFill>
                  <a:schemeClr val="tx1"/>
                </a:solidFill>
              </a:rPr>
              <a:t>á</a:t>
            </a:r>
            <a:r>
              <a:rPr lang="en-US" altLang="en-GB" sz="1800">
                <a:solidFill>
                  <a:schemeClr val="tx1"/>
                </a:solidFill>
              </a:rPr>
              <a:t>c vector token </a:t>
            </a:r>
            <a:r>
              <a:rPr lang="en-US" altLang="en-US" sz="1800">
                <a:solidFill>
                  <a:schemeClr val="tx1"/>
                </a:solidFill>
              </a:rPr>
              <a:t>đó</a:t>
            </a:r>
            <a:r>
              <a:rPr lang="en-US" altLang="en-GB" sz="1800">
                <a:solidFill>
                  <a:schemeClr val="tx1"/>
                </a:solidFill>
              </a:rPr>
              <a:t> thành một vector c</a:t>
            </a:r>
            <a:r>
              <a:rPr lang="en-US" altLang="en-US" sz="1800">
                <a:solidFill>
                  <a:schemeClr val="tx1"/>
                </a:solidFill>
              </a:rPr>
              <a:t>ó</a:t>
            </a:r>
            <a:r>
              <a:rPr lang="en-US" altLang="en-GB" sz="1800">
                <a:solidFill>
                  <a:schemeClr val="tx1"/>
                </a:solidFill>
              </a:rPr>
              <a:t> k</a:t>
            </a:r>
            <a:r>
              <a:rPr lang="en-US" altLang="en-US" sz="1800">
                <a:solidFill>
                  <a:schemeClr val="tx1"/>
                </a:solidFill>
              </a:rPr>
              <a:t>í</a:t>
            </a:r>
            <a:r>
              <a:rPr lang="en-US" altLang="en-GB" sz="1800">
                <a:solidFill>
                  <a:schemeClr val="tx1"/>
                </a:solidFill>
              </a:rPr>
              <a:t>ch th</a:t>
            </a:r>
            <a:r>
              <a:rPr lang="en-US" altLang="en-US" sz="1800">
                <a:solidFill>
                  <a:schemeClr val="tx1"/>
                </a:solidFill>
              </a:rPr>
              <a:t>ư</a:t>
            </a:r>
            <a:r>
              <a:rPr lang="en-US" altLang="en-GB" sz="1800">
                <a:solidFill>
                  <a:schemeClr val="tx1"/>
                </a:solidFill>
              </a:rPr>
              <a:t>ớc cố </a:t>
            </a:r>
            <a:r>
              <a:rPr lang="en-US" altLang="en-US" sz="1800">
                <a:solidFill>
                  <a:schemeClr val="tx1"/>
                </a:solidFill>
              </a:rPr>
              <a:t>đ</a:t>
            </a:r>
            <a:r>
              <a:rPr lang="en-US" altLang="en-GB" sz="1800">
                <a:solidFill>
                  <a:schemeClr val="tx1"/>
                </a:solidFill>
              </a:rPr>
              <a:t>ịnh, </a:t>
            </a:r>
            <a:r>
              <a:rPr lang="en-US" altLang="en-US" sz="1800">
                <a:solidFill>
                  <a:schemeClr val="tx1"/>
                </a:solidFill>
              </a:rPr>
              <a:t>đ</a:t>
            </a:r>
            <a:r>
              <a:rPr lang="en-US" altLang="en-GB" sz="1800">
                <a:solidFill>
                  <a:schemeClr val="tx1"/>
                </a:solidFill>
              </a:rPr>
              <a:t>ại diện cho toàn bộ c</a:t>
            </a:r>
            <a:r>
              <a:rPr lang="en-US" altLang="en-US" sz="1800">
                <a:solidFill>
                  <a:schemeClr val="tx1"/>
                </a:solidFill>
              </a:rPr>
              <a:t>â</a:t>
            </a:r>
            <a:r>
              <a:rPr lang="en-US" altLang="en-GB" sz="1800">
                <a:solidFill>
                  <a:schemeClr val="tx1"/>
                </a:solidFill>
              </a:rPr>
              <a:t>u. Nh</a:t>
            </a:r>
            <a:r>
              <a:rPr lang="en-US" altLang="en-US" sz="1800">
                <a:solidFill>
                  <a:schemeClr val="tx1"/>
                </a:solidFill>
              </a:rPr>
              <a:t>ó</a:t>
            </a:r>
            <a:r>
              <a:rPr lang="en-US" altLang="en-GB" sz="1800">
                <a:solidFill>
                  <a:schemeClr val="tx1"/>
                </a:solidFill>
              </a:rPr>
              <a:t>m t</a:t>
            </a:r>
            <a:r>
              <a:rPr lang="en-US" altLang="en-US" sz="1800">
                <a:solidFill>
                  <a:schemeClr val="tx1"/>
                </a:solidFill>
              </a:rPr>
              <a:t>á</a:t>
            </a:r>
            <a:r>
              <a:rPr lang="en-US" altLang="en-GB" sz="1800">
                <a:solidFill>
                  <a:schemeClr val="tx1"/>
                </a:solidFill>
              </a:rPr>
              <a:t>c giả thử nghiệm ba chiến l</a:t>
            </a:r>
            <a:r>
              <a:rPr lang="en-US" altLang="en-US" sz="1800">
                <a:solidFill>
                  <a:schemeClr val="tx1"/>
                </a:solidFill>
              </a:rPr>
              <a:t>ư</a:t>
            </a:r>
            <a:r>
              <a:rPr lang="en-US" altLang="en-GB" sz="1800">
                <a:solidFill>
                  <a:schemeClr val="tx1"/>
                </a:solidFill>
              </a:rPr>
              <a:t>ợc pooling:</a:t>
            </a:r>
            <a:br>
              <a:rPr lang="en-US" altLang="en-GB" sz="1800">
                <a:solidFill>
                  <a:schemeClr val="tx1"/>
                </a:solidFill>
              </a:rPr>
            </a:br>
            <a:r>
              <a:rPr lang="en-US" altLang="en-GB" sz="1800">
                <a:solidFill>
                  <a:schemeClr val="tx1"/>
                </a:solidFill>
              </a:rPr>
              <a:t>	CLS-token: chỉ lấy vector </a:t>
            </a:r>
            <a:r>
              <a:rPr lang="en-US" altLang="en-US" sz="1800">
                <a:solidFill>
                  <a:schemeClr val="tx1"/>
                </a:solidFill>
              </a:rPr>
              <a:t>đ</a:t>
            </a:r>
            <a:r>
              <a:rPr lang="en-US" altLang="en-GB" sz="1800">
                <a:solidFill>
                  <a:schemeClr val="tx1"/>
                </a:solidFill>
              </a:rPr>
              <a:t>ầu ra tại vị tr</a:t>
            </a:r>
            <a:r>
              <a:rPr lang="en-US" altLang="en-US" sz="1800">
                <a:solidFill>
                  <a:schemeClr val="tx1"/>
                </a:solidFill>
              </a:rPr>
              <a:t>í</a:t>
            </a:r>
            <a:r>
              <a:rPr lang="en-US" altLang="en-GB" sz="1800">
                <a:solidFill>
                  <a:schemeClr val="tx1"/>
                </a:solidFill>
              </a:rPr>
              <a:t> token [CLS]</a:t>
            </a:r>
            <a:br>
              <a:rPr lang="en-US" altLang="en-GB" sz="1800">
                <a:solidFill>
                  <a:schemeClr val="tx1"/>
                </a:solidFill>
              </a:rPr>
            </a:br>
            <a:r>
              <a:rPr lang="en-US" altLang="en-GB" sz="1800">
                <a:solidFill>
                  <a:schemeClr val="tx1"/>
                </a:solidFill>
              </a:rPr>
              <a:t>	MEAN: t</a:t>
            </a:r>
            <a:r>
              <a:rPr lang="en-US" altLang="en-US" sz="1800">
                <a:solidFill>
                  <a:schemeClr val="tx1"/>
                </a:solidFill>
              </a:rPr>
              <a:t>í</a:t>
            </a:r>
            <a:r>
              <a:rPr lang="en-US" altLang="en-GB" sz="1800">
                <a:solidFill>
                  <a:schemeClr val="tx1"/>
                </a:solidFill>
              </a:rPr>
              <a:t>nh trung b</a:t>
            </a:r>
            <a:r>
              <a:rPr lang="en-US" altLang="en-US" sz="1800">
                <a:solidFill>
                  <a:schemeClr val="tx1"/>
                </a:solidFill>
              </a:rPr>
              <a:t>ì</a:t>
            </a:r>
            <a:r>
              <a:rPr lang="en-US" altLang="en-GB" sz="1800">
                <a:solidFill>
                  <a:schemeClr val="tx1"/>
                </a:solidFill>
              </a:rPr>
              <a:t>nh cộng của tất cả vector token </a:t>
            </a:r>
            <a:r>
              <a:rPr lang="en-US" altLang="en-US" sz="1800">
                <a:solidFill>
                  <a:schemeClr val="tx1"/>
                </a:solidFill>
              </a:rPr>
              <a:t>đ</a:t>
            </a:r>
            <a:r>
              <a:rPr lang="en-US" altLang="en-GB" sz="1800">
                <a:solidFill>
                  <a:schemeClr val="tx1"/>
                </a:solidFill>
              </a:rPr>
              <a:t>ầu ra</a:t>
            </a:r>
            <a:br>
              <a:rPr lang="en-US" altLang="en-GB" sz="1800">
                <a:solidFill>
                  <a:schemeClr val="tx1"/>
                </a:solidFill>
              </a:rPr>
            </a:br>
            <a:r>
              <a:rPr lang="en-US" altLang="en-GB" sz="1800">
                <a:solidFill>
                  <a:schemeClr val="tx1"/>
                </a:solidFill>
              </a:rPr>
              <a:t>	MAX: lấy gi</a:t>
            </a:r>
            <a:r>
              <a:rPr lang="en-US" altLang="en-US" sz="1800">
                <a:solidFill>
                  <a:schemeClr val="tx1"/>
                </a:solidFill>
              </a:rPr>
              <a:t>á</a:t>
            </a:r>
            <a:r>
              <a:rPr lang="en-US" altLang="en-GB" sz="1800">
                <a:solidFill>
                  <a:schemeClr val="tx1"/>
                </a:solidFill>
              </a:rPr>
              <a:t> trị lớn nhất theo từng chiều (max-over-time) tr</a:t>
            </a:r>
            <a:r>
              <a:rPr lang="en-US" altLang="en-US" sz="1800">
                <a:solidFill>
                  <a:schemeClr val="tx1"/>
                </a:solidFill>
              </a:rPr>
              <a:t>ê</a:t>
            </a:r>
            <a:r>
              <a:rPr lang="en-US" altLang="en-GB" sz="1800">
                <a:solidFill>
                  <a:schemeClr val="tx1"/>
                </a:solidFill>
              </a:rPr>
              <a:t>n tất cả vector token</a:t>
            </a:r>
            <a:br>
              <a:rPr lang="en-US" altLang="en-GB" sz="1800">
                <a:solidFill>
                  <a:schemeClr val="tx1"/>
                </a:solidFill>
              </a:rPr>
            </a:br>
            <a:br>
              <a:rPr lang="en-US" altLang="en-GB" sz="1800">
                <a:solidFill>
                  <a:schemeClr val="tx1"/>
                </a:solidFill>
              </a:rPr>
            </a:br>
            <a:r>
              <a:rPr lang="en-US" altLang="en-GB" sz="1800">
                <a:solidFill>
                  <a:schemeClr val="tx1"/>
                </a:solidFill>
              </a:rPr>
              <a:t>Cấu h</a:t>
            </a:r>
            <a:r>
              <a:rPr lang="en-US" altLang="en-US" sz="1800">
                <a:solidFill>
                  <a:schemeClr val="tx1"/>
                </a:solidFill>
              </a:rPr>
              <a:t>ì</a:t>
            </a:r>
            <a:r>
              <a:rPr lang="en-US" altLang="en-GB" sz="1800">
                <a:solidFill>
                  <a:schemeClr val="tx1"/>
                </a:solidFill>
              </a:rPr>
              <a:t>nh mặc </a:t>
            </a:r>
            <a:r>
              <a:rPr lang="en-US" altLang="en-US" sz="1800">
                <a:solidFill>
                  <a:schemeClr val="tx1"/>
                </a:solidFill>
              </a:rPr>
              <a:t>đ</a:t>
            </a:r>
            <a:r>
              <a:rPr lang="en-US" altLang="en-GB" sz="1800">
                <a:solidFill>
                  <a:schemeClr val="tx1"/>
                </a:solidFill>
              </a:rPr>
              <a:t>ịnh </a:t>
            </a:r>
            <a:r>
              <a:rPr lang="en-US" altLang="en-US" sz="1800">
                <a:solidFill>
                  <a:schemeClr val="tx1"/>
                </a:solidFill>
              </a:rPr>
              <a:t>đư</a:t>
            </a:r>
            <a:r>
              <a:rPr lang="en-US" altLang="en-GB" sz="1800">
                <a:solidFill>
                  <a:schemeClr val="tx1"/>
                </a:solidFill>
              </a:rPr>
              <a:t>ợc chọn là MEAN pooling vì </a:t>
            </a:r>
            <a:r>
              <a:rPr lang="en-US" altLang="en-US" sz="1800">
                <a:solidFill>
                  <a:schemeClr val="tx1"/>
                </a:solidFill>
              </a:rPr>
              <a:t>đâ</a:t>
            </a:r>
            <a:r>
              <a:rPr lang="en-US" altLang="en-GB" sz="1800">
                <a:solidFill>
                  <a:schemeClr val="tx1"/>
                </a:solidFill>
              </a:rPr>
              <a:t>y là chiến l</a:t>
            </a:r>
            <a:r>
              <a:rPr lang="en-US" altLang="en-US" sz="1800">
                <a:solidFill>
                  <a:schemeClr val="tx1"/>
                </a:solidFill>
              </a:rPr>
              <a:t>ư</a:t>
            </a:r>
            <a:r>
              <a:rPr lang="en-US" altLang="en-GB" sz="1800">
                <a:solidFill>
                  <a:schemeClr val="tx1"/>
                </a:solidFill>
              </a:rPr>
              <a:t>ợc cho hiệu n</a:t>
            </a:r>
            <a:r>
              <a:rPr lang="en-US" altLang="en-US" sz="1800">
                <a:solidFill>
                  <a:schemeClr val="tx1"/>
                </a:solidFill>
              </a:rPr>
              <a:t>ă</a:t>
            </a:r>
            <a:r>
              <a:rPr lang="en-US" altLang="en-GB" sz="1800">
                <a:solidFill>
                  <a:schemeClr val="tx1"/>
                </a:solidFill>
              </a:rPr>
              <a:t>ng tốt và ổn </a:t>
            </a:r>
            <a:r>
              <a:rPr lang="en-US" altLang="en-US" sz="1800">
                <a:solidFill>
                  <a:schemeClr val="tx1"/>
                </a:solidFill>
              </a:rPr>
              <a:t>đ</a:t>
            </a:r>
            <a:r>
              <a:rPr lang="en-US" altLang="en-GB" sz="1800">
                <a:solidFill>
                  <a:schemeClr val="tx1"/>
                </a:solidFill>
              </a:rPr>
              <a:t>ịnh nhất </a:t>
            </a:r>
            <a:r>
              <a:rPr lang="en-US" altLang="en-GB" sz="1800" baseline="30000">
                <a:solidFill>
                  <a:schemeClr val="tx1"/>
                </a:solidFill>
              </a:rPr>
              <a:t>[6]</a:t>
            </a:r>
            <a:r>
              <a:rPr lang="en-US" sz="1800">
                <a:solidFill>
                  <a:schemeClr val="tx1"/>
                </a:solidFill>
              </a:rPr>
              <a:t>.</a:t>
            </a: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500">
                <a:solidFill>
                  <a:schemeClr val="tx1"/>
                </a:solidFill>
              </a:rPr>
            </a:br>
            <a:r>
              <a:rPr lang="en-US" altLang="en-GB" sz="1500">
                <a:solidFill>
                  <a:schemeClr val="tx1"/>
                </a:solidFill>
              </a:rPr>
              <a:t>[</a:t>
            </a:r>
            <a:r>
              <a:rPr lang="en-US" altLang="en-GB" sz="1500">
                <a:solidFill>
                  <a:schemeClr val="tx1"/>
                </a:solidFill>
              </a:rPr>
              <a:t>6]: Theo phần 6. Ablation Study trong </a:t>
            </a:r>
            <a:r>
              <a:rPr lang="en-US" altLang="en-GB" sz="1500">
                <a:sym typeface="+mn-ea"/>
              </a:rPr>
              <a:t>bài báo giới thiệu SBERT (Sentence-BERT: Sentence Embeddings using Siamese BERT-Networks)</a:t>
            </a:r>
            <a:endParaRPr lang="en-US" altLang="en-GB" sz="1800">
              <a:solidFill>
                <a:schemeClr val="tx1"/>
              </a:solidFill>
            </a:endParaRPr>
          </a:p>
        </p:txBody>
      </p:sp>
      <p:pic>
        <p:nvPicPr>
          <p:cNvPr id="2" name="Picture 1"/>
          <p:cNvPicPr>
            <a:picLocks noChangeAspect="1"/>
          </p:cNvPicPr>
          <p:nvPr/>
        </p:nvPicPr>
        <p:blipFill>
          <a:blip r:embed="rId1"/>
          <a:stretch>
            <a:fillRect/>
          </a:stretch>
        </p:blipFill>
        <p:spPr>
          <a:xfrm>
            <a:off x="6795770" y="929005"/>
            <a:ext cx="4975860" cy="49999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59690"/>
            <a:ext cx="11799570" cy="6635750"/>
          </a:xfrm>
        </p:spPr>
        <p:txBody>
          <a:bodyPr>
            <a:noAutofit/>
          </a:bodyPr>
          <a:p>
            <a:r>
              <a:rPr lang="en-US" altLang="en-GB" sz="3500"/>
              <a:t>4. Kiến trúc SBERT</a:t>
            </a:r>
            <a:br>
              <a:rPr lang="en-US" altLang="en-GB" sz="3500"/>
            </a:br>
            <a:br>
              <a:rPr lang="en-US" altLang="en-GB" sz="1800">
                <a:solidFill>
                  <a:schemeClr val="tx1"/>
                </a:solidFill>
                <a:highlight>
                  <a:srgbClr val="FFFF00"/>
                </a:highlight>
              </a:rPr>
            </a:br>
            <a:r>
              <a:rPr lang="en-US" altLang="en-GB" sz="1800">
                <a:highlight>
                  <a:srgbClr val="FFFF00"/>
                </a:highlight>
                <a:sym typeface="+mn-ea"/>
              </a:rPr>
              <a:t>4.2. </a:t>
            </a:r>
            <a:r>
              <a:rPr lang="en-US" sz="1800">
                <a:highlight>
                  <a:srgbClr val="FFFF00"/>
                </a:highlight>
                <a:sym typeface="+mn-ea"/>
              </a:rPr>
              <a:t>Hàm mục tiêu</a:t>
            </a:r>
            <a:r>
              <a:rPr lang="en-US" altLang="en-GB" sz="1800">
                <a:highlight>
                  <a:srgbClr val="FFFF00"/>
                </a:highlight>
                <a:sym typeface="+mn-ea"/>
              </a:rPr>
              <a:t> (Objective Functions)</a:t>
            </a:r>
            <a:br>
              <a:rPr lang="en-US" altLang="en-GB" sz="1800">
                <a:sym typeface="+mn-ea"/>
              </a:rPr>
            </a:br>
            <a:br>
              <a:rPr lang="en-US" altLang="en-GB" sz="1800">
                <a:sym typeface="+mn-ea"/>
              </a:rPr>
            </a:br>
            <a:r>
              <a:rPr lang="en-US" altLang="en-GB" sz="1800" b="1">
                <a:sym typeface="+mn-ea"/>
              </a:rPr>
              <a:t>a. Hàm mục ti</a:t>
            </a:r>
            <a:r>
              <a:rPr lang="en-US" altLang="en-US" sz="1800" b="1">
                <a:sym typeface="+mn-ea"/>
              </a:rPr>
              <a:t>ê</a:t>
            </a:r>
            <a:r>
              <a:rPr lang="en-US" altLang="en-GB" sz="1800" b="1">
                <a:sym typeface="+mn-ea"/>
              </a:rPr>
              <a:t>u Ph</a:t>
            </a:r>
            <a:r>
              <a:rPr lang="en-US" altLang="en-US" sz="1800" b="1">
                <a:sym typeface="+mn-ea"/>
              </a:rPr>
              <a:t>â</a:t>
            </a:r>
            <a:r>
              <a:rPr lang="en-US" altLang="en-GB" sz="1800" b="1">
                <a:sym typeface="+mn-ea"/>
              </a:rPr>
              <a:t>n loại (Classification Objective Function)</a:t>
            </a:r>
            <a:br>
              <a:rPr lang="en-US" altLang="en-GB" sz="1800" b="1">
                <a:sym typeface="+mn-ea"/>
              </a:rPr>
            </a:br>
            <a:br>
              <a:rPr lang="en-US" altLang="en-GB" sz="1800">
                <a:sym typeface="+mn-ea"/>
              </a:rPr>
            </a:br>
            <a:r>
              <a:rPr lang="en-US" altLang="en-GB" sz="1800">
                <a:sym typeface="+mn-ea"/>
              </a:rPr>
              <a:t>Hàm này th</a:t>
            </a:r>
            <a:r>
              <a:rPr lang="en-US" altLang="en-US" sz="1800">
                <a:sym typeface="+mn-ea"/>
              </a:rPr>
              <a:t>ư</a:t>
            </a:r>
            <a:r>
              <a:rPr lang="en-US" altLang="en-GB" sz="1800">
                <a:sym typeface="+mn-ea"/>
              </a:rPr>
              <a:t>ờng </a:t>
            </a:r>
            <a:r>
              <a:rPr lang="en-US" altLang="en-US" sz="1800">
                <a:sym typeface="+mn-ea"/>
              </a:rPr>
              <a:t>đư</a:t>
            </a:r>
            <a:r>
              <a:rPr lang="en-US" altLang="en-GB" sz="1800">
                <a:sym typeface="+mn-ea"/>
              </a:rPr>
              <a:t>ợc sử dụng khi huấn luyện tr</a:t>
            </a:r>
            <a:r>
              <a:rPr lang="en-US" altLang="en-US" sz="1800">
                <a:sym typeface="+mn-ea"/>
              </a:rPr>
              <a:t>ê</a:t>
            </a:r>
            <a:r>
              <a:rPr lang="en-US" altLang="en-GB" sz="1800">
                <a:sym typeface="+mn-ea"/>
              </a:rPr>
              <a:t>n dữ liệu Suy luận Ngôn ngữ Tự nhi</a:t>
            </a:r>
            <a:r>
              <a:rPr lang="en-US" altLang="en-US" sz="1800">
                <a:sym typeface="+mn-ea"/>
              </a:rPr>
              <a:t>ê</a:t>
            </a:r>
            <a:r>
              <a:rPr lang="en-US" altLang="en-GB" sz="1800">
                <a:sym typeface="+mn-ea"/>
              </a:rPr>
              <a:t>n (NLI). Mô h</a:t>
            </a:r>
            <a:r>
              <a:rPr lang="en-US" altLang="en-US" sz="1800">
                <a:sym typeface="+mn-ea"/>
              </a:rPr>
              <a:t>ì</a:t>
            </a:r>
            <a:r>
              <a:rPr lang="en-US" altLang="en-GB" sz="1800">
                <a:sym typeface="+mn-ea"/>
              </a:rPr>
              <a:t>nh tr</a:t>
            </a:r>
            <a:r>
              <a:rPr lang="en-US" altLang="en-US" sz="1800">
                <a:sym typeface="+mn-ea"/>
              </a:rPr>
              <a:t>í</a:t>
            </a:r>
            <a:r>
              <a:rPr lang="en-US" altLang="en-GB" sz="1800">
                <a:sym typeface="+mn-ea"/>
              </a:rPr>
              <a:t>ch xuất hai vector c</a:t>
            </a:r>
            <a:r>
              <a:rPr lang="en-US" altLang="en-US" sz="1800">
                <a:sym typeface="+mn-ea"/>
              </a:rPr>
              <a:t>â</a:t>
            </a:r>
            <a:r>
              <a:rPr lang="en-US" altLang="en-GB" sz="1800">
                <a:sym typeface="+mn-ea"/>
              </a:rPr>
              <a:t>u u và v từ hai nh</a:t>
            </a:r>
            <a:r>
              <a:rPr lang="en-US" altLang="en-US" sz="1800">
                <a:sym typeface="+mn-ea"/>
              </a:rPr>
              <a:t>á</a:t>
            </a:r>
            <a:r>
              <a:rPr lang="en-US" altLang="en-GB" sz="1800">
                <a:sym typeface="+mn-ea"/>
              </a:rPr>
              <a:t>nh BERT. </a:t>
            </a:r>
            <a:r>
              <a:rPr lang="en-US" altLang="en-US" sz="1800">
                <a:sym typeface="+mn-ea"/>
              </a:rPr>
              <a:t>Đ</a:t>
            </a:r>
            <a:r>
              <a:rPr lang="en-US" altLang="en-GB" sz="1800">
                <a:sym typeface="+mn-ea"/>
              </a:rPr>
              <a:t>iểm mấu chốt nằm ở ph</a:t>
            </a:r>
            <a:r>
              <a:rPr lang="en-US" altLang="en-US" sz="1800">
                <a:sym typeface="+mn-ea"/>
              </a:rPr>
              <a:t>é</a:t>
            </a:r>
            <a:r>
              <a:rPr lang="en-US" altLang="en-GB" sz="1800">
                <a:sym typeface="+mn-ea"/>
              </a:rPr>
              <a:t>p nối (concatenation) c</a:t>
            </a:r>
            <a:r>
              <a:rPr lang="en-US" altLang="en-US" sz="1800">
                <a:sym typeface="+mn-ea"/>
              </a:rPr>
              <a:t>á</a:t>
            </a:r>
            <a:r>
              <a:rPr lang="en-US" altLang="en-GB" sz="1800">
                <a:sym typeface="+mn-ea"/>
              </a:rPr>
              <a:t>c vector này tr</a:t>
            </a:r>
            <a:r>
              <a:rPr lang="en-US" altLang="en-US" sz="1800">
                <a:sym typeface="+mn-ea"/>
              </a:rPr>
              <a:t>ư</a:t>
            </a:r>
            <a:r>
              <a:rPr lang="en-US" altLang="en-GB" sz="1800">
                <a:sym typeface="+mn-ea"/>
              </a:rPr>
              <a:t>ớc khi </a:t>
            </a:r>
            <a:r>
              <a:rPr lang="en-US" altLang="en-US" sz="1800">
                <a:sym typeface="+mn-ea"/>
              </a:rPr>
              <a:t>đư</a:t>
            </a:r>
            <a:r>
              <a:rPr lang="en-US" altLang="en-GB" sz="1800">
                <a:sym typeface="+mn-ea"/>
              </a:rPr>
              <a:t>a vào bộ ph</a:t>
            </a:r>
            <a:r>
              <a:rPr lang="en-US" altLang="en-US" sz="1800">
                <a:sym typeface="+mn-ea"/>
              </a:rPr>
              <a:t>â</a:t>
            </a:r>
            <a:r>
              <a:rPr lang="en-US" altLang="en-GB" sz="1800">
                <a:sym typeface="+mn-ea"/>
              </a:rPr>
              <a:t>n loại. SBERT nối u, v và ch</a:t>
            </a:r>
            <a:r>
              <a:rPr lang="en-US" altLang="en-US" sz="1800">
                <a:sym typeface="+mn-ea"/>
              </a:rPr>
              <a:t>ê</a:t>
            </a:r>
            <a:r>
              <a:rPr lang="en-US" altLang="en-GB" sz="1800">
                <a:sym typeface="+mn-ea"/>
              </a:rPr>
              <a:t>nh lệch từng phần tử |u - v|:</a:t>
            </a:r>
            <a:br>
              <a:rPr lang="en-US" altLang="en-GB" sz="1800">
                <a:sym typeface="+mn-ea"/>
              </a:rPr>
            </a:br>
            <a:br>
              <a:rPr lang="en-US" altLang="en-GB" sz="1800">
                <a:sym typeface="+mn-ea"/>
              </a:rPr>
            </a:br>
            <a:br>
              <a:rPr lang="en-US" altLang="en-GB" sz="1800">
                <a:sym typeface="+mn-ea"/>
              </a:rPr>
            </a:br>
            <a:br>
              <a:rPr lang="en-US" altLang="en-GB" sz="1800">
                <a:sym typeface="+mn-ea"/>
              </a:rPr>
            </a:br>
            <a:br>
              <a:rPr lang="en-US" altLang="en-GB" sz="1800">
                <a:sym typeface="+mn-ea"/>
              </a:rPr>
            </a:br>
            <a:br>
              <a:rPr lang="en-US" altLang="en-GB" sz="1800">
                <a:sym typeface="+mn-ea"/>
              </a:rPr>
            </a:br>
            <a:br>
              <a:rPr lang="en-US" altLang="en-GB" sz="1800">
                <a:sym typeface="+mn-ea"/>
              </a:rPr>
            </a:br>
            <a:br>
              <a:rPr lang="en-US" altLang="en-GB" sz="1800">
                <a:sym typeface="+mn-ea"/>
              </a:rPr>
            </a:br>
            <a:br>
              <a:rPr lang="en-US" altLang="en-GB" sz="1800">
                <a:sym typeface="+mn-ea"/>
              </a:rPr>
            </a:br>
            <a:br>
              <a:rPr lang="en-US" altLang="en-GB" sz="1800">
                <a:sym typeface="+mn-ea"/>
              </a:rPr>
            </a:br>
            <a:br>
              <a:rPr lang="en-US" altLang="en-GB" sz="1800">
                <a:sym typeface="+mn-ea"/>
              </a:rPr>
            </a:br>
            <a:br>
              <a:rPr lang="en-US" altLang="en-GB" sz="1800">
                <a:sym typeface="+mn-ea"/>
              </a:rPr>
            </a:br>
            <a:br>
              <a:rPr lang="en-US" altLang="en-GB" sz="1800">
                <a:sym typeface="+mn-ea"/>
              </a:rPr>
            </a:br>
            <a:br>
              <a:rPr lang="en-US" altLang="en-GB" sz="1800">
                <a:sym typeface="+mn-ea"/>
              </a:rPr>
            </a:br>
            <a:br>
              <a:rPr lang="en-US" altLang="en-GB" sz="1800">
                <a:sym typeface="+mn-ea"/>
              </a:rPr>
            </a:br>
            <a:r>
              <a:rPr lang="en-US" altLang="en-GB" sz="1500">
                <a:solidFill>
                  <a:schemeClr val="tx1"/>
                </a:solidFill>
                <a:sym typeface="+mn-ea"/>
              </a:rPr>
              <a:t>T</a:t>
            </a:r>
            <a:r>
              <a:rPr lang="en-US" altLang="en-US" sz="1500">
                <a:solidFill>
                  <a:schemeClr val="tx1"/>
                </a:solidFill>
                <a:sym typeface="+mn-ea"/>
              </a:rPr>
              <a:t>á</a:t>
            </a:r>
            <a:r>
              <a:rPr lang="en-US" altLang="en-GB" sz="1500">
                <a:solidFill>
                  <a:schemeClr val="tx1"/>
                </a:solidFill>
                <a:sym typeface="+mn-ea"/>
              </a:rPr>
              <a:t>c giả SBERT </a:t>
            </a:r>
            <a:r>
              <a:rPr lang="en-US" altLang="en-US" sz="1500">
                <a:solidFill>
                  <a:schemeClr val="tx1"/>
                </a:solidFill>
                <a:sym typeface="+mn-ea"/>
              </a:rPr>
              <a:t>đ</a:t>
            </a:r>
            <a:r>
              <a:rPr lang="en-US" altLang="en-US" sz="1500">
                <a:solidFill>
                  <a:schemeClr val="tx1"/>
                </a:solidFill>
                <a:sym typeface="+mn-ea"/>
              </a:rPr>
              <a:t>ã</a:t>
            </a:r>
            <a:r>
              <a:rPr lang="en-US" altLang="en-GB" sz="1500">
                <a:solidFill>
                  <a:schemeClr val="tx1"/>
                </a:solidFill>
                <a:sym typeface="+mn-ea"/>
              </a:rPr>
              <a:t> chứng minh thông qua nghi</a:t>
            </a:r>
            <a:r>
              <a:rPr lang="en-US" altLang="en-US" sz="1500">
                <a:solidFill>
                  <a:schemeClr val="tx1"/>
                </a:solidFill>
                <a:sym typeface="+mn-ea"/>
              </a:rPr>
              <a:t>ê</a:t>
            </a:r>
            <a:r>
              <a:rPr lang="en-US" altLang="en-GB" sz="1500">
                <a:solidFill>
                  <a:schemeClr val="tx1"/>
                </a:solidFill>
                <a:sym typeface="+mn-ea"/>
              </a:rPr>
              <a:t>n cứu cắt bỏ (6. Ablation study) rằng thành phần quan trọng nhất ch</a:t>
            </a:r>
            <a:r>
              <a:rPr lang="en-US" altLang="en-US" sz="1500">
                <a:solidFill>
                  <a:schemeClr val="tx1"/>
                </a:solidFill>
                <a:sym typeface="+mn-ea"/>
              </a:rPr>
              <a:t>í</a:t>
            </a:r>
            <a:r>
              <a:rPr lang="en-US" altLang="en-GB" sz="1500">
                <a:solidFill>
                  <a:schemeClr val="tx1"/>
                </a:solidFill>
                <a:sym typeface="+mn-ea"/>
              </a:rPr>
              <a:t>nh là |u - v|. Việc t</a:t>
            </a:r>
            <a:r>
              <a:rPr lang="en-US" altLang="en-US" sz="1500">
                <a:solidFill>
                  <a:schemeClr val="tx1"/>
                </a:solidFill>
                <a:sym typeface="+mn-ea"/>
              </a:rPr>
              <a:t>í</a:t>
            </a:r>
            <a:r>
              <a:rPr lang="en-US" altLang="en-GB" sz="1500">
                <a:solidFill>
                  <a:schemeClr val="tx1"/>
                </a:solidFill>
                <a:sym typeface="+mn-ea"/>
              </a:rPr>
              <a:t>nh gi</a:t>
            </a:r>
            <a:r>
              <a:rPr lang="en-US" altLang="en-US" sz="1500">
                <a:solidFill>
                  <a:schemeClr val="tx1"/>
                </a:solidFill>
                <a:sym typeface="+mn-ea"/>
              </a:rPr>
              <a:t>á</a:t>
            </a:r>
            <a:r>
              <a:rPr lang="en-US" altLang="en-GB" sz="1500">
                <a:solidFill>
                  <a:schemeClr val="tx1"/>
                </a:solidFill>
                <a:sym typeface="+mn-ea"/>
              </a:rPr>
              <a:t> trị tuyệt </a:t>
            </a:r>
            <a:r>
              <a:rPr lang="en-US" altLang="en-US" sz="1500">
                <a:solidFill>
                  <a:schemeClr val="tx1"/>
                </a:solidFill>
                <a:sym typeface="+mn-ea"/>
              </a:rPr>
              <a:t>đ</a:t>
            </a:r>
            <a:r>
              <a:rPr lang="en-US" altLang="en-GB" sz="1500">
                <a:solidFill>
                  <a:schemeClr val="tx1"/>
                </a:solidFill>
                <a:sym typeface="+mn-ea"/>
              </a:rPr>
              <a:t>ối hiệu số của hai vector thực chất là </a:t>
            </a:r>
            <a:r>
              <a:rPr lang="en-US" altLang="en-US" sz="1500">
                <a:solidFill>
                  <a:schemeClr val="tx1"/>
                </a:solidFill>
                <a:sym typeface="+mn-ea"/>
              </a:rPr>
              <a:t>đ</a:t>
            </a:r>
            <a:r>
              <a:rPr lang="en-US" altLang="en-GB" sz="1500">
                <a:solidFill>
                  <a:schemeClr val="tx1"/>
                </a:solidFill>
                <a:sym typeface="+mn-ea"/>
              </a:rPr>
              <a:t>ang </a:t>
            </a:r>
            <a:r>
              <a:rPr lang="en-US" altLang="en-US" sz="1500">
                <a:solidFill>
                  <a:schemeClr val="tx1"/>
                </a:solidFill>
                <a:sym typeface="+mn-ea"/>
              </a:rPr>
              <a:t>đ</a:t>
            </a:r>
            <a:r>
              <a:rPr lang="en-US" altLang="en-GB" sz="1500">
                <a:solidFill>
                  <a:schemeClr val="tx1"/>
                </a:solidFill>
                <a:sym typeface="+mn-ea"/>
              </a:rPr>
              <a:t>o l</a:t>
            </a:r>
            <a:r>
              <a:rPr lang="en-US" altLang="en-US" sz="1500">
                <a:solidFill>
                  <a:schemeClr val="tx1"/>
                </a:solidFill>
                <a:sym typeface="+mn-ea"/>
              </a:rPr>
              <a:t>ư</a:t>
            </a:r>
            <a:r>
              <a:rPr lang="en-US" altLang="en-GB" sz="1500">
                <a:solidFill>
                  <a:schemeClr val="tx1"/>
                </a:solidFill>
                <a:sym typeface="+mn-ea"/>
              </a:rPr>
              <a:t>ờng khoảng c</a:t>
            </a:r>
            <a:r>
              <a:rPr lang="en-US" altLang="en-US" sz="1500">
                <a:solidFill>
                  <a:schemeClr val="tx1"/>
                </a:solidFill>
                <a:sym typeface="+mn-ea"/>
              </a:rPr>
              <a:t>á</a:t>
            </a:r>
            <a:r>
              <a:rPr lang="en-US" altLang="en-GB" sz="1500">
                <a:solidFill>
                  <a:schemeClr val="tx1"/>
                </a:solidFill>
                <a:sym typeface="+mn-ea"/>
              </a:rPr>
              <a:t>ch trực tiếp giữa c</a:t>
            </a:r>
            <a:r>
              <a:rPr lang="en-US" altLang="en-US" sz="1500">
                <a:solidFill>
                  <a:schemeClr val="tx1"/>
                </a:solidFill>
                <a:sym typeface="+mn-ea"/>
              </a:rPr>
              <a:t>á</a:t>
            </a:r>
            <a:r>
              <a:rPr lang="en-US" altLang="en-GB" sz="1500">
                <a:solidFill>
                  <a:schemeClr val="tx1"/>
                </a:solidFill>
                <a:sym typeface="+mn-ea"/>
              </a:rPr>
              <a:t>c chiều của ch</a:t>
            </a:r>
            <a:r>
              <a:rPr lang="en-US" altLang="en-US" sz="1500">
                <a:solidFill>
                  <a:schemeClr val="tx1"/>
                </a:solidFill>
                <a:sym typeface="+mn-ea"/>
              </a:rPr>
              <a:t>ú</a:t>
            </a:r>
            <a:r>
              <a:rPr lang="en-US" altLang="en-GB" sz="1500">
                <a:solidFill>
                  <a:schemeClr val="tx1"/>
                </a:solidFill>
                <a:sym typeface="+mn-ea"/>
              </a:rPr>
              <a:t>ng.</a:t>
            </a:r>
            <a:endParaRPr lang="en-US" altLang="en-GB" sz="1500">
              <a:solidFill>
                <a:schemeClr val="tx1"/>
              </a:solidFill>
              <a:sym typeface="+mn-ea"/>
            </a:endParaRPr>
          </a:p>
        </p:txBody>
      </p:sp>
      <p:graphicFrame>
        <p:nvGraphicFramePr>
          <p:cNvPr id="9" name="Object 8"/>
          <p:cNvGraphicFramePr/>
          <p:nvPr/>
        </p:nvGraphicFramePr>
        <p:xfrm>
          <a:off x="4452620" y="2473960"/>
          <a:ext cx="6129020" cy="3535680"/>
        </p:xfrm>
        <a:graphic>
          <a:graphicData uri="http://schemas.openxmlformats.org/presentationml/2006/ole">
            <mc:AlternateContent xmlns:mc="http://schemas.openxmlformats.org/markup-compatibility/2006">
              <mc:Choice xmlns:v="urn:schemas-microsoft-com:vml" Requires="v">
                <p:oleObj spid="_x0000_s10" name="" r:id="rId1" imgW="10066020" imgH="5806440" progId="Paint.Picture">
                  <p:embed/>
                </p:oleObj>
              </mc:Choice>
              <mc:Fallback>
                <p:oleObj name="" r:id="rId1" imgW="10066020" imgH="5806440" progId="Paint.Picture">
                  <p:embed/>
                  <p:pic>
                    <p:nvPicPr>
                      <p:cNvPr id="0" name="Picture 9"/>
                      <p:cNvPicPr/>
                      <p:nvPr/>
                    </p:nvPicPr>
                    <p:blipFill>
                      <a:blip r:embed="rId2"/>
                      <a:stretch>
                        <a:fillRect/>
                      </a:stretch>
                    </p:blipFill>
                    <p:spPr>
                      <a:xfrm>
                        <a:off x="4452620" y="2473960"/>
                        <a:ext cx="6129020" cy="3535680"/>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59690"/>
            <a:ext cx="11799570" cy="6635750"/>
          </a:xfrm>
        </p:spPr>
        <p:txBody>
          <a:bodyPr>
            <a:noAutofit/>
          </a:bodyPr>
          <a:p>
            <a:r>
              <a:rPr lang="en-US" altLang="en-GB" sz="3500"/>
              <a:t>4. Kiến trúc SBERT</a:t>
            </a:r>
            <a:br>
              <a:rPr lang="en-US" altLang="en-GB" sz="3500"/>
            </a:br>
            <a:br>
              <a:rPr lang="en-US" altLang="en-GB" sz="1800">
                <a:solidFill>
                  <a:schemeClr val="tx1"/>
                </a:solidFill>
                <a:highlight>
                  <a:srgbClr val="FFFF00"/>
                </a:highlight>
              </a:rPr>
            </a:br>
            <a:r>
              <a:rPr lang="en-US" altLang="en-GB" sz="1800">
                <a:highlight>
                  <a:srgbClr val="FFFF00"/>
                </a:highlight>
                <a:sym typeface="+mn-ea"/>
              </a:rPr>
              <a:t>4.2. </a:t>
            </a:r>
            <a:r>
              <a:rPr lang="en-US" sz="1800">
                <a:highlight>
                  <a:srgbClr val="FFFF00"/>
                </a:highlight>
                <a:sym typeface="+mn-ea"/>
              </a:rPr>
              <a:t>Hàm mục tiêu</a:t>
            </a:r>
            <a:r>
              <a:rPr lang="en-US" altLang="en-GB" sz="1800">
                <a:highlight>
                  <a:srgbClr val="FFFF00"/>
                </a:highlight>
                <a:sym typeface="+mn-ea"/>
              </a:rPr>
              <a:t> (Objective Functions)</a:t>
            </a:r>
            <a:br>
              <a:rPr lang="en-US" altLang="en-GB" sz="1800">
                <a:sym typeface="+mn-ea"/>
              </a:rPr>
            </a:br>
            <a:br>
              <a:rPr lang="en-US" altLang="en-GB" sz="1800">
                <a:sym typeface="+mn-ea"/>
              </a:rPr>
            </a:br>
            <a:r>
              <a:rPr lang="en-US" altLang="en-GB" sz="1800" b="1">
                <a:sym typeface="+mn-ea"/>
              </a:rPr>
              <a:t>b</a:t>
            </a:r>
            <a:r>
              <a:rPr lang="en-US" altLang="en-GB" sz="1800" b="1">
                <a:sym typeface="+mn-ea"/>
              </a:rPr>
              <a:t>. </a:t>
            </a:r>
            <a:r>
              <a:rPr lang="en-US" altLang="en-GB" sz="1800" b="1">
                <a:solidFill>
                  <a:schemeClr val="tx1"/>
                </a:solidFill>
                <a:sym typeface="+mn-ea"/>
              </a:rPr>
              <a:t>Hàm mục ti</a:t>
            </a:r>
            <a:r>
              <a:rPr lang="en-US" altLang="en-US" sz="1800" b="1">
                <a:solidFill>
                  <a:schemeClr val="tx1"/>
                </a:solidFill>
                <a:sym typeface="+mn-ea"/>
              </a:rPr>
              <a:t>ê</a:t>
            </a:r>
            <a:r>
              <a:rPr lang="en-US" altLang="en-GB" sz="1800" b="1">
                <a:solidFill>
                  <a:schemeClr val="tx1"/>
                </a:solidFill>
                <a:sym typeface="+mn-ea"/>
              </a:rPr>
              <a:t>u Hồi quy (Regression Objective Function)</a:t>
            </a:r>
            <a:br>
              <a:rPr lang="en-US" altLang="en-GB" sz="1800" b="1">
                <a:solidFill>
                  <a:schemeClr val="tx1"/>
                </a:solidFill>
                <a:sym typeface="+mn-ea"/>
              </a:rPr>
            </a:br>
            <a:br>
              <a:rPr lang="en-US" altLang="en-GB" sz="1800">
                <a:solidFill>
                  <a:schemeClr val="tx1"/>
                </a:solidFill>
                <a:sym typeface="+mn-ea"/>
              </a:rPr>
            </a:br>
            <a:r>
              <a:rPr lang="en-US" altLang="en-GB" sz="1800">
                <a:solidFill>
                  <a:schemeClr val="tx1"/>
                </a:solidFill>
                <a:sym typeface="+mn-ea"/>
              </a:rPr>
              <a:t>Hàm này </a:t>
            </a:r>
            <a:r>
              <a:rPr lang="en-US" altLang="en-US" sz="1800">
                <a:solidFill>
                  <a:schemeClr val="tx1"/>
                </a:solidFill>
                <a:sym typeface="+mn-ea"/>
              </a:rPr>
              <a:t>đư</a:t>
            </a:r>
            <a:r>
              <a:rPr lang="en-US" altLang="en-GB" sz="1800">
                <a:solidFill>
                  <a:schemeClr val="tx1"/>
                </a:solidFill>
                <a:sym typeface="+mn-ea"/>
              </a:rPr>
              <a:t>ợc </a:t>
            </a:r>
            <a:r>
              <a:rPr lang="en-US" altLang="en-US" sz="1800">
                <a:solidFill>
                  <a:schemeClr val="tx1"/>
                </a:solidFill>
                <a:sym typeface="+mn-ea"/>
              </a:rPr>
              <a:t>á</a:t>
            </a:r>
            <a:r>
              <a:rPr lang="en-US" altLang="en-GB" sz="1800">
                <a:solidFill>
                  <a:schemeClr val="tx1"/>
                </a:solidFill>
                <a:sym typeface="+mn-ea"/>
              </a:rPr>
              <a:t>p dụng cho c</a:t>
            </a:r>
            <a:r>
              <a:rPr lang="en-US" altLang="en-US" sz="1800">
                <a:solidFill>
                  <a:schemeClr val="tx1"/>
                </a:solidFill>
                <a:sym typeface="+mn-ea"/>
              </a:rPr>
              <a:t>á</a:t>
            </a:r>
            <a:r>
              <a:rPr lang="en-US" altLang="en-GB" sz="1800">
                <a:solidFill>
                  <a:schemeClr val="tx1"/>
                </a:solidFill>
                <a:sym typeface="+mn-ea"/>
              </a:rPr>
              <a:t>c bài to</a:t>
            </a:r>
            <a:r>
              <a:rPr lang="en-US" altLang="en-US" sz="1800">
                <a:solidFill>
                  <a:schemeClr val="tx1"/>
                </a:solidFill>
                <a:sym typeface="+mn-ea"/>
              </a:rPr>
              <a:t>á</a:t>
            </a:r>
            <a:r>
              <a:rPr lang="en-US" altLang="en-GB" sz="1800">
                <a:solidFill>
                  <a:schemeClr val="tx1"/>
                </a:solidFill>
                <a:sym typeface="+mn-ea"/>
              </a:rPr>
              <a:t>n </a:t>
            </a:r>
            <a:r>
              <a:rPr lang="en-US" altLang="en-US" sz="1800">
                <a:solidFill>
                  <a:schemeClr val="tx1"/>
                </a:solidFill>
                <a:sym typeface="+mn-ea"/>
              </a:rPr>
              <a:t>đ</a:t>
            </a:r>
            <a:r>
              <a:rPr lang="en-US" altLang="en-US" sz="1800">
                <a:solidFill>
                  <a:schemeClr val="tx1"/>
                </a:solidFill>
                <a:sym typeface="+mn-ea"/>
              </a:rPr>
              <a:t>á</a:t>
            </a:r>
            <a:r>
              <a:rPr lang="en-US" altLang="en-GB" sz="1800">
                <a:solidFill>
                  <a:schemeClr val="tx1"/>
                </a:solidFill>
                <a:sym typeface="+mn-ea"/>
              </a:rPr>
              <a:t>nh gi</a:t>
            </a:r>
            <a:r>
              <a:rPr lang="en-US" altLang="en-US" sz="1800">
                <a:solidFill>
                  <a:schemeClr val="tx1"/>
                </a:solidFill>
                <a:sym typeface="+mn-ea"/>
              </a:rPr>
              <a:t>á</a:t>
            </a:r>
            <a:r>
              <a:rPr lang="en-US" altLang="en-GB" sz="1800">
                <a:solidFill>
                  <a:schemeClr val="tx1"/>
                </a:solidFill>
                <a:sym typeface="+mn-ea"/>
              </a:rPr>
              <a:t> </a:t>
            </a:r>
            <a:r>
              <a:rPr lang="en-US" altLang="en-US" sz="1800">
                <a:solidFill>
                  <a:schemeClr val="tx1"/>
                </a:solidFill>
                <a:sym typeface="+mn-ea"/>
              </a:rPr>
              <a:t>đ</a:t>
            </a:r>
            <a:r>
              <a:rPr lang="en-US" altLang="en-GB" sz="1800">
                <a:solidFill>
                  <a:schemeClr val="tx1"/>
                </a:solidFill>
                <a:sym typeface="+mn-ea"/>
              </a:rPr>
              <a:t>ộ t</a:t>
            </a:r>
            <a:r>
              <a:rPr lang="en-US" altLang="en-US" sz="1800">
                <a:solidFill>
                  <a:schemeClr val="tx1"/>
                </a:solidFill>
                <a:sym typeface="+mn-ea"/>
              </a:rPr>
              <a:t>ư</a:t>
            </a:r>
            <a:r>
              <a:rPr lang="en-US" altLang="en-US" sz="1800">
                <a:solidFill>
                  <a:schemeClr val="tx1"/>
                </a:solidFill>
                <a:sym typeface="+mn-ea"/>
              </a:rPr>
              <a:t>ơ</a:t>
            </a:r>
            <a:r>
              <a:rPr lang="en-US" altLang="en-GB" sz="1800">
                <a:solidFill>
                  <a:schemeClr val="tx1"/>
                </a:solidFill>
                <a:sym typeface="+mn-ea"/>
              </a:rPr>
              <a:t>ng </a:t>
            </a:r>
            <a:r>
              <a:rPr lang="en-US" altLang="en-US" sz="1800">
                <a:solidFill>
                  <a:schemeClr val="tx1"/>
                </a:solidFill>
                <a:sym typeface="+mn-ea"/>
              </a:rPr>
              <a:t>đ</a:t>
            </a:r>
            <a:r>
              <a:rPr lang="en-US" altLang="en-GB" sz="1800">
                <a:solidFill>
                  <a:schemeClr val="tx1"/>
                </a:solidFill>
                <a:sym typeface="+mn-ea"/>
              </a:rPr>
              <a:t>ồng theo thang </a:t>
            </a:r>
            <a:r>
              <a:rPr lang="en-US" altLang="en-US" sz="1800">
                <a:solidFill>
                  <a:schemeClr val="tx1"/>
                </a:solidFill>
                <a:sym typeface="+mn-ea"/>
              </a:rPr>
              <a:t>đ</a:t>
            </a:r>
            <a:r>
              <a:rPr lang="en-US" altLang="en-GB" sz="1800">
                <a:solidFill>
                  <a:schemeClr val="tx1"/>
                </a:solidFill>
                <a:sym typeface="+mn-ea"/>
              </a:rPr>
              <a:t>iểm li</a:t>
            </a:r>
            <a:r>
              <a:rPr lang="en-US" altLang="en-US" sz="1800">
                <a:solidFill>
                  <a:schemeClr val="tx1"/>
                </a:solidFill>
                <a:sym typeface="+mn-ea"/>
              </a:rPr>
              <a:t>ê</a:t>
            </a:r>
            <a:r>
              <a:rPr lang="en-US" altLang="en-GB" sz="1800">
                <a:solidFill>
                  <a:schemeClr val="tx1"/>
                </a:solidFill>
                <a:sym typeface="+mn-ea"/>
              </a:rPr>
              <a:t>n tục (v</a:t>
            </a:r>
            <a:r>
              <a:rPr lang="en-US" altLang="en-US" sz="1800">
                <a:solidFill>
                  <a:schemeClr val="tx1"/>
                </a:solidFill>
                <a:sym typeface="+mn-ea"/>
              </a:rPr>
              <a:t>í</a:t>
            </a:r>
            <a:r>
              <a:rPr lang="en-US" altLang="en-GB" sz="1800">
                <a:solidFill>
                  <a:schemeClr val="tx1"/>
                </a:solidFill>
                <a:sym typeface="+mn-ea"/>
              </a:rPr>
              <a:t> dụ: STS benchmark). </a:t>
            </a:r>
            <a:br>
              <a:rPr lang="en-US" altLang="en-GB" sz="1800">
                <a:solidFill>
                  <a:schemeClr val="tx1"/>
                </a:solidFill>
                <a:sym typeface="+mn-ea"/>
              </a:rPr>
            </a:br>
            <a:r>
              <a:rPr lang="en-US" altLang="en-GB" sz="1800">
                <a:solidFill>
                  <a:schemeClr val="tx1"/>
                </a:solidFill>
                <a:sym typeface="+mn-ea"/>
              </a:rPr>
              <a:t>SBERT trực tiếp t</a:t>
            </a:r>
            <a:r>
              <a:rPr lang="en-US" altLang="en-US" sz="1800">
                <a:solidFill>
                  <a:schemeClr val="tx1"/>
                </a:solidFill>
                <a:sym typeface="+mn-ea"/>
              </a:rPr>
              <a:t>í</a:t>
            </a:r>
            <a:r>
              <a:rPr lang="en-US" altLang="en-GB" sz="1800">
                <a:solidFill>
                  <a:schemeClr val="tx1"/>
                </a:solidFill>
                <a:sym typeface="+mn-ea"/>
              </a:rPr>
              <a:t>nh to</a:t>
            </a:r>
            <a:r>
              <a:rPr lang="en-US" altLang="en-US" sz="1800">
                <a:solidFill>
                  <a:schemeClr val="tx1"/>
                </a:solidFill>
                <a:sym typeface="+mn-ea"/>
              </a:rPr>
              <a:t>á</a:t>
            </a:r>
            <a:r>
              <a:rPr lang="en-US" altLang="en-GB" sz="1800">
                <a:solidFill>
                  <a:schemeClr val="tx1"/>
                </a:solidFill>
                <a:sym typeface="+mn-ea"/>
              </a:rPr>
              <a:t>n </a:t>
            </a:r>
            <a:r>
              <a:rPr lang="en-US" altLang="en-US" sz="1800">
                <a:solidFill>
                  <a:schemeClr val="tx1"/>
                </a:solidFill>
                <a:sym typeface="+mn-ea"/>
              </a:rPr>
              <a:t>đ</a:t>
            </a:r>
            <a:r>
              <a:rPr lang="en-US" altLang="en-GB" sz="1800">
                <a:solidFill>
                  <a:schemeClr val="tx1"/>
                </a:solidFill>
                <a:sym typeface="+mn-ea"/>
              </a:rPr>
              <a:t>ộ t</a:t>
            </a:r>
            <a:r>
              <a:rPr lang="en-US" altLang="en-US" sz="1800">
                <a:solidFill>
                  <a:schemeClr val="tx1"/>
                </a:solidFill>
                <a:sym typeface="+mn-ea"/>
              </a:rPr>
              <a:t>ư</a:t>
            </a:r>
            <a:r>
              <a:rPr lang="en-US" altLang="en-US" sz="1800">
                <a:solidFill>
                  <a:schemeClr val="tx1"/>
                </a:solidFill>
                <a:sym typeface="+mn-ea"/>
              </a:rPr>
              <a:t>ơ</a:t>
            </a:r>
            <a:r>
              <a:rPr lang="en-US" altLang="en-GB" sz="1800">
                <a:solidFill>
                  <a:schemeClr val="tx1"/>
                </a:solidFill>
                <a:sym typeface="+mn-ea"/>
              </a:rPr>
              <a:t>ng </a:t>
            </a:r>
            <a:r>
              <a:rPr lang="en-US" altLang="en-US" sz="1800">
                <a:solidFill>
                  <a:schemeClr val="tx1"/>
                </a:solidFill>
                <a:sym typeface="+mn-ea"/>
              </a:rPr>
              <a:t>đ</a:t>
            </a:r>
            <a:r>
              <a:rPr lang="en-US" altLang="en-GB" sz="1800">
                <a:solidFill>
                  <a:schemeClr val="tx1"/>
                </a:solidFill>
                <a:sym typeface="+mn-ea"/>
              </a:rPr>
              <a:t>ồng cosine (cosine-similarity) giữa hai vector c</a:t>
            </a:r>
            <a:r>
              <a:rPr lang="en-US" altLang="en-US" sz="1800">
                <a:solidFill>
                  <a:schemeClr val="tx1"/>
                </a:solidFill>
                <a:sym typeface="+mn-ea"/>
              </a:rPr>
              <a:t>â</a:t>
            </a:r>
            <a:r>
              <a:rPr lang="en-US" altLang="en-GB" sz="1800">
                <a:solidFill>
                  <a:schemeClr val="tx1"/>
                </a:solidFill>
                <a:sym typeface="+mn-ea"/>
              </a:rPr>
              <a:t>u u và v sinh ra từ mạng. Sau </a:t>
            </a:r>
            <a:r>
              <a:rPr lang="en-US" altLang="en-US" sz="1800">
                <a:solidFill>
                  <a:schemeClr val="tx1"/>
                </a:solidFill>
                <a:sym typeface="+mn-ea"/>
              </a:rPr>
              <a:t>đ</a:t>
            </a:r>
            <a:r>
              <a:rPr lang="en-US" altLang="en-US" sz="1800">
                <a:solidFill>
                  <a:schemeClr val="tx1"/>
                </a:solidFill>
                <a:sym typeface="+mn-ea"/>
              </a:rPr>
              <a:t>ó</a:t>
            </a:r>
            <a:r>
              <a:rPr lang="en-US" altLang="en-GB" sz="1800">
                <a:solidFill>
                  <a:schemeClr val="tx1"/>
                </a:solidFill>
                <a:sym typeface="+mn-ea"/>
              </a:rPr>
              <a:t>, mô h</a:t>
            </a:r>
            <a:r>
              <a:rPr lang="en-US" altLang="en-US" sz="1800">
                <a:solidFill>
                  <a:schemeClr val="tx1"/>
                </a:solidFill>
                <a:sym typeface="+mn-ea"/>
              </a:rPr>
              <a:t>ì</a:t>
            </a:r>
            <a:r>
              <a:rPr lang="en-US" altLang="en-GB" sz="1800">
                <a:solidFill>
                  <a:schemeClr val="tx1"/>
                </a:solidFill>
                <a:sym typeface="+mn-ea"/>
              </a:rPr>
              <a:t>nh sử dụng hàm mất m</a:t>
            </a:r>
            <a:r>
              <a:rPr lang="en-US" altLang="en-US" sz="1800">
                <a:solidFill>
                  <a:schemeClr val="tx1"/>
                </a:solidFill>
                <a:sym typeface="+mn-ea"/>
              </a:rPr>
              <a:t>á</a:t>
            </a:r>
            <a:r>
              <a:rPr lang="en-US" altLang="en-GB" sz="1800">
                <a:solidFill>
                  <a:schemeClr val="tx1"/>
                </a:solidFill>
                <a:sym typeface="+mn-ea"/>
              </a:rPr>
              <a:t>t Mean-Squared-Error (MSE) làm hàm mục ti</a:t>
            </a:r>
            <a:r>
              <a:rPr lang="en-US" altLang="en-US" sz="1800">
                <a:solidFill>
                  <a:schemeClr val="tx1"/>
                </a:solidFill>
                <a:sym typeface="+mn-ea"/>
              </a:rPr>
              <a:t>ê</a:t>
            </a:r>
            <a:r>
              <a:rPr lang="en-US" altLang="en-GB" sz="1800">
                <a:solidFill>
                  <a:schemeClr val="tx1"/>
                </a:solidFill>
                <a:sym typeface="+mn-ea"/>
              </a:rPr>
              <a:t>u </a:t>
            </a:r>
            <a:r>
              <a:rPr lang="en-US" altLang="en-US" sz="1800">
                <a:solidFill>
                  <a:schemeClr val="tx1"/>
                </a:solidFill>
                <a:sym typeface="+mn-ea"/>
              </a:rPr>
              <a:t>đ</a:t>
            </a:r>
            <a:r>
              <a:rPr lang="en-US" altLang="en-GB" sz="1800">
                <a:solidFill>
                  <a:schemeClr val="tx1"/>
                </a:solidFill>
                <a:sym typeface="+mn-ea"/>
              </a:rPr>
              <a:t>ể tối thiểu h</a:t>
            </a:r>
            <a:r>
              <a:rPr lang="en-US" altLang="en-US" sz="1800">
                <a:solidFill>
                  <a:schemeClr val="tx1"/>
                </a:solidFill>
                <a:sym typeface="+mn-ea"/>
              </a:rPr>
              <a:t>ó</a:t>
            </a:r>
            <a:r>
              <a:rPr lang="en-US" altLang="en-GB" sz="1800">
                <a:solidFill>
                  <a:schemeClr val="tx1"/>
                </a:solidFill>
                <a:sym typeface="+mn-ea"/>
              </a:rPr>
              <a:t>a sai số giữa </a:t>
            </a:r>
            <a:r>
              <a:rPr lang="en-US" altLang="en-US" sz="1800">
                <a:solidFill>
                  <a:schemeClr val="tx1"/>
                </a:solidFill>
                <a:sym typeface="+mn-ea"/>
              </a:rPr>
              <a:t>đ</a:t>
            </a:r>
            <a:r>
              <a:rPr lang="en-US" altLang="en-GB" sz="1800">
                <a:solidFill>
                  <a:schemeClr val="tx1"/>
                </a:solidFill>
                <a:sym typeface="+mn-ea"/>
              </a:rPr>
              <a:t>iểm cosine dự </a:t>
            </a:r>
            <a:r>
              <a:rPr lang="en-US" altLang="en-US" sz="1800">
                <a:solidFill>
                  <a:schemeClr val="tx1"/>
                </a:solidFill>
                <a:sym typeface="+mn-ea"/>
              </a:rPr>
              <a:t>đ</a:t>
            </a:r>
            <a:r>
              <a:rPr lang="en-US" altLang="en-GB" sz="1800">
                <a:solidFill>
                  <a:schemeClr val="tx1"/>
                </a:solidFill>
                <a:sym typeface="+mn-ea"/>
              </a:rPr>
              <a:t>o</a:t>
            </a:r>
            <a:r>
              <a:rPr lang="en-US" altLang="en-US" sz="1800">
                <a:solidFill>
                  <a:schemeClr val="tx1"/>
                </a:solidFill>
                <a:sym typeface="+mn-ea"/>
              </a:rPr>
              <a:t>á</a:t>
            </a:r>
            <a:r>
              <a:rPr lang="en-US" altLang="en-GB" sz="1800">
                <a:solidFill>
                  <a:schemeClr val="tx1"/>
                </a:solidFill>
                <a:sym typeface="+mn-ea"/>
              </a:rPr>
              <a:t>n và </a:t>
            </a:r>
            <a:r>
              <a:rPr lang="en-US" altLang="en-US" sz="1800">
                <a:solidFill>
                  <a:schemeClr val="tx1"/>
                </a:solidFill>
                <a:sym typeface="+mn-ea"/>
              </a:rPr>
              <a:t>đ</a:t>
            </a:r>
            <a:r>
              <a:rPr lang="en-US" altLang="en-GB" sz="1800">
                <a:solidFill>
                  <a:schemeClr val="tx1"/>
                </a:solidFill>
                <a:sym typeface="+mn-ea"/>
              </a:rPr>
              <a:t>iểm </a:t>
            </a:r>
            <a:r>
              <a:rPr lang="en-US" altLang="en-US" sz="1800">
                <a:solidFill>
                  <a:schemeClr val="tx1"/>
                </a:solidFill>
                <a:sym typeface="+mn-ea"/>
              </a:rPr>
              <a:t>đ</a:t>
            </a:r>
            <a:r>
              <a:rPr lang="en-US" altLang="en-US" sz="1800">
                <a:solidFill>
                  <a:schemeClr val="tx1"/>
                </a:solidFill>
                <a:sym typeface="+mn-ea"/>
              </a:rPr>
              <a:t>á</a:t>
            </a:r>
            <a:r>
              <a:rPr lang="en-US" altLang="en-GB" sz="1800">
                <a:solidFill>
                  <a:schemeClr val="tx1"/>
                </a:solidFill>
                <a:sym typeface="+mn-ea"/>
              </a:rPr>
              <a:t>nh gi</a:t>
            </a:r>
            <a:r>
              <a:rPr lang="en-US" altLang="en-US" sz="1800">
                <a:solidFill>
                  <a:schemeClr val="tx1"/>
                </a:solidFill>
                <a:sym typeface="+mn-ea"/>
              </a:rPr>
              <a:t>á</a:t>
            </a:r>
            <a:r>
              <a:rPr lang="en-US" altLang="en-GB" sz="1800">
                <a:solidFill>
                  <a:schemeClr val="tx1"/>
                </a:solidFill>
                <a:sym typeface="+mn-ea"/>
              </a:rPr>
              <a:t> thực tế của con ng</a:t>
            </a:r>
            <a:r>
              <a:rPr lang="en-US" altLang="en-US" sz="1800">
                <a:solidFill>
                  <a:schemeClr val="tx1"/>
                </a:solidFill>
                <a:sym typeface="+mn-ea"/>
              </a:rPr>
              <a:t>ư</a:t>
            </a:r>
            <a:r>
              <a:rPr lang="en-US" altLang="en-GB" sz="1800">
                <a:solidFill>
                  <a:schemeClr val="tx1"/>
                </a:solidFill>
                <a:sym typeface="+mn-ea"/>
              </a:rPr>
              <a:t>ời. </a:t>
            </a:r>
            <a:br>
              <a:rPr lang="en-US" altLang="en-GB" sz="1800">
                <a:solidFill>
                  <a:schemeClr val="tx1"/>
                </a:solidFill>
                <a:sym typeface="+mn-ea"/>
              </a:rPr>
            </a:br>
            <a:br>
              <a:rPr lang="en-US" altLang="en-GB" sz="1800">
                <a:solidFill>
                  <a:schemeClr val="tx1"/>
                </a:solidFill>
                <a:sym typeface="+mn-ea"/>
              </a:rPr>
            </a:br>
            <a:r>
              <a:rPr lang="en-US" altLang="en-GB" sz="1800">
                <a:solidFill>
                  <a:schemeClr val="tx1"/>
                </a:solidFill>
                <a:sym typeface="+mn-ea"/>
              </a:rPr>
              <a:t>					cosine-sim(u,v)∈[−1,1]</a:t>
            </a: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endParaRPr lang="en-US" altLang="en-GB" sz="1800">
              <a:solidFill>
                <a:schemeClr val="tx1"/>
              </a:solidFill>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59690"/>
            <a:ext cx="11799570" cy="6635750"/>
          </a:xfrm>
        </p:spPr>
        <p:txBody>
          <a:bodyPr>
            <a:noAutofit/>
          </a:bodyPr>
          <a:p>
            <a:r>
              <a:rPr lang="en-US" altLang="en-GB" sz="3500"/>
              <a:t>4. Kiến trúc SBERT</a:t>
            </a:r>
            <a:br>
              <a:rPr lang="en-US" altLang="en-GB" sz="3500"/>
            </a:br>
            <a:br>
              <a:rPr lang="en-US" altLang="en-GB" sz="1800">
                <a:solidFill>
                  <a:schemeClr val="tx1"/>
                </a:solidFill>
                <a:highlight>
                  <a:srgbClr val="FFFF00"/>
                </a:highlight>
              </a:rPr>
            </a:br>
            <a:r>
              <a:rPr lang="en-US" altLang="en-GB" sz="1800">
                <a:highlight>
                  <a:srgbClr val="FFFF00"/>
                </a:highlight>
                <a:sym typeface="+mn-ea"/>
              </a:rPr>
              <a:t>4.2. </a:t>
            </a:r>
            <a:r>
              <a:rPr lang="en-US" sz="1800">
                <a:highlight>
                  <a:srgbClr val="FFFF00"/>
                </a:highlight>
                <a:sym typeface="+mn-ea"/>
              </a:rPr>
              <a:t>Hàm mục tiêu</a:t>
            </a:r>
            <a:r>
              <a:rPr lang="en-US" altLang="en-GB" sz="1800">
                <a:highlight>
                  <a:srgbClr val="FFFF00"/>
                </a:highlight>
                <a:sym typeface="+mn-ea"/>
              </a:rPr>
              <a:t> (Objective Functions)</a:t>
            </a:r>
            <a:br>
              <a:rPr lang="en-US" altLang="en-GB" sz="1800">
                <a:sym typeface="+mn-ea"/>
              </a:rPr>
            </a:br>
            <a:br>
              <a:rPr lang="en-US" altLang="en-GB" sz="1800">
                <a:sym typeface="+mn-ea"/>
              </a:rPr>
            </a:br>
            <a:r>
              <a:rPr lang="en-US" altLang="en-GB" sz="1800" b="1">
                <a:solidFill>
                  <a:schemeClr val="tx1"/>
                </a:solidFill>
                <a:sym typeface="+mn-ea"/>
              </a:rPr>
              <a:t>c. Hàm mục ti</a:t>
            </a:r>
            <a:r>
              <a:rPr lang="en-US" altLang="en-US" sz="1800" b="1">
                <a:solidFill>
                  <a:schemeClr val="tx1"/>
                </a:solidFill>
                <a:sym typeface="+mn-ea"/>
              </a:rPr>
              <a:t>ê</a:t>
            </a:r>
            <a:r>
              <a:rPr lang="en-US" altLang="en-GB" sz="1800" b="1">
                <a:solidFill>
                  <a:schemeClr val="tx1"/>
                </a:solidFill>
                <a:sym typeface="+mn-ea"/>
              </a:rPr>
              <a:t>u Triplet (Triplet Objective Function)</a:t>
            </a:r>
            <a:br>
              <a:rPr lang="en-US" altLang="en-GB" sz="1800">
                <a:solidFill>
                  <a:schemeClr val="tx1"/>
                </a:solidFill>
                <a:sym typeface="+mn-ea"/>
              </a:rPr>
            </a:br>
            <a:r>
              <a:rPr lang="en-US" altLang="en-US" sz="1800">
                <a:solidFill>
                  <a:schemeClr val="tx1"/>
                </a:solidFill>
                <a:sym typeface="+mn-ea"/>
              </a:rPr>
              <a:t>Đ</a:t>
            </a:r>
            <a:r>
              <a:rPr lang="en-US" altLang="en-US" sz="1800">
                <a:solidFill>
                  <a:schemeClr val="tx1"/>
                </a:solidFill>
                <a:sym typeface="+mn-ea"/>
              </a:rPr>
              <a:t>â</a:t>
            </a:r>
            <a:r>
              <a:rPr lang="en-US" altLang="en-GB" sz="1800">
                <a:solidFill>
                  <a:schemeClr val="tx1"/>
                </a:solidFill>
                <a:sym typeface="+mn-ea"/>
              </a:rPr>
              <a:t>y là hàm mục ti</a:t>
            </a:r>
            <a:r>
              <a:rPr lang="en-US" altLang="en-US" sz="1800">
                <a:solidFill>
                  <a:schemeClr val="tx1"/>
                </a:solidFill>
                <a:sym typeface="+mn-ea"/>
              </a:rPr>
              <a:t>ê</a:t>
            </a:r>
            <a:r>
              <a:rPr lang="en-US" altLang="en-GB" sz="1800">
                <a:solidFill>
                  <a:schemeClr val="tx1"/>
                </a:solidFill>
                <a:sym typeface="+mn-ea"/>
              </a:rPr>
              <a:t>u thể hiện r</a:t>
            </a:r>
            <a:r>
              <a:rPr lang="en-US" altLang="en-US" sz="1800">
                <a:solidFill>
                  <a:schemeClr val="tx1"/>
                </a:solidFill>
                <a:sym typeface="+mn-ea"/>
              </a:rPr>
              <a:t>õ</a:t>
            </a:r>
            <a:r>
              <a:rPr lang="en-US" altLang="en-GB" sz="1800">
                <a:solidFill>
                  <a:schemeClr val="tx1"/>
                </a:solidFill>
                <a:sym typeface="+mn-ea"/>
              </a:rPr>
              <a:t> ràng nhất c</a:t>
            </a:r>
            <a:r>
              <a:rPr lang="en-US" altLang="en-US" sz="1800">
                <a:solidFill>
                  <a:schemeClr val="tx1"/>
                </a:solidFill>
                <a:sym typeface="+mn-ea"/>
              </a:rPr>
              <a:t>ơ</a:t>
            </a:r>
            <a:r>
              <a:rPr lang="en-US" altLang="en-GB" sz="1800">
                <a:solidFill>
                  <a:schemeClr val="tx1"/>
                </a:solidFill>
                <a:sym typeface="+mn-ea"/>
              </a:rPr>
              <a:t> chế "k</a:t>
            </a:r>
            <a:r>
              <a:rPr lang="en-US" altLang="en-US" sz="1800">
                <a:solidFill>
                  <a:schemeClr val="tx1"/>
                </a:solidFill>
                <a:sym typeface="+mn-ea"/>
              </a:rPr>
              <a:t>é</a:t>
            </a:r>
            <a:r>
              <a:rPr lang="en-US" altLang="en-GB" sz="1800">
                <a:solidFill>
                  <a:schemeClr val="tx1"/>
                </a:solidFill>
                <a:sym typeface="+mn-ea"/>
              </a:rPr>
              <a:t>o gần, </a:t>
            </a:r>
            <a:r>
              <a:rPr lang="en-US" altLang="en-US" sz="1800">
                <a:solidFill>
                  <a:schemeClr val="tx1"/>
                </a:solidFill>
                <a:sym typeface="+mn-ea"/>
              </a:rPr>
              <a:t>đ</a:t>
            </a:r>
            <a:r>
              <a:rPr lang="en-US" altLang="en-GB" sz="1800">
                <a:solidFill>
                  <a:schemeClr val="tx1"/>
                </a:solidFill>
                <a:sym typeface="+mn-ea"/>
              </a:rPr>
              <a:t>ẩy xa" trong to</a:t>
            </a:r>
            <a:r>
              <a:rPr lang="en-US" altLang="en-US" sz="1800">
                <a:solidFill>
                  <a:schemeClr val="tx1"/>
                </a:solidFill>
                <a:sym typeface="+mn-ea"/>
              </a:rPr>
              <a:t>á</a:t>
            </a:r>
            <a:r>
              <a:rPr lang="en-US" altLang="en-GB" sz="1800">
                <a:solidFill>
                  <a:schemeClr val="tx1"/>
                </a:solidFill>
                <a:sym typeface="+mn-ea"/>
              </a:rPr>
              <a:t>n học của SBERT. Qu</a:t>
            </a:r>
            <a:r>
              <a:rPr lang="en-US" altLang="en-US" sz="1800">
                <a:solidFill>
                  <a:schemeClr val="tx1"/>
                </a:solidFill>
                <a:sym typeface="+mn-ea"/>
              </a:rPr>
              <a:t>á</a:t>
            </a:r>
            <a:r>
              <a:rPr lang="en-US" altLang="en-GB" sz="1800">
                <a:solidFill>
                  <a:schemeClr val="tx1"/>
                </a:solidFill>
                <a:sym typeface="+mn-ea"/>
              </a:rPr>
              <a:t> tr</a:t>
            </a:r>
            <a:r>
              <a:rPr lang="en-US" altLang="en-US" sz="1800">
                <a:solidFill>
                  <a:schemeClr val="tx1"/>
                </a:solidFill>
                <a:sym typeface="+mn-ea"/>
              </a:rPr>
              <a:t>ì</a:t>
            </a:r>
            <a:r>
              <a:rPr lang="en-US" altLang="en-GB" sz="1800">
                <a:solidFill>
                  <a:schemeClr val="tx1"/>
                </a:solidFill>
                <a:sym typeface="+mn-ea"/>
              </a:rPr>
              <a:t>nh huấn luyện y</a:t>
            </a:r>
            <a:r>
              <a:rPr lang="en-US" altLang="en-US" sz="1800">
                <a:solidFill>
                  <a:schemeClr val="tx1"/>
                </a:solidFill>
                <a:sym typeface="+mn-ea"/>
              </a:rPr>
              <a:t>ê</a:t>
            </a:r>
            <a:r>
              <a:rPr lang="en-US" altLang="en-GB" sz="1800">
                <a:solidFill>
                  <a:schemeClr val="tx1"/>
                </a:solidFill>
                <a:sym typeface="+mn-ea"/>
              </a:rPr>
              <a:t>u cầu dữ liệu </a:t>
            </a:r>
            <a:r>
              <a:rPr lang="en-US" altLang="en-US" sz="1800">
                <a:solidFill>
                  <a:schemeClr val="tx1"/>
                </a:solidFill>
                <a:sym typeface="+mn-ea"/>
              </a:rPr>
              <a:t>đ</a:t>
            </a:r>
            <a:r>
              <a:rPr lang="en-US" altLang="en-GB" sz="1800">
                <a:solidFill>
                  <a:schemeClr val="tx1"/>
                </a:solidFill>
                <a:sym typeface="+mn-ea"/>
              </a:rPr>
              <a:t>ầu vào gồm 3 c</a:t>
            </a:r>
            <a:r>
              <a:rPr lang="en-US" altLang="en-US" sz="1800">
                <a:solidFill>
                  <a:schemeClr val="tx1"/>
                </a:solidFill>
                <a:sym typeface="+mn-ea"/>
              </a:rPr>
              <a:t>â</a:t>
            </a:r>
            <a:r>
              <a:rPr lang="en-US" altLang="en-GB" sz="1800">
                <a:solidFill>
                  <a:schemeClr val="tx1"/>
                </a:solidFill>
                <a:sym typeface="+mn-ea"/>
              </a:rPr>
              <a:t>u:</a:t>
            </a:r>
            <a:br>
              <a:rPr lang="en-US" altLang="en-GB" sz="1800">
                <a:solidFill>
                  <a:schemeClr val="tx1"/>
                </a:solidFill>
                <a:sym typeface="+mn-ea"/>
              </a:rPr>
            </a:br>
            <a:r>
              <a:rPr lang="en-US" altLang="en-GB" sz="1800">
                <a:solidFill>
                  <a:schemeClr val="tx1"/>
                </a:solidFill>
                <a:sym typeface="+mn-ea"/>
              </a:rPr>
              <a:t>	01 c</a:t>
            </a:r>
            <a:r>
              <a:rPr lang="en-US" altLang="en-US" sz="1800">
                <a:solidFill>
                  <a:schemeClr val="tx1"/>
                </a:solidFill>
                <a:sym typeface="+mn-ea"/>
              </a:rPr>
              <a:t>â</a:t>
            </a:r>
            <a:r>
              <a:rPr lang="en-US" altLang="en-GB" sz="1800">
                <a:solidFill>
                  <a:schemeClr val="tx1"/>
                </a:solidFill>
                <a:sym typeface="+mn-ea"/>
              </a:rPr>
              <a:t>u neo (anchor a)</a:t>
            </a:r>
            <a:br>
              <a:rPr lang="en-US" altLang="en-GB" sz="1800">
                <a:solidFill>
                  <a:schemeClr val="tx1"/>
                </a:solidFill>
                <a:sym typeface="+mn-ea"/>
              </a:rPr>
            </a:br>
            <a:r>
              <a:rPr lang="en-US" altLang="en-GB" sz="1800">
                <a:solidFill>
                  <a:schemeClr val="tx1"/>
                </a:solidFill>
                <a:sym typeface="+mn-ea"/>
              </a:rPr>
              <a:t>	01 c</a:t>
            </a:r>
            <a:r>
              <a:rPr lang="en-US" altLang="en-US" sz="1800">
                <a:solidFill>
                  <a:schemeClr val="tx1"/>
                </a:solidFill>
                <a:sym typeface="+mn-ea"/>
              </a:rPr>
              <a:t>â</a:t>
            </a:r>
            <a:r>
              <a:rPr lang="en-US" altLang="en-GB" sz="1800">
                <a:solidFill>
                  <a:schemeClr val="tx1"/>
                </a:solidFill>
                <a:sym typeface="+mn-ea"/>
              </a:rPr>
              <a:t>u d</a:t>
            </a:r>
            <a:r>
              <a:rPr lang="en-US" altLang="en-US" sz="1800">
                <a:solidFill>
                  <a:schemeClr val="tx1"/>
                </a:solidFill>
                <a:sym typeface="+mn-ea"/>
              </a:rPr>
              <a:t>ư</a:t>
            </a:r>
            <a:r>
              <a:rPr lang="en-US" altLang="en-US" sz="1800">
                <a:solidFill>
                  <a:schemeClr val="tx1"/>
                </a:solidFill>
                <a:sym typeface="+mn-ea"/>
              </a:rPr>
              <a:t>ơ</a:t>
            </a:r>
            <a:r>
              <a:rPr lang="en-US" altLang="en-GB" sz="1800">
                <a:solidFill>
                  <a:schemeClr val="tx1"/>
                </a:solidFill>
                <a:sym typeface="+mn-ea"/>
              </a:rPr>
              <a:t>ng t</a:t>
            </a:r>
            <a:r>
              <a:rPr lang="en-US" altLang="en-US" sz="1800">
                <a:solidFill>
                  <a:schemeClr val="tx1"/>
                </a:solidFill>
                <a:sym typeface="+mn-ea"/>
              </a:rPr>
              <a:t>í</a:t>
            </a:r>
            <a:r>
              <a:rPr lang="en-US" altLang="en-GB" sz="1800">
                <a:solidFill>
                  <a:schemeClr val="tx1"/>
                </a:solidFill>
                <a:sym typeface="+mn-ea"/>
              </a:rPr>
              <a:t>nh (positive p - c</a:t>
            </a:r>
            <a:r>
              <a:rPr lang="en-US" altLang="en-US" sz="1800">
                <a:solidFill>
                  <a:schemeClr val="tx1"/>
                </a:solidFill>
                <a:sym typeface="+mn-ea"/>
              </a:rPr>
              <a:t>ù</a:t>
            </a:r>
            <a:r>
              <a:rPr lang="en-US" altLang="en-GB" sz="1800">
                <a:solidFill>
                  <a:schemeClr val="tx1"/>
                </a:solidFill>
                <a:sym typeface="+mn-ea"/>
              </a:rPr>
              <a:t>ng ngữ ngh</a:t>
            </a:r>
            <a:r>
              <a:rPr lang="en-US" altLang="en-US" sz="1800">
                <a:solidFill>
                  <a:schemeClr val="tx1"/>
                </a:solidFill>
                <a:sym typeface="+mn-ea"/>
              </a:rPr>
              <a:t>ĩ</a:t>
            </a:r>
            <a:r>
              <a:rPr lang="en-US" altLang="en-GB" sz="1800">
                <a:solidFill>
                  <a:schemeClr val="tx1"/>
                </a:solidFill>
                <a:sym typeface="+mn-ea"/>
              </a:rPr>
              <a:t>a với a)</a:t>
            </a:r>
            <a:br>
              <a:rPr lang="en-US" altLang="en-GB" sz="1800">
                <a:solidFill>
                  <a:schemeClr val="tx1"/>
                </a:solidFill>
                <a:sym typeface="+mn-ea"/>
              </a:rPr>
            </a:br>
            <a:r>
              <a:rPr lang="en-US" altLang="en-GB" sz="1800">
                <a:solidFill>
                  <a:schemeClr val="tx1"/>
                </a:solidFill>
                <a:sym typeface="+mn-ea"/>
              </a:rPr>
              <a:t>	01 c</a:t>
            </a:r>
            <a:r>
              <a:rPr lang="en-US" altLang="en-US" sz="1800">
                <a:solidFill>
                  <a:schemeClr val="tx1"/>
                </a:solidFill>
                <a:sym typeface="+mn-ea"/>
              </a:rPr>
              <a:t>â</a:t>
            </a:r>
            <a:r>
              <a:rPr lang="en-US" altLang="en-GB" sz="1800">
                <a:solidFill>
                  <a:schemeClr val="tx1"/>
                </a:solidFill>
                <a:sym typeface="+mn-ea"/>
              </a:rPr>
              <a:t>u </a:t>
            </a:r>
            <a:r>
              <a:rPr lang="en-US" altLang="en-US" sz="1800">
                <a:solidFill>
                  <a:schemeClr val="tx1"/>
                </a:solidFill>
                <a:sym typeface="+mn-ea"/>
              </a:rPr>
              <a:t>â</a:t>
            </a:r>
            <a:r>
              <a:rPr lang="en-US" altLang="en-GB" sz="1800">
                <a:solidFill>
                  <a:schemeClr val="tx1"/>
                </a:solidFill>
                <a:sym typeface="+mn-ea"/>
              </a:rPr>
              <a:t>m t</a:t>
            </a:r>
            <a:r>
              <a:rPr lang="en-US" altLang="en-US" sz="1800">
                <a:solidFill>
                  <a:schemeClr val="tx1"/>
                </a:solidFill>
                <a:sym typeface="+mn-ea"/>
              </a:rPr>
              <a:t>í</a:t>
            </a:r>
            <a:r>
              <a:rPr lang="en-US" altLang="en-GB" sz="1800">
                <a:solidFill>
                  <a:schemeClr val="tx1"/>
                </a:solidFill>
                <a:sym typeface="+mn-ea"/>
              </a:rPr>
              <a:t>nh (negative n - kh</a:t>
            </a:r>
            <a:r>
              <a:rPr lang="en-US" altLang="en-US" sz="1800">
                <a:solidFill>
                  <a:schemeClr val="tx1"/>
                </a:solidFill>
                <a:sym typeface="+mn-ea"/>
              </a:rPr>
              <a:t>á</a:t>
            </a:r>
            <a:r>
              <a:rPr lang="en-US" altLang="en-GB" sz="1800">
                <a:solidFill>
                  <a:schemeClr val="tx1"/>
                </a:solidFill>
                <a:sym typeface="+mn-ea"/>
              </a:rPr>
              <a:t>c ngữ ngh</a:t>
            </a:r>
            <a:r>
              <a:rPr lang="en-US" altLang="en-US" sz="1800">
                <a:solidFill>
                  <a:schemeClr val="tx1"/>
                </a:solidFill>
                <a:sym typeface="+mn-ea"/>
              </a:rPr>
              <a:t>ĩ</a:t>
            </a:r>
            <a:r>
              <a:rPr lang="en-US" altLang="en-GB" sz="1800">
                <a:solidFill>
                  <a:schemeClr val="tx1"/>
                </a:solidFill>
                <a:sym typeface="+mn-ea"/>
              </a:rPr>
              <a:t>a với a)</a:t>
            </a:r>
            <a:br>
              <a:rPr lang="en-US" altLang="en-GB" sz="1800">
                <a:solidFill>
                  <a:schemeClr val="tx1"/>
                </a:solidFill>
                <a:sym typeface="+mn-ea"/>
              </a:rPr>
            </a:br>
            <a:r>
              <a:rPr lang="en-US" altLang="en-GB" sz="1800">
                <a:solidFill>
                  <a:schemeClr val="tx1"/>
                </a:solidFill>
                <a:sym typeface="+mn-ea"/>
              </a:rPr>
              <a:t>Hàm mất m</a:t>
            </a:r>
            <a:r>
              <a:rPr lang="en-US" altLang="en-US" sz="1800">
                <a:solidFill>
                  <a:schemeClr val="tx1"/>
                </a:solidFill>
                <a:sym typeface="+mn-ea"/>
              </a:rPr>
              <a:t>á</a:t>
            </a:r>
            <a:r>
              <a:rPr lang="en-US" altLang="en-GB" sz="1800">
                <a:solidFill>
                  <a:schemeClr val="tx1"/>
                </a:solidFill>
                <a:sym typeface="+mn-ea"/>
              </a:rPr>
              <a:t>t Triplet tinh chỉnh mạng l</a:t>
            </a:r>
            <a:r>
              <a:rPr lang="en-US" altLang="en-US" sz="1800">
                <a:solidFill>
                  <a:schemeClr val="tx1"/>
                </a:solidFill>
                <a:sym typeface="+mn-ea"/>
              </a:rPr>
              <a:t>ư</a:t>
            </a:r>
            <a:r>
              <a:rPr lang="en-US" altLang="en-GB" sz="1800">
                <a:solidFill>
                  <a:schemeClr val="tx1"/>
                </a:solidFill>
                <a:sym typeface="+mn-ea"/>
              </a:rPr>
              <a:t>ới sao cho khoảng c</a:t>
            </a:r>
            <a:r>
              <a:rPr lang="en-US" altLang="en-US" sz="1800">
                <a:solidFill>
                  <a:schemeClr val="tx1"/>
                </a:solidFill>
                <a:sym typeface="+mn-ea"/>
              </a:rPr>
              <a:t>á</a:t>
            </a:r>
            <a:r>
              <a:rPr lang="en-US" altLang="en-GB" sz="1800">
                <a:solidFill>
                  <a:schemeClr val="tx1"/>
                </a:solidFill>
                <a:sym typeface="+mn-ea"/>
              </a:rPr>
              <a:t>ch h</a:t>
            </a:r>
            <a:r>
              <a:rPr lang="en-US" altLang="en-US" sz="1800">
                <a:solidFill>
                  <a:schemeClr val="tx1"/>
                </a:solidFill>
                <a:sym typeface="+mn-ea"/>
              </a:rPr>
              <a:t>ì</a:t>
            </a:r>
            <a:r>
              <a:rPr lang="en-US" altLang="en-GB" sz="1800">
                <a:solidFill>
                  <a:schemeClr val="tx1"/>
                </a:solidFill>
                <a:sym typeface="+mn-ea"/>
              </a:rPr>
              <a:t>nh học giữa a và p phải nhỏ h</a:t>
            </a:r>
            <a:r>
              <a:rPr lang="en-US" altLang="en-US" sz="1800">
                <a:solidFill>
                  <a:schemeClr val="tx1"/>
                </a:solidFill>
                <a:sym typeface="+mn-ea"/>
              </a:rPr>
              <a:t>ơ</a:t>
            </a:r>
            <a:r>
              <a:rPr lang="en-US" altLang="en-GB" sz="1800">
                <a:solidFill>
                  <a:schemeClr val="tx1"/>
                </a:solidFill>
                <a:sym typeface="+mn-ea"/>
              </a:rPr>
              <a:t>n khoảng c</a:t>
            </a:r>
            <a:r>
              <a:rPr lang="en-US" altLang="en-US" sz="1800">
                <a:solidFill>
                  <a:schemeClr val="tx1"/>
                </a:solidFill>
                <a:sym typeface="+mn-ea"/>
              </a:rPr>
              <a:t>á</a:t>
            </a:r>
            <a:r>
              <a:rPr lang="en-US" altLang="en-GB" sz="1800">
                <a:solidFill>
                  <a:schemeClr val="tx1"/>
                </a:solidFill>
                <a:sym typeface="+mn-ea"/>
              </a:rPr>
              <a:t>ch giữa a và n.</a:t>
            </a: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r>
              <a:rPr lang="en-US" altLang="en-GB" sz="1800">
                <a:solidFill>
                  <a:schemeClr val="tx1"/>
                </a:solidFill>
                <a:sym typeface="+mn-ea"/>
              </a:rPr>
              <a:t> </a:t>
            </a:r>
            <a:br>
              <a:rPr lang="en-US" altLang="en-GB" sz="1800">
                <a:solidFill>
                  <a:schemeClr val="tx1"/>
                </a:solidFill>
                <a:sym typeface="+mn-ea"/>
              </a:rPr>
            </a:br>
            <a:br>
              <a:rPr lang="en-US" altLang="en-GB" sz="1800">
                <a:solidFill>
                  <a:schemeClr val="tx1"/>
                </a:solidFill>
                <a:sym typeface="+mn-ea"/>
              </a:rPr>
            </a:br>
            <a:endParaRPr lang="en-US" altLang="en-GB" sz="1800">
              <a:solidFill>
                <a:schemeClr val="tx1"/>
              </a:solidFill>
              <a:sym typeface="+mn-ea"/>
            </a:endParaRPr>
          </a:p>
        </p:txBody>
      </p:sp>
      <p:graphicFrame>
        <p:nvGraphicFramePr>
          <p:cNvPr id="2" name="Object 1"/>
          <p:cNvGraphicFramePr/>
          <p:nvPr/>
        </p:nvGraphicFramePr>
        <p:xfrm>
          <a:off x="2543810" y="3429000"/>
          <a:ext cx="7623175" cy="3265805"/>
        </p:xfrm>
        <a:graphic>
          <a:graphicData uri="http://schemas.openxmlformats.org/presentationml/2006/ole">
            <mc:AlternateContent xmlns:mc="http://schemas.openxmlformats.org/markup-compatibility/2006">
              <mc:Choice xmlns:v="urn:schemas-microsoft-com:vml" Requires="v">
                <p:oleObj spid="_x0000_s3" name="" r:id="rId1" imgW="8435340" imgH="3749040" progId="Paint.Picture">
                  <p:embed/>
                </p:oleObj>
              </mc:Choice>
              <mc:Fallback>
                <p:oleObj name="" r:id="rId1" imgW="8435340" imgH="3749040" progId="Paint.Picture">
                  <p:embed/>
                  <p:pic>
                    <p:nvPicPr>
                      <p:cNvPr id="0" name="Picture 2"/>
                      <p:cNvPicPr/>
                      <p:nvPr/>
                    </p:nvPicPr>
                    <p:blipFill>
                      <a:blip r:embed="rId2"/>
                      <a:stretch>
                        <a:fillRect/>
                      </a:stretch>
                    </p:blipFill>
                    <p:spPr>
                      <a:xfrm>
                        <a:off x="2543810" y="3429000"/>
                        <a:ext cx="7623175" cy="3265805"/>
                      </a:xfrm>
                      <a:prstGeom prst="rect">
                        <a:avLst/>
                      </a:prstGeom>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59690"/>
            <a:ext cx="11632565" cy="6635750"/>
          </a:xfrm>
        </p:spPr>
        <p:txBody>
          <a:bodyPr>
            <a:noAutofit/>
          </a:bodyPr>
          <a:p>
            <a:r>
              <a:rPr lang="en-US" altLang="en-GB" sz="3500"/>
              <a:t>4. Kiến trúc SBERT</a:t>
            </a:r>
            <a:br>
              <a:rPr lang="en-US" altLang="en-GB" sz="3500"/>
            </a:br>
            <a:br>
              <a:rPr lang="en-US" altLang="en-GB" sz="1800">
                <a:solidFill>
                  <a:schemeClr val="tx1"/>
                </a:solidFill>
                <a:highlight>
                  <a:srgbClr val="FFFF00"/>
                </a:highlight>
              </a:rPr>
            </a:br>
            <a:r>
              <a:rPr lang="en-US" altLang="en-GB" sz="1800">
                <a:solidFill>
                  <a:schemeClr val="tx1"/>
                </a:solidFill>
                <a:highlight>
                  <a:srgbClr val="FFFF00"/>
                </a:highlight>
              </a:rPr>
              <a:t>4.3. Cấu tr</a:t>
            </a:r>
            <a:r>
              <a:rPr lang="en-US" altLang="en-US" sz="1800">
                <a:solidFill>
                  <a:schemeClr val="tx1"/>
                </a:solidFill>
                <a:highlight>
                  <a:srgbClr val="FFFF00"/>
                </a:highlight>
              </a:rPr>
              <a:t>ú</a:t>
            </a:r>
            <a:r>
              <a:rPr lang="en-US" altLang="en-GB" sz="1800">
                <a:solidFill>
                  <a:schemeClr val="tx1"/>
                </a:solidFill>
                <a:highlight>
                  <a:srgbClr val="FFFF00"/>
                </a:highlight>
              </a:rPr>
              <a:t>c mạng Siamese và Triplet</a:t>
            </a:r>
            <a:br>
              <a:rPr lang="en-US" altLang="en-GB" sz="1800">
                <a:solidFill>
                  <a:schemeClr val="tx1"/>
                </a:solidFill>
              </a:rPr>
            </a:br>
            <a:br>
              <a:rPr lang="en-US" altLang="en-GB" sz="1800">
                <a:solidFill>
                  <a:schemeClr val="tx1"/>
                </a:solidFill>
              </a:rPr>
            </a:br>
            <a:r>
              <a:rPr lang="en-US" altLang="en-GB" sz="1800">
                <a:solidFill>
                  <a:schemeClr val="tx1"/>
                </a:solidFill>
              </a:rPr>
              <a:t>SBERT d</a:t>
            </a:r>
            <a:r>
              <a:rPr lang="en-US" altLang="en-US" sz="1800">
                <a:solidFill>
                  <a:schemeClr val="tx1"/>
                </a:solidFill>
              </a:rPr>
              <a:t>ù</a:t>
            </a:r>
            <a:r>
              <a:rPr lang="en-US" altLang="en-GB" sz="1800">
                <a:solidFill>
                  <a:schemeClr val="tx1"/>
                </a:solidFill>
              </a:rPr>
              <a:t>ng cả hai, nh</a:t>
            </a:r>
            <a:r>
              <a:rPr lang="en-US" altLang="en-US" sz="1800">
                <a:solidFill>
                  <a:schemeClr val="tx1"/>
                </a:solidFill>
              </a:rPr>
              <a:t>ư</a:t>
            </a:r>
            <a:r>
              <a:rPr lang="en-US" altLang="en-GB" sz="1800">
                <a:solidFill>
                  <a:schemeClr val="tx1"/>
                </a:solidFill>
              </a:rPr>
              <a:t>ng cấu tr</a:t>
            </a:r>
            <a:r>
              <a:rPr lang="en-US" altLang="en-US" sz="1800">
                <a:solidFill>
                  <a:schemeClr val="tx1"/>
                </a:solidFill>
              </a:rPr>
              <a:t>ú</a:t>
            </a:r>
            <a:r>
              <a:rPr lang="en-US" altLang="en-GB" sz="1800">
                <a:solidFill>
                  <a:schemeClr val="tx1"/>
                </a:solidFill>
              </a:rPr>
              <a:t>c mạng sẽ </a:t>
            </a:r>
            <a:r>
              <a:rPr lang="en-US" altLang="en-US" sz="1800">
                <a:solidFill>
                  <a:schemeClr val="tx1"/>
                </a:solidFill>
              </a:rPr>
              <a:t>đư</a:t>
            </a:r>
            <a:r>
              <a:rPr lang="en-US" altLang="en-GB" sz="1800">
                <a:solidFill>
                  <a:schemeClr val="tx1"/>
                </a:solidFill>
              </a:rPr>
              <a:t>ợc quyết </a:t>
            </a:r>
            <a:r>
              <a:rPr lang="en-US" altLang="en-US" sz="1800">
                <a:solidFill>
                  <a:schemeClr val="tx1"/>
                </a:solidFill>
              </a:rPr>
              <a:t>đ</a:t>
            </a:r>
            <a:r>
              <a:rPr lang="en-US" altLang="en-GB" sz="1800">
                <a:solidFill>
                  <a:schemeClr val="tx1"/>
                </a:solidFill>
              </a:rPr>
              <a:t>ịnh </a:t>
            </a:r>
            <a:r>
              <a:rPr lang="en-US" altLang="en-GB" sz="1800">
                <a:solidFill>
                  <a:srgbClr val="0070C0"/>
                </a:solidFill>
              </a:rPr>
              <a:t>T</a:t>
            </a:r>
            <a:r>
              <a:rPr lang="en-US" altLang="en-US" sz="1800">
                <a:solidFill>
                  <a:srgbClr val="0070C0"/>
                </a:solidFill>
              </a:rPr>
              <a:t>Ù</a:t>
            </a:r>
            <a:r>
              <a:rPr lang="en-US" altLang="en-GB" sz="1800">
                <a:solidFill>
                  <a:srgbClr val="0070C0"/>
                </a:solidFill>
              </a:rPr>
              <a:t>Y THUỘC V</a:t>
            </a:r>
            <a:r>
              <a:rPr lang="en-US" altLang="en-US" sz="1800">
                <a:solidFill>
                  <a:srgbClr val="0070C0"/>
                </a:solidFill>
              </a:rPr>
              <a:t>À</a:t>
            </a:r>
            <a:r>
              <a:rPr lang="en-US" altLang="en-GB" sz="1800">
                <a:solidFill>
                  <a:srgbClr val="0070C0"/>
                </a:solidFill>
              </a:rPr>
              <a:t>O LOẠI DỮ LIỆU HUẤN LUYỆN</a:t>
            </a:r>
            <a:r>
              <a:rPr lang="en-US" altLang="en-GB" sz="1800">
                <a:solidFill>
                  <a:schemeClr val="tx1"/>
                </a:solidFill>
              </a:rPr>
              <a:t> mà n</a:t>
            </a:r>
            <a:r>
              <a:rPr lang="en-US" altLang="en-US" sz="1800">
                <a:solidFill>
                  <a:schemeClr val="tx1"/>
                </a:solidFill>
              </a:rPr>
              <a:t>ó</a:t>
            </a:r>
            <a:r>
              <a:rPr lang="en-US" altLang="en-GB" sz="1800">
                <a:solidFill>
                  <a:schemeClr val="tx1"/>
                </a:solidFill>
              </a:rPr>
              <a:t> nhận </a:t>
            </a:r>
            <a:r>
              <a:rPr lang="en-US" altLang="en-US" sz="1800">
                <a:solidFill>
                  <a:schemeClr val="tx1"/>
                </a:solidFill>
              </a:rPr>
              <a:t>đư</a:t>
            </a:r>
            <a:r>
              <a:rPr lang="en-US" altLang="en-GB" sz="1800">
                <a:solidFill>
                  <a:schemeClr val="tx1"/>
                </a:solidFill>
              </a:rPr>
              <a:t>ợc.</a:t>
            </a:r>
            <a:br>
              <a:rPr lang="en-US" altLang="en-GB" sz="1800">
                <a:solidFill>
                  <a:schemeClr val="tx1"/>
                </a:solidFill>
              </a:rPr>
            </a:br>
            <a:br>
              <a:rPr lang="en-US" altLang="en-GB" sz="1800">
                <a:solidFill>
                  <a:schemeClr val="tx1"/>
                </a:solidFill>
              </a:rPr>
            </a:br>
            <a:r>
              <a:rPr lang="en-US" altLang="en-GB" sz="1800" b="1">
                <a:solidFill>
                  <a:schemeClr val="tx1"/>
                </a:solidFill>
                <a:sym typeface="+mn-ea"/>
              </a:rPr>
              <a:t>a. D</a:t>
            </a:r>
            <a:r>
              <a:rPr lang="en-US" altLang="en-US" sz="1800" b="1">
                <a:solidFill>
                  <a:schemeClr val="tx1"/>
                </a:solidFill>
                <a:sym typeface="+mn-ea"/>
              </a:rPr>
              <a:t>ù</a:t>
            </a:r>
            <a:r>
              <a:rPr lang="en-US" altLang="en-GB" sz="1800" b="1">
                <a:solidFill>
                  <a:schemeClr val="tx1"/>
                </a:solidFill>
                <a:sym typeface="+mn-ea"/>
              </a:rPr>
              <a:t>ng kiến tr</a:t>
            </a:r>
            <a:r>
              <a:rPr lang="en-US" altLang="en-US" sz="1800" b="1">
                <a:solidFill>
                  <a:schemeClr val="tx1"/>
                </a:solidFill>
                <a:sym typeface="+mn-ea"/>
              </a:rPr>
              <a:t>ú</a:t>
            </a:r>
            <a:r>
              <a:rPr lang="en-US" altLang="en-GB" sz="1800" b="1">
                <a:solidFill>
                  <a:schemeClr val="tx1"/>
                </a:solidFill>
                <a:sym typeface="+mn-ea"/>
              </a:rPr>
              <a:t>c Siamese (2 nhánh) khi:</a:t>
            </a:r>
            <a:br>
              <a:rPr lang="en-US" altLang="en-GB" sz="1800">
                <a:sym typeface="+mn-ea"/>
              </a:rPr>
            </a:br>
            <a:r>
              <a:rPr lang="en-US" altLang="en-GB" sz="1800">
                <a:sym typeface="+mn-ea"/>
              </a:rPr>
              <a:t>Dữ liệu huấn luyện c</a:t>
            </a:r>
            <a:r>
              <a:rPr lang="en-US" altLang="en-US" sz="1800">
                <a:sym typeface="+mn-ea"/>
              </a:rPr>
              <a:t>ó</a:t>
            </a:r>
            <a:r>
              <a:rPr lang="en-US" altLang="en-GB" sz="1800">
                <a:sym typeface="+mn-ea"/>
              </a:rPr>
              <a:t> sẵn ở dạng Cặp c</a:t>
            </a:r>
            <a:r>
              <a:rPr lang="en-US" altLang="en-US" sz="1800">
                <a:sym typeface="+mn-ea"/>
              </a:rPr>
              <a:t>â</a:t>
            </a:r>
            <a:r>
              <a:rPr lang="en-US" altLang="en-GB" sz="1800">
                <a:sym typeface="+mn-ea"/>
              </a:rPr>
              <a:t>u (Pairs): (C</a:t>
            </a:r>
            <a:r>
              <a:rPr lang="en-US" altLang="en-US" sz="1800">
                <a:sym typeface="+mn-ea"/>
              </a:rPr>
              <a:t>â</a:t>
            </a:r>
            <a:r>
              <a:rPr lang="en-US" altLang="en-GB" sz="1800">
                <a:sym typeface="+mn-ea"/>
              </a:rPr>
              <a:t>u A, C</a:t>
            </a:r>
            <a:r>
              <a:rPr lang="en-US" altLang="en-US" sz="1800">
                <a:sym typeface="+mn-ea"/>
              </a:rPr>
              <a:t>â</a:t>
            </a:r>
            <a:r>
              <a:rPr lang="en-US" altLang="en-GB" sz="1800">
                <a:sym typeface="+mn-ea"/>
              </a:rPr>
              <a:t>u B, Nh</a:t>
            </a:r>
            <a:r>
              <a:rPr lang="en-US" altLang="en-US" sz="1800">
                <a:sym typeface="+mn-ea"/>
              </a:rPr>
              <a:t>ã</a:t>
            </a:r>
            <a:r>
              <a:rPr lang="en-US" altLang="en-GB" sz="1800">
                <a:sym typeface="+mn-ea"/>
              </a:rPr>
              <a:t>n).</a:t>
            </a:r>
            <a:br>
              <a:rPr lang="en-US" altLang="en-GB" sz="1800">
                <a:sym typeface="+mn-ea"/>
              </a:rPr>
            </a:br>
            <a:br>
              <a:rPr lang="en-US" altLang="en-GB" sz="1800">
                <a:sym typeface="+mn-ea"/>
              </a:rPr>
            </a:br>
            <a:r>
              <a:rPr lang="en-US" altLang="en-GB" sz="1800">
                <a:sym typeface="+mn-ea"/>
              </a:rPr>
              <a:t>	Tr</a:t>
            </a:r>
            <a:r>
              <a:rPr lang="en-US" altLang="en-US" sz="1800">
                <a:sym typeface="+mn-ea"/>
              </a:rPr>
              <a:t>ư</a:t>
            </a:r>
            <a:r>
              <a:rPr lang="en-US" altLang="en-GB" sz="1800">
                <a:sym typeface="+mn-ea"/>
              </a:rPr>
              <a:t>ờng hợp 1a: Nếu dữ liệu (nh</a:t>
            </a:r>
            <a:r>
              <a:rPr lang="en-US" altLang="en-US" sz="1800">
                <a:sym typeface="+mn-ea"/>
              </a:rPr>
              <a:t>ư</a:t>
            </a:r>
            <a:r>
              <a:rPr lang="en-US" altLang="en-GB" sz="1800">
                <a:sym typeface="+mn-ea"/>
              </a:rPr>
              <a:t> bộ NLI) ph</a:t>
            </a:r>
            <a:r>
              <a:rPr lang="en-US" altLang="en-US" sz="1800">
                <a:sym typeface="+mn-ea"/>
              </a:rPr>
              <a:t>â</a:t>
            </a:r>
            <a:r>
              <a:rPr lang="en-US" altLang="en-GB" sz="1800">
                <a:sym typeface="+mn-ea"/>
              </a:rPr>
              <a:t>n loại nh</a:t>
            </a:r>
            <a:r>
              <a:rPr lang="en-US" altLang="en-US" sz="1800">
                <a:sym typeface="+mn-ea"/>
              </a:rPr>
              <a:t>ã</a:t>
            </a:r>
            <a:r>
              <a:rPr lang="en-US" altLang="en-GB" sz="1800">
                <a:sym typeface="+mn-ea"/>
              </a:rPr>
              <a:t>n thành c</a:t>
            </a:r>
            <a:r>
              <a:rPr lang="en-US" altLang="en-US" sz="1800">
                <a:sym typeface="+mn-ea"/>
              </a:rPr>
              <a:t>á</a:t>
            </a:r>
            <a:r>
              <a:rPr lang="en-US" altLang="en-GB" sz="1800">
                <a:sym typeface="+mn-ea"/>
              </a:rPr>
              <a:t>c hạng mục (v</a:t>
            </a:r>
            <a:r>
              <a:rPr lang="en-US" altLang="en-US" sz="1800">
                <a:sym typeface="+mn-ea"/>
              </a:rPr>
              <a:t>í</a:t>
            </a:r>
            <a:r>
              <a:rPr lang="en-US" altLang="en-GB" sz="1800">
                <a:sym typeface="+mn-ea"/>
              </a:rPr>
              <a:t> dụ: k</a:t>
            </a:r>
            <a:r>
              <a:rPr lang="en-US" altLang="en-US" sz="1800">
                <a:sym typeface="+mn-ea"/>
              </a:rPr>
              <a:t>é</a:t>
            </a:r>
            <a:r>
              <a:rPr lang="en-US" altLang="en-GB" sz="1800">
                <a:sym typeface="+mn-ea"/>
              </a:rPr>
              <a:t>o theo, m</a:t>
            </a:r>
            <a:r>
              <a:rPr lang="en-US" altLang="en-US" sz="1800">
                <a:sym typeface="+mn-ea"/>
              </a:rPr>
              <a:t>â</a:t>
            </a:r>
            <a:r>
              <a:rPr lang="en-US" altLang="en-GB" sz="1800">
                <a:sym typeface="+mn-ea"/>
              </a:rPr>
              <a:t>u thuẫn, trung lập), SBERT sẽ d</a:t>
            </a:r>
            <a:r>
              <a:rPr lang="en-US" altLang="en-US" sz="1800">
                <a:sym typeface="+mn-ea"/>
              </a:rPr>
              <a:t>ù</a:t>
            </a:r>
            <a:r>
              <a:rPr lang="en-US" altLang="en-GB" sz="1800">
                <a:sym typeface="+mn-ea"/>
              </a:rPr>
              <a:t>ng 2 nh</a:t>
            </a:r>
            <a:r>
              <a:rPr lang="en-US" altLang="en-US" sz="1800">
                <a:sym typeface="+mn-ea"/>
              </a:rPr>
              <a:t>á</a:t>
            </a:r>
            <a:r>
              <a:rPr lang="en-US" altLang="en-GB" sz="1800">
                <a:sym typeface="+mn-ea"/>
              </a:rPr>
              <a:t>nh với </a:t>
            </a:r>
            <a:r>
              <a:rPr lang="en-US" altLang="en-GB" sz="1800" b="1">
                <a:solidFill>
                  <a:srgbClr val="0070C0"/>
                </a:solidFill>
                <a:sym typeface="+mn-ea"/>
              </a:rPr>
              <a:t>Hàm mục ti</a:t>
            </a:r>
            <a:r>
              <a:rPr lang="en-US" altLang="en-US" sz="1800" b="1">
                <a:solidFill>
                  <a:srgbClr val="0070C0"/>
                </a:solidFill>
                <a:sym typeface="+mn-ea"/>
              </a:rPr>
              <a:t>ê</a:t>
            </a:r>
            <a:r>
              <a:rPr lang="en-US" altLang="en-GB" sz="1800" b="1">
                <a:solidFill>
                  <a:srgbClr val="0070C0"/>
                </a:solidFill>
                <a:sym typeface="+mn-ea"/>
              </a:rPr>
              <a:t>u ph</a:t>
            </a:r>
            <a:r>
              <a:rPr lang="en-US" altLang="en-US" sz="1800" b="1">
                <a:solidFill>
                  <a:srgbClr val="0070C0"/>
                </a:solidFill>
                <a:sym typeface="+mn-ea"/>
              </a:rPr>
              <a:t>â</a:t>
            </a:r>
            <a:r>
              <a:rPr lang="en-US" altLang="en-GB" sz="1800" b="1">
                <a:solidFill>
                  <a:srgbClr val="0070C0"/>
                </a:solidFill>
                <a:sym typeface="+mn-ea"/>
              </a:rPr>
              <a:t>n loại</a:t>
            </a:r>
            <a:r>
              <a:rPr lang="en-US" altLang="en-GB" sz="1800">
                <a:sym typeface="+mn-ea"/>
              </a:rPr>
              <a:t>.</a:t>
            </a:r>
            <a:br>
              <a:rPr lang="en-US" altLang="en-GB" sz="1800">
                <a:sym typeface="+mn-ea"/>
              </a:rPr>
            </a:br>
            <a:br>
              <a:rPr lang="en-US" altLang="en-GB" sz="1800">
                <a:sym typeface="+mn-ea"/>
              </a:rPr>
            </a:br>
            <a:r>
              <a:rPr lang="en-US" altLang="en-GB" sz="1800">
                <a:sym typeface="+mn-ea"/>
              </a:rPr>
              <a:t>	Tr</a:t>
            </a:r>
            <a:r>
              <a:rPr lang="en-US" altLang="en-US" sz="1800">
                <a:sym typeface="+mn-ea"/>
              </a:rPr>
              <a:t>ư</a:t>
            </a:r>
            <a:r>
              <a:rPr lang="en-US" altLang="en-GB" sz="1800">
                <a:sym typeface="+mn-ea"/>
              </a:rPr>
              <a:t>ờng hợp 1b: Nếu dữ liệu (nh</a:t>
            </a:r>
            <a:r>
              <a:rPr lang="en-US" altLang="en-US" sz="1800">
                <a:sym typeface="+mn-ea"/>
              </a:rPr>
              <a:t>ư</a:t>
            </a:r>
            <a:r>
              <a:rPr lang="en-US" altLang="en-GB" sz="1800">
                <a:sym typeface="+mn-ea"/>
              </a:rPr>
              <a:t> bộ STSb) chấm </a:t>
            </a:r>
            <a:r>
              <a:rPr lang="en-US" altLang="en-US" sz="1800">
                <a:sym typeface="+mn-ea"/>
              </a:rPr>
              <a:t>đ</a:t>
            </a:r>
            <a:r>
              <a:rPr lang="en-US" altLang="en-GB" sz="1800">
                <a:sym typeface="+mn-ea"/>
              </a:rPr>
              <a:t>iểm </a:t>
            </a:r>
            <a:r>
              <a:rPr lang="en-US" altLang="en-US" sz="1800">
                <a:sym typeface="+mn-ea"/>
              </a:rPr>
              <a:t>đ</a:t>
            </a:r>
            <a:r>
              <a:rPr lang="en-US" altLang="en-GB" sz="1800">
                <a:sym typeface="+mn-ea"/>
              </a:rPr>
              <a:t>ộ t</a:t>
            </a:r>
            <a:r>
              <a:rPr lang="en-US" altLang="en-US" sz="1800">
                <a:sym typeface="+mn-ea"/>
              </a:rPr>
              <a:t>ư</a:t>
            </a:r>
            <a:r>
              <a:rPr lang="en-US" altLang="en-US" sz="1800">
                <a:sym typeface="+mn-ea"/>
              </a:rPr>
              <a:t>ơ</a:t>
            </a:r>
            <a:r>
              <a:rPr lang="en-US" altLang="en-GB" sz="1800">
                <a:sym typeface="+mn-ea"/>
              </a:rPr>
              <a:t>ng </a:t>
            </a:r>
            <a:r>
              <a:rPr lang="en-US" altLang="en-US" sz="1800">
                <a:sym typeface="+mn-ea"/>
              </a:rPr>
              <a:t>đ</a:t>
            </a:r>
            <a:r>
              <a:rPr lang="en-US" altLang="en-GB" sz="1800">
                <a:sym typeface="+mn-ea"/>
              </a:rPr>
              <a:t>ồng bằng c</a:t>
            </a:r>
            <a:r>
              <a:rPr lang="en-US" altLang="en-US" sz="1800">
                <a:sym typeface="+mn-ea"/>
              </a:rPr>
              <a:t>á</a:t>
            </a:r>
            <a:r>
              <a:rPr lang="en-US" altLang="en-GB" sz="1800">
                <a:sym typeface="+mn-ea"/>
              </a:rPr>
              <a:t>c con số (v</a:t>
            </a:r>
            <a:r>
              <a:rPr lang="en-US" altLang="en-US" sz="1800">
                <a:sym typeface="+mn-ea"/>
              </a:rPr>
              <a:t>í</a:t>
            </a:r>
            <a:r>
              <a:rPr lang="en-US" altLang="en-GB" sz="1800">
                <a:sym typeface="+mn-ea"/>
              </a:rPr>
              <a:t> dụ: </a:t>
            </a:r>
            <a:r>
              <a:rPr lang="en-US" altLang="en-US" sz="1800">
                <a:sym typeface="+mn-ea"/>
              </a:rPr>
              <a:t>đ</a:t>
            </a:r>
            <a:r>
              <a:rPr lang="en-US" altLang="en-GB" sz="1800">
                <a:sym typeface="+mn-ea"/>
              </a:rPr>
              <a:t>iểm từ 0 </a:t>
            </a:r>
            <a:r>
              <a:rPr lang="en-US" altLang="en-US" sz="1800">
                <a:sym typeface="+mn-ea"/>
              </a:rPr>
              <a:t>đ</a:t>
            </a:r>
            <a:r>
              <a:rPr lang="en-US" altLang="en-GB" sz="1800">
                <a:sym typeface="+mn-ea"/>
              </a:rPr>
              <a:t>ến 5), SBERT sẽ d</a:t>
            </a:r>
            <a:r>
              <a:rPr lang="en-US" altLang="en-US" sz="1800">
                <a:sym typeface="+mn-ea"/>
              </a:rPr>
              <a:t>ù</a:t>
            </a:r>
            <a:r>
              <a:rPr lang="en-US" altLang="en-GB" sz="1800">
                <a:sym typeface="+mn-ea"/>
              </a:rPr>
              <a:t>ng 2 nh</a:t>
            </a:r>
            <a:r>
              <a:rPr lang="en-US" altLang="en-US" sz="1800">
                <a:sym typeface="+mn-ea"/>
              </a:rPr>
              <a:t>á</a:t>
            </a:r>
            <a:r>
              <a:rPr lang="en-US" altLang="en-GB" sz="1800">
                <a:sym typeface="+mn-ea"/>
              </a:rPr>
              <a:t>nh với </a:t>
            </a:r>
            <a:r>
              <a:rPr lang="en-US" altLang="en-GB" sz="1800" b="1">
                <a:solidFill>
                  <a:srgbClr val="0070C0"/>
                </a:solidFill>
                <a:sym typeface="+mn-ea"/>
              </a:rPr>
              <a:t>Hàm mục ti</a:t>
            </a:r>
            <a:r>
              <a:rPr lang="en-US" altLang="en-US" sz="1800" b="1">
                <a:solidFill>
                  <a:srgbClr val="0070C0"/>
                </a:solidFill>
                <a:sym typeface="+mn-ea"/>
              </a:rPr>
              <a:t>ê</a:t>
            </a:r>
            <a:r>
              <a:rPr lang="en-US" altLang="en-GB" sz="1800" b="1">
                <a:solidFill>
                  <a:srgbClr val="0070C0"/>
                </a:solidFill>
                <a:sym typeface="+mn-ea"/>
              </a:rPr>
              <a:t>u hồi quy</a:t>
            </a:r>
            <a:r>
              <a:rPr lang="en-US" altLang="en-GB" sz="1800">
                <a:sym typeface="+mn-ea"/>
              </a:rPr>
              <a:t>.</a:t>
            </a:r>
            <a:br>
              <a:rPr lang="en-US" altLang="en-GB" sz="1800">
                <a:sym typeface="+mn-ea"/>
              </a:rPr>
            </a:br>
            <a:br>
              <a:rPr lang="en-US" altLang="en-GB" sz="1800">
                <a:sym typeface="+mn-ea"/>
              </a:rPr>
            </a:br>
            <a:br>
              <a:rPr lang="en-US" altLang="en-GB" sz="1800">
                <a:solidFill>
                  <a:srgbClr val="0070C0"/>
                </a:solidFill>
                <a:sym typeface="+mn-ea"/>
              </a:rPr>
            </a:br>
            <a:r>
              <a:rPr lang="en-US" altLang="en-GB" sz="1800" b="1">
                <a:solidFill>
                  <a:schemeClr val="tx1"/>
                </a:solidFill>
                <a:sym typeface="+mn-ea"/>
              </a:rPr>
              <a:t>b. D</a:t>
            </a:r>
            <a:r>
              <a:rPr lang="en-US" altLang="en-US" sz="1800" b="1">
                <a:solidFill>
                  <a:schemeClr val="tx1"/>
                </a:solidFill>
                <a:sym typeface="+mn-ea"/>
              </a:rPr>
              <a:t>ù</a:t>
            </a:r>
            <a:r>
              <a:rPr lang="en-US" altLang="en-GB" sz="1800" b="1">
                <a:solidFill>
                  <a:schemeClr val="tx1"/>
                </a:solidFill>
                <a:sym typeface="+mn-ea"/>
              </a:rPr>
              <a:t>ng kiến tr</a:t>
            </a:r>
            <a:r>
              <a:rPr lang="en-US" altLang="en-US" sz="1800" b="1">
                <a:solidFill>
                  <a:schemeClr val="tx1"/>
                </a:solidFill>
                <a:sym typeface="+mn-ea"/>
              </a:rPr>
              <a:t>ú</a:t>
            </a:r>
            <a:r>
              <a:rPr lang="en-US" altLang="en-GB" sz="1800" b="1">
                <a:solidFill>
                  <a:schemeClr val="tx1"/>
                </a:solidFill>
                <a:sym typeface="+mn-ea"/>
              </a:rPr>
              <a:t>c Triplet (3 nh</a:t>
            </a:r>
            <a:r>
              <a:rPr lang="en-US" altLang="en-US" sz="1800" b="1">
                <a:solidFill>
                  <a:schemeClr val="tx1"/>
                </a:solidFill>
                <a:sym typeface="+mn-ea"/>
              </a:rPr>
              <a:t>á</a:t>
            </a:r>
            <a:r>
              <a:rPr lang="en-US" altLang="en-GB" sz="1800" b="1">
                <a:solidFill>
                  <a:schemeClr val="tx1"/>
                </a:solidFill>
                <a:sym typeface="+mn-ea"/>
              </a:rPr>
              <a:t>nh) khi:</a:t>
            </a:r>
            <a:br>
              <a:rPr lang="en-US" altLang="en-GB" sz="1800">
                <a:sym typeface="+mn-ea"/>
              </a:rPr>
            </a:br>
            <a:r>
              <a:rPr lang="en-US" altLang="en-GB" sz="1800">
                <a:sym typeface="+mn-ea"/>
              </a:rPr>
              <a:t>Dữ liệu huấn luyện </a:t>
            </a:r>
            <a:r>
              <a:rPr lang="en-US" altLang="en-US" sz="1800">
                <a:sym typeface="+mn-ea"/>
              </a:rPr>
              <a:t>đư</a:t>
            </a:r>
            <a:r>
              <a:rPr lang="en-US" altLang="en-GB" sz="1800">
                <a:sym typeface="+mn-ea"/>
              </a:rPr>
              <a:t>ợc x</a:t>
            </a:r>
            <a:r>
              <a:rPr lang="en-US" altLang="en-US" sz="1800">
                <a:sym typeface="+mn-ea"/>
              </a:rPr>
              <a:t>â</a:t>
            </a:r>
            <a:r>
              <a:rPr lang="en-US" altLang="en-GB" sz="1800">
                <a:sym typeface="+mn-ea"/>
              </a:rPr>
              <a:t>y dựng ở dạng Bộ ba (Triplets): (C</a:t>
            </a:r>
            <a:r>
              <a:rPr lang="en-US" altLang="en-US" sz="1800">
                <a:sym typeface="+mn-ea"/>
              </a:rPr>
              <a:t>â</a:t>
            </a:r>
            <a:r>
              <a:rPr lang="en-US" altLang="en-GB" sz="1800">
                <a:sym typeface="+mn-ea"/>
              </a:rPr>
              <a:t>u gốc Anchor, C</a:t>
            </a:r>
            <a:r>
              <a:rPr lang="en-US" altLang="en-US" sz="1800">
                <a:sym typeface="+mn-ea"/>
              </a:rPr>
              <a:t>â</a:t>
            </a:r>
            <a:r>
              <a:rPr lang="en-US" altLang="en-GB" sz="1800">
                <a:sym typeface="+mn-ea"/>
              </a:rPr>
              <a:t>u giống Positive, C</a:t>
            </a:r>
            <a:r>
              <a:rPr lang="en-US" altLang="en-US" sz="1800">
                <a:sym typeface="+mn-ea"/>
              </a:rPr>
              <a:t>â</a:t>
            </a:r>
            <a:r>
              <a:rPr lang="en-US" altLang="en-GB" sz="1800">
                <a:sym typeface="+mn-ea"/>
              </a:rPr>
              <a:t>u kh</a:t>
            </a:r>
            <a:r>
              <a:rPr lang="en-US" altLang="en-US" sz="1800">
                <a:sym typeface="+mn-ea"/>
              </a:rPr>
              <a:t>á</a:t>
            </a:r>
            <a:r>
              <a:rPr lang="en-US" altLang="en-GB" sz="1800">
                <a:sym typeface="+mn-ea"/>
              </a:rPr>
              <a:t>c Negative).</a:t>
            </a:r>
            <a:br>
              <a:rPr lang="en-US" altLang="en-GB" sz="1800">
                <a:sym typeface="+mn-ea"/>
              </a:rPr>
            </a:br>
            <a:br>
              <a:rPr lang="en-US" altLang="en-GB" sz="1800">
                <a:sym typeface="+mn-ea"/>
              </a:rPr>
            </a:br>
            <a:r>
              <a:rPr lang="en-US" altLang="en-GB" sz="1800">
                <a:sym typeface="+mn-ea"/>
              </a:rPr>
              <a:t>V</a:t>
            </a:r>
            <a:r>
              <a:rPr lang="en-US" altLang="en-US" sz="1800">
                <a:sym typeface="+mn-ea"/>
              </a:rPr>
              <a:t>í</a:t>
            </a:r>
            <a:r>
              <a:rPr lang="en-US" altLang="en-GB" sz="1800">
                <a:sym typeface="+mn-ea"/>
              </a:rPr>
              <a:t> dụ: Trong bài b</a:t>
            </a:r>
            <a:r>
              <a:rPr lang="en-US" altLang="en-US" sz="1800">
                <a:sym typeface="+mn-ea"/>
              </a:rPr>
              <a:t>á</a:t>
            </a:r>
            <a:r>
              <a:rPr lang="en-US" altLang="en-GB" sz="1800">
                <a:sym typeface="+mn-ea"/>
              </a:rPr>
              <a:t>o, t</a:t>
            </a:r>
            <a:r>
              <a:rPr lang="en-US" altLang="en-US" sz="1800">
                <a:sym typeface="+mn-ea"/>
              </a:rPr>
              <a:t>á</a:t>
            </a:r>
            <a:r>
              <a:rPr lang="en-US" altLang="en-GB" sz="1800">
                <a:sym typeface="+mn-ea"/>
              </a:rPr>
              <a:t>c giả d</a:t>
            </a:r>
            <a:r>
              <a:rPr lang="en-US" altLang="en-US" sz="1800">
                <a:sym typeface="+mn-ea"/>
              </a:rPr>
              <a:t>ù</a:t>
            </a:r>
            <a:r>
              <a:rPr lang="en-US" altLang="en-GB" sz="1800">
                <a:sym typeface="+mn-ea"/>
              </a:rPr>
              <a:t>ng bộ dữ liệu Wikipedia gồm c</a:t>
            </a:r>
            <a:r>
              <a:rPr lang="en-US" altLang="en-US" sz="1800">
                <a:sym typeface="+mn-ea"/>
              </a:rPr>
              <a:t>á</a:t>
            </a:r>
            <a:r>
              <a:rPr lang="en-US" altLang="en-GB" sz="1800">
                <a:sym typeface="+mn-ea"/>
              </a:rPr>
              <a:t>c c</a:t>
            </a:r>
            <a:r>
              <a:rPr lang="en-US" altLang="en-US" sz="1800">
                <a:sym typeface="+mn-ea"/>
              </a:rPr>
              <a:t>â</a:t>
            </a:r>
            <a:r>
              <a:rPr lang="en-US" altLang="en-GB" sz="1800">
                <a:sym typeface="+mn-ea"/>
              </a:rPr>
              <a:t>u thuộc c</a:t>
            </a:r>
            <a:r>
              <a:rPr lang="en-US" altLang="en-US" sz="1800">
                <a:sym typeface="+mn-ea"/>
              </a:rPr>
              <a:t>ù</a:t>
            </a:r>
            <a:r>
              <a:rPr lang="en-US" altLang="en-GB" sz="1800">
                <a:sym typeface="+mn-ea"/>
              </a:rPr>
              <a:t>ng một mục (giống nhau) và kh</a:t>
            </a:r>
            <a:r>
              <a:rPr lang="en-US" altLang="en-US" sz="1800">
                <a:sym typeface="+mn-ea"/>
              </a:rPr>
              <a:t>á</a:t>
            </a:r>
            <a:r>
              <a:rPr lang="en-US" altLang="en-GB" sz="1800">
                <a:sym typeface="+mn-ea"/>
              </a:rPr>
              <a:t>c mục (kh</a:t>
            </a:r>
            <a:r>
              <a:rPr lang="en-US" altLang="en-US" sz="1800">
                <a:sym typeface="+mn-ea"/>
              </a:rPr>
              <a:t>á</a:t>
            </a:r>
            <a:r>
              <a:rPr lang="en-US" altLang="en-GB" sz="1800">
                <a:sym typeface="+mn-ea"/>
              </a:rPr>
              <a:t>c nhau). L</a:t>
            </a:r>
            <a:r>
              <a:rPr lang="en-US" altLang="en-US" sz="1800">
                <a:sym typeface="+mn-ea"/>
              </a:rPr>
              <a:t>ú</a:t>
            </a:r>
            <a:r>
              <a:rPr lang="en-US" altLang="en-GB" sz="1800">
                <a:sym typeface="+mn-ea"/>
              </a:rPr>
              <a:t>c này, SBERT sẽ k</a:t>
            </a:r>
            <a:r>
              <a:rPr lang="en-US" altLang="en-US" sz="1800">
                <a:sym typeface="+mn-ea"/>
              </a:rPr>
              <a:t>í</a:t>
            </a:r>
            <a:r>
              <a:rPr lang="en-US" altLang="en-GB" sz="1800">
                <a:sym typeface="+mn-ea"/>
              </a:rPr>
              <a:t>ch hoạt 3 nh</a:t>
            </a:r>
            <a:r>
              <a:rPr lang="en-US" altLang="en-US" sz="1800">
                <a:sym typeface="+mn-ea"/>
              </a:rPr>
              <a:t>á</a:t>
            </a:r>
            <a:r>
              <a:rPr lang="en-US" altLang="en-GB" sz="1800">
                <a:sym typeface="+mn-ea"/>
              </a:rPr>
              <a:t>nh chạy song song </a:t>
            </a:r>
            <a:r>
              <a:rPr lang="en-US" altLang="en-US" sz="1800">
                <a:sym typeface="+mn-ea"/>
              </a:rPr>
              <a:t>đ</a:t>
            </a:r>
            <a:r>
              <a:rPr lang="en-US" altLang="en-GB" sz="1800">
                <a:sym typeface="+mn-ea"/>
              </a:rPr>
              <a:t>ể c</a:t>
            </a:r>
            <a:r>
              <a:rPr lang="en-US" altLang="en-US" sz="1800">
                <a:sym typeface="+mn-ea"/>
              </a:rPr>
              <a:t>ù</a:t>
            </a:r>
            <a:r>
              <a:rPr lang="en-US" altLang="en-GB" sz="1800">
                <a:sym typeface="+mn-ea"/>
              </a:rPr>
              <a:t>ng l</a:t>
            </a:r>
            <a:r>
              <a:rPr lang="en-US" altLang="en-US" sz="1800">
                <a:sym typeface="+mn-ea"/>
              </a:rPr>
              <a:t>ú</a:t>
            </a:r>
            <a:r>
              <a:rPr lang="en-US" altLang="en-GB" sz="1800">
                <a:sym typeface="+mn-ea"/>
              </a:rPr>
              <a:t>c xử l</a:t>
            </a:r>
            <a:r>
              <a:rPr lang="en-US" altLang="en-US" sz="1800">
                <a:sym typeface="+mn-ea"/>
              </a:rPr>
              <a:t>ý</a:t>
            </a:r>
            <a:r>
              <a:rPr lang="en-US" altLang="en-GB" sz="1800">
                <a:sym typeface="+mn-ea"/>
              </a:rPr>
              <a:t> 3 c</a:t>
            </a:r>
            <a:r>
              <a:rPr lang="en-US" altLang="en-US" sz="1800">
                <a:sym typeface="+mn-ea"/>
              </a:rPr>
              <a:t>â</a:t>
            </a:r>
            <a:r>
              <a:rPr lang="en-US" altLang="en-GB" sz="1800">
                <a:sym typeface="+mn-ea"/>
              </a:rPr>
              <a:t>u này và d</a:t>
            </a:r>
            <a:r>
              <a:rPr lang="en-US" altLang="en-US" sz="1800">
                <a:sym typeface="+mn-ea"/>
              </a:rPr>
              <a:t>ù</a:t>
            </a:r>
            <a:r>
              <a:rPr lang="en-US" altLang="en-GB" sz="1800">
                <a:sym typeface="+mn-ea"/>
              </a:rPr>
              <a:t>ng </a:t>
            </a:r>
            <a:r>
              <a:rPr lang="en-US" altLang="en-GB" sz="1800" b="1">
                <a:solidFill>
                  <a:srgbClr val="0070C0"/>
                </a:solidFill>
                <a:sym typeface="+mn-ea"/>
              </a:rPr>
              <a:t>Hàm mục ti</a:t>
            </a:r>
            <a:r>
              <a:rPr lang="en-US" altLang="en-US" sz="1800" b="1">
                <a:solidFill>
                  <a:srgbClr val="0070C0"/>
                </a:solidFill>
                <a:sym typeface="+mn-ea"/>
              </a:rPr>
              <a:t>ê</a:t>
            </a:r>
            <a:r>
              <a:rPr lang="en-US" altLang="en-GB" sz="1800" b="1">
                <a:solidFill>
                  <a:srgbClr val="0070C0"/>
                </a:solidFill>
                <a:sym typeface="+mn-ea"/>
              </a:rPr>
              <a:t>u Triplet</a:t>
            </a:r>
            <a:r>
              <a:rPr lang="en-US" altLang="en-GB" sz="1800">
                <a:sym typeface="+mn-ea"/>
              </a:rPr>
              <a:t> </a:t>
            </a:r>
            <a:r>
              <a:rPr lang="en-US" altLang="en-US" sz="1800">
                <a:sym typeface="+mn-ea"/>
              </a:rPr>
              <a:t>đ</a:t>
            </a:r>
            <a:r>
              <a:rPr lang="en-US" altLang="en-GB" sz="1800">
                <a:sym typeface="+mn-ea"/>
              </a:rPr>
              <a:t>ể tối </a:t>
            </a:r>
            <a:r>
              <a:rPr lang="en-US" altLang="en-US" sz="1800">
                <a:sym typeface="+mn-ea"/>
              </a:rPr>
              <a:t>ư</a:t>
            </a:r>
            <a:r>
              <a:rPr lang="en-US" altLang="en-GB" sz="1800">
                <a:sym typeface="+mn-ea"/>
              </a:rPr>
              <a:t>u h</a:t>
            </a:r>
            <a:r>
              <a:rPr lang="en-US" altLang="en-US" sz="1800">
                <a:sym typeface="+mn-ea"/>
              </a:rPr>
              <a:t>ó</a:t>
            </a:r>
            <a:r>
              <a:rPr lang="en-US" altLang="en-GB" sz="1800">
                <a:sym typeface="+mn-ea"/>
              </a:rPr>
              <a:t>a khoảng c</a:t>
            </a:r>
            <a:r>
              <a:rPr lang="en-US" altLang="en-US" sz="1800">
                <a:sym typeface="+mn-ea"/>
              </a:rPr>
              <a:t>á</a:t>
            </a:r>
            <a:r>
              <a:rPr lang="en-US" altLang="en-GB" sz="1800">
                <a:sym typeface="+mn-ea"/>
              </a:rPr>
              <a:t>ch.</a:t>
            </a:r>
            <a:br>
              <a:rPr lang="en-US" altLang="en-GB" sz="1800">
                <a:sym typeface="+mn-ea"/>
              </a:rPr>
            </a:br>
            <a:endParaRPr lang="en-US" altLang="en-GB" sz="180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59690"/>
            <a:ext cx="5786755" cy="6635750"/>
          </a:xfrm>
        </p:spPr>
        <p:txBody>
          <a:bodyPr>
            <a:noAutofit/>
          </a:bodyPr>
          <a:p>
            <a:r>
              <a:rPr lang="en-US" altLang="en-GB" sz="3500"/>
              <a:t>4. Kiến trúc SBERT</a:t>
            </a:r>
            <a:br>
              <a:rPr lang="en-US" altLang="en-GB" sz="3500"/>
            </a:br>
            <a:br>
              <a:rPr lang="en-US" altLang="en-GB" sz="1800">
                <a:solidFill>
                  <a:schemeClr val="tx1"/>
                </a:solidFill>
                <a:highlight>
                  <a:srgbClr val="FFFF00"/>
                </a:highlight>
              </a:rPr>
            </a:br>
            <a:r>
              <a:rPr lang="en-US" altLang="en-GB" sz="1800">
                <a:solidFill>
                  <a:schemeClr val="tx1"/>
                </a:solidFill>
                <a:highlight>
                  <a:srgbClr val="FFFF00"/>
                </a:highlight>
              </a:rPr>
              <a:t>4.4. Công thức Cosine Similarity</a:t>
            </a:r>
            <a:br>
              <a:rPr lang="en-US" altLang="en-GB" sz="1800">
                <a:solidFill>
                  <a:schemeClr val="tx1"/>
                </a:solidFill>
              </a:rPr>
            </a:br>
            <a:br>
              <a:rPr lang="en-US" altLang="en-GB" sz="1800">
                <a:solidFill>
                  <a:schemeClr val="tx1"/>
                </a:solidFill>
              </a:rPr>
            </a:br>
            <a:r>
              <a:rPr lang="en-US" altLang="en-GB" sz="1800">
                <a:sym typeface="+mn-ea"/>
              </a:rPr>
              <a:t>Trong không gian vector, </a:t>
            </a:r>
            <a:r>
              <a:rPr lang="en-US" altLang="en-US" sz="1800">
                <a:sym typeface="+mn-ea"/>
              </a:rPr>
              <a:t>đ</a:t>
            </a:r>
            <a:r>
              <a:rPr lang="en-US" altLang="en-GB" sz="1800">
                <a:sym typeface="+mn-ea"/>
              </a:rPr>
              <a:t>ộ t</a:t>
            </a:r>
            <a:r>
              <a:rPr lang="en-US" altLang="en-US" sz="1800">
                <a:sym typeface="+mn-ea"/>
              </a:rPr>
              <a:t>ư</a:t>
            </a:r>
            <a:r>
              <a:rPr lang="en-US" altLang="en-US" sz="1800">
                <a:sym typeface="+mn-ea"/>
              </a:rPr>
              <a:t>ơ</a:t>
            </a:r>
            <a:r>
              <a:rPr lang="en-US" altLang="en-GB" sz="1800">
                <a:sym typeface="+mn-ea"/>
              </a:rPr>
              <a:t>ng </a:t>
            </a:r>
            <a:r>
              <a:rPr lang="en-US" altLang="en-US" sz="1800">
                <a:sym typeface="+mn-ea"/>
              </a:rPr>
              <a:t>đ</a:t>
            </a:r>
            <a:r>
              <a:rPr lang="en-US" altLang="en-GB" sz="1800">
                <a:sym typeface="+mn-ea"/>
              </a:rPr>
              <a:t>ồng Cosine </a:t>
            </a:r>
            <a:r>
              <a:rPr lang="en-US" sz="1800">
                <a:sym typeface="+mn-ea"/>
              </a:rPr>
              <a:t>l</a:t>
            </a:r>
            <a:r>
              <a:rPr lang="en-US" altLang="en-GB" sz="1800">
                <a:sym typeface="+mn-ea"/>
              </a:rPr>
              <a:t>à ph</a:t>
            </a:r>
            <a:r>
              <a:rPr lang="en-US" altLang="en-US" sz="1800">
                <a:sym typeface="+mn-ea"/>
              </a:rPr>
              <a:t>é</a:t>
            </a:r>
            <a:r>
              <a:rPr lang="en-US" altLang="en-GB" sz="1800">
                <a:sym typeface="+mn-ea"/>
              </a:rPr>
              <a:t>p </a:t>
            </a:r>
            <a:r>
              <a:rPr lang="en-US" altLang="en-US" sz="1800">
                <a:sym typeface="+mn-ea"/>
              </a:rPr>
              <a:t>đ</a:t>
            </a:r>
            <a:r>
              <a:rPr lang="en-US" altLang="en-GB" sz="1800">
                <a:sym typeface="+mn-ea"/>
              </a:rPr>
              <a:t>o phổ biến nhất </a:t>
            </a:r>
            <a:r>
              <a:rPr lang="en-US" altLang="en-US" sz="1800">
                <a:sym typeface="+mn-ea"/>
              </a:rPr>
              <a:t>đ</a:t>
            </a:r>
            <a:r>
              <a:rPr lang="en-US" altLang="en-GB" sz="1800">
                <a:sym typeface="+mn-ea"/>
              </a:rPr>
              <a:t>ể x</a:t>
            </a:r>
            <a:r>
              <a:rPr lang="en-US" altLang="en-US" sz="1800">
                <a:sym typeface="+mn-ea"/>
              </a:rPr>
              <a:t>á</a:t>
            </a:r>
            <a:r>
              <a:rPr lang="en-US" altLang="en-GB" sz="1800">
                <a:sym typeface="+mn-ea"/>
              </a:rPr>
              <a:t>c </a:t>
            </a:r>
            <a:r>
              <a:rPr lang="en-US" altLang="en-US" sz="1800">
                <a:sym typeface="+mn-ea"/>
              </a:rPr>
              <a:t>đ</a:t>
            </a:r>
            <a:r>
              <a:rPr lang="en-US" altLang="en-GB" sz="1800">
                <a:sym typeface="+mn-ea"/>
              </a:rPr>
              <a:t>ịnh xem hai vector c</a:t>
            </a:r>
            <a:r>
              <a:rPr lang="en-US" altLang="en-US" sz="1800">
                <a:sym typeface="+mn-ea"/>
              </a:rPr>
              <a:t>ó</a:t>
            </a:r>
            <a:r>
              <a:rPr lang="en-US" altLang="en-GB" sz="1800">
                <a:sym typeface="+mn-ea"/>
              </a:rPr>
              <a:t> c</a:t>
            </a:r>
            <a:r>
              <a:rPr lang="en-US" altLang="en-US" sz="1800">
                <a:sym typeface="+mn-ea"/>
              </a:rPr>
              <a:t>ù</a:t>
            </a:r>
            <a:r>
              <a:rPr lang="en-US" altLang="en-GB" sz="1800">
                <a:sym typeface="+mn-ea"/>
              </a:rPr>
              <a:t>ng h</a:t>
            </a:r>
            <a:r>
              <a:rPr lang="en-US" altLang="en-US" sz="1800">
                <a:sym typeface="+mn-ea"/>
              </a:rPr>
              <a:t>ư</a:t>
            </a:r>
            <a:r>
              <a:rPr lang="en-US" altLang="en-GB" sz="1800">
                <a:sym typeface="+mn-ea"/>
              </a:rPr>
              <a:t>ớng hay không, </a:t>
            </a:r>
            <a:r>
              <a:rPr lang="en-US" sz="1800">
                <a:sym typeface="+mn-ea"/>
              </a:rPr>
              <a:t>không phụ thuộc vào độ dài</a:t>
            </a:r>
            <a:r>
              <a:rPr lang="en-US" altLang="en-GB" sz="1800">
                <a:sym typeface="+mn-ea"/>
              </a:rPr>
              <a:t> của ch</a:t>
            </a:r>
            <a:r>
              <a:rPr lang="en-US" altLang="en-US" sz="1800">
                <a:sym typeface="+mn-ea"/>
              </a:rPr>
              <a:t>ú</a:t>
            </a:r>
            <a:r>
              <a:rPr lang="en-US" altLang="en-GB" sz="1800">
                <a:sym typeface="+mn-ea"/>
              </a:rPr>
              <a:t>ng.</a:t>
            </a:r>
            <a:br>
              <a:rPr lang="en-US" altLang="en-GB" sz="1800">
                <a:sym typeface="+mn-ea"/>
              </a:rPr>
            </a:br>
            <a:br>
              <a:rPr lang="en-US" altLang="en-GB" sz="1800">
                <a:sym typeface="+mn-ea"/>
              </a:rPr>
            </a:br>
            <a:r>
              <a:rPr lang="en-US" altLang="en-GB" sz="1800">
                <a:sym typeface="+mn-ea"/>
              </a:rPr>
              <a:t>Độ tương đồng = 1 - Cosine Distance  </a:t>
            </a:r>
            <a:r>
              <a:rPr lang="en-US" altLang="en-GB" sz="1500">
                <a:sym typeface="+mn-ea"/>
              </a:rPr>
              <a:t>(với cosine distance ∈[0,2])</a:t>
            </a:r>
            <a:br>
              <a:rPr lang="en-US" altLang="en-GB" sz="1800">
                <a:sym typeface="+mn-ea"/>
              </a:rPr>
            </a:br>
            <a:br>
              <a:rPr lang="en-US" altLang="en-GB" sz="1800">
                <a:sym typeface="+mn-ea"/>
              </a:rPr>
            </a:br>
            <a:br>
              <a:rPr lang="en-US" altLang="en-GB" sz="1800">
                <a:sym typeface="+mn-ea"/>
              </a:rPr>
            </a:br>
            <a:r>
              <a:rPr lang="en-US" altLang="en-GB" sz="1800">
                <a:solidFill>
                  <a:srgbClr val="0070C0"/>
                </a:solidFill>
                <a:sym typeface="+mn-ea"/>
              </a:rPr>
              <a:t>Ý nghĩa của kết quả:</a:t>
            </a:r>
            <a:br>
              <a:rPr lang="en-US" altLang="en-GB" sz="1800">
                <a:sym typeface="+mn-ea"/>
              </a:rPr>
            </a:br>
            <a:r>
              <a:rPr lang="en-US" altLang="en-GB" sz="1800">
                <a:sym typeface="+mn-ea"/>
              </a:rPr>
              <a:t>Kết quả của ph</a:t>
            </a:r>
            <a:r>
              <a:rPr lang="en-US" altLang="en-US" sz="1800">
                <a:sym typeface="+mn-ea"/>
              </a:rPr>
              <a:t>é</a:t>
            </a:r>
            <a:r>
              <a:rPr lang="en-US" altLang="en-GB" sz="1800">
                <a:sym typeface="+mn-ea"/>
              </a:rPr>
              <a:t>p t</a:t>
            </a:r>
            <a:r>
              <a:rPr lang="en-US" altLang="en-US" sz="1800">
                <a:sym typeface="+mn-ea"/>
              </a:rPr>
              <a:t>í</a:t>
            </a:r>
            <a:r>
              <a:rPr lang="en-US" altLang="en-GB" sz="1800">
                <a:sym typeface="+mn-ea"/>
              </a:rPr>
              <a:t>nh cos() sẽ luôn nằm trong </a:t>
            </a:r>
            <a:r>
              <a:rPr lang="en-US" altLang="en-GB" sz="1800" b="1">
                <a:solidFill>
                  <a:srgbClr val="0070C0"/>
                </a:solidFill>
                <a:sym typeface="+mn-ea"/>
              </a:rPr>
              <a:t>[-1, 1]</a:t>
            </a:r>
            <a:r>
              <a:rPr lang="en-US" altLang="en-GB" sz="1800">
                <a:sym typeface="+mn-ea"/>
              </a:rPr>
              <a:t>:</a:t>
            </a:r>
            <a:br>
              <a:rPr lang="en-US" altLang="en-GB" sz="1800">
                <a:sym typeface="+mn-ea"/>
              </a:rPr>
            </a:br>
            <a:br>
              <a:rPr lang="en-US" altLang="en-GB" sz="1800">
                <a:sym typeface="+mn-ea"/>
              </a:rPr>
            </a:br>
            <a:r>
              <a:rPr lang="en-US" altLang="en-GB" sz="1800">
                <a:sym typeface="+mn-ea"/>
              </a:rPr>
              <a:t>Gi</a:t>
            </a:r>
            <a:r>
              <a:rPr lang="en-US" altLang="en-US" sz="1800">
                <a:sym typeface="+mn-ea"/>
              </a:rPr>
              <a:t>á</a:t>
            </a:r>
            <a:r>
              <a:rPr lang="en-US" altLang="en-GB" sz="1800">
                <a:sym typeface="+mn-ea"/>
              </a:rPr>
              <a:t> trị = 1: Hai vector tr</a:t>
            </a:r>
            <a:r>
              <a:rPr lang="en-US" altLang="en-US" sz="1800">
                <a:sym typeface="+mn-ea"/>
              </a:rPr>
              <a:t>ù</a:t>
            </a:r>
            <a:r>
              <a:rPr lang="en-US" altLang="en-GB" sz="1800">
                <a:sym typeface="+mn-ea"/>
              </a:rPr>
              <a:t>ng h</a:t>
            </a:r>
            <a:r>
              <a:rPr lang="en-US" altLang="en-US" sz="1800">
                <a:sym typeface="+mn-ea"/>
              </a:rPr>
              <a:t>ư</a:t>
            </a:r>
            <a:r>
              <a:rPr lang="en-US" altLang="en-GB" sz="1800">
                <a:sym typeface="+mn-ea"/>
              </a:rPr>
              <a:t>ớng hoàn toàn (Hai c</a:t>
            </a:r>
            <a:r>
              <a:rPr lang="en-US" altLang="en-US" sz="1800">
                <a:sym typeface="+mn-ea"/>
              </a:rPr>
              <a:t>â</a:t>
            </a:r>
            <a:r>
              <a:rPr lang="en-US" altLang="en-GB" sz="1800">
                <a:sym typeface="+mn-ea"/>
              </a:rPr>
              <a:t>u gần nh</a:t>
            </a:r>
            <a:r>
              <a:rPr lang="en-US" altLang="en-US" sz="1800">
                <a:sym typeface="+mn-ea"/>
              </a:rPr>
              <a:t>ư</a:t>
            </a:r>
            <a:r>
              <a:rPr lang="en-US" altLang="en-GB" sz="1800">
                <a:sym typeface="+mn-ea"/>
              </a:rPr>
              <a:t> </a:t>
            </a:r>
            <a:r>
              <a:rPr lang="en-US" altLang="en-US" sz="1800">
                <a:sym typeface="+mn-ea"/>
              </a:rPr>
              <a:t>đ</a:t>
            </a:r>
            <a:r>
              <a:rPr lang="en-US" altLang="en-GB" sz="1800">
                <a:sym typeface="+mn-ea"/>
              </a:rPr>
              <a:t>ồng ngh</a:t>
            </a:r>
            <a:r>
              <a:rPr lang="en-US" altLang="en-US" sz="1800">
                <a:sym typeface="+mn-ea"/>
              </a:rPr>
              <a:t>ĩ</a:t>
            </a:r>
            <a:r>
              <a:rPr lang="en-US" altLang="en-GB" sz="1800">
                <a:sym typeface="+mn-ea"/>
              </a:rPr>
              <a:t>a</a:t>
            </a:r>
            <a:r>
              <a:rPr lang="en-US" altLang="en-GB" sz="1800">
                <a:sym typeface="+mn-ea"/>
              </a:rPr>
              <a:t>).</a:t>
            </a:r>
            <a:br>
              <a:rPr lang="en-US" altLang="en-GB" sz="1800">
                <a:sym typeface="+mn-ea"/>
              </a:rPr>
            </a:br>
            <a:br>
              <a:rPr lang="en-US" altLang="en-GB" sz="1800">
                <a:sym typeface="+mn-ea"/>
              </a:rPr>
            </a:br>
            <a:r>
              <a:rPr lang="en-US" altLang="en-GB" sz="1800">
                <a:sym typeface="+mn-ea"/>
              </a:rPr>
              <a:t>Gi</a:t>
            </a:r>
            <a:r>
              <a:rPr lang="en-US" altLang="en-US" sz="1800">
                <a:sym typeface="+mn-ea"/>
              </a:rPr>
              <a:t>á</a:t>
            </a:r>
            <a:r>
              <a:rPr lang="en-US" altLang="en-GB" sz="1800">
                <a:sym typeface="+mn-ea"/>
              </a:rPr>
              <a:t> trị = 0: Hai vector vuông g</a:t>
            </a:r>
            <a:r>
              <a:rPr lang="en-US" altLang="en-US" sz="1800">
                <a:sym typeface="+mn-ea"/>
              </a:rPr>
              <a:t>ó</a:t>
            </a:r>
            <a:r>
              <a:rPr lang="en-US" altLang="en-GB" sz="1800">
                <a:sym typeface="+mn-ea"/>
              </a:rPr>
              <a:t>c với nhau (Hai vector không c</a:t>
            </a:r>
            <a:r>
              <a:rPr lang="en-US" altLang="en-US" sz="1800">
                <a:sym typeface="+mn-ea"/>
              </a:rPr>
              <a:t>ó</a:t>
            </a:r>
            <a:r>
              <a:rPr lang="en-US" altLang="en-GB" sz="1800">
                <a:sym typeface="+mn-ea"/>
              </a:rPr>
              <a:t> t</a:t>
            </a:r>
            <a:r>
              <a:rPr lang="en-US" altLang="en-US" sz="1800">
                <a:sym typeface="+mn-ea"/>
              </a:rPr>
              <a:t>ư</a:t>
            </a:r>
            <a:r>
              <a:rPr lang="en-US" altLang="en-US" sz="1800">
                <a:sym typeface="+mn-ea"/>
              </a:rPr>
              <a:t>ơ</a:t>
            </a:r>
            <a:r>
              <a:rPr lang="en-US" altLang="en-GB" sz="1800">
                <a:sym typeface="+mn-ea"/>
              </a:rPr>
              <a:t>ng quan tuyến t</a:t>
            </a:r>
            <a:r>
              <a:rPr lang="en-US" altLang="en-US" sz="1800">
                <a:sym typeface="+mn-ea"/>
              </a:rPr>
              <a:t>í</a:t>
            </a:r>
            <a:r>
              <a:rPr lang="en-US" altLang="en-GB" sz="1800">
                <a:sym typeface="+mn-ea"/>
              </a:rPr>
              <a:t>nh - không hàm </a:t>
            </a:r>
            <a:r>
              <a:rPr lang="en-US" altLang="en-US" sz="1800">
                <a:sym typeface="+mn-ea"/>
              </a:rPr>
              <a:t>ý</a:t>
            </a:r>
            <a:r>
              <a:rPr lang="en-US" altLang="en-GB" sz="1800">
                <a:sym typeface="+mn-ea"/>
              </a:rPr>
              <a:t> "giống" c</a:t>
            </a:r>
            <a:r>
              <a:rPr lang="en-US" altLang="en-US" sz="1800">
                <a:sym typeface="+mn-ea"/>
              </a:rPr>
              <a:t>ũ</a:t>
            </a:r>
            <a:r>
              <a:rPr lang="en-US" altLang="en-GB" sz="1800">
                <a:sym typeface="+mn-ea"/>
              </a:rPr>
              <a:t>ng không hàm </a:t>
            </a:r>
            <a:r>
              <a:rPr lang="en-US" altLang="en-US" sz="1800">
                <a:sym typeface="+mn-ea"/>
              </a:rPr>
              <a:t>ý</a:t>
            </a:r>
            <a:r>
              <a:rPr lang="en-US" altLang="en-GB" sz="1800">
                <a:sym typeface="+mn-ea"/>
              </a:rPr>
              <a:t> "ng</a:t>
            </a:r>
            <a:r>
              <a:rPr lang="en-US" altLang="en-US" sz="1800">
                <a:sym typeface="+mn-ea"/>
              </a:rPr>
              <a:t>ư</a:t>
            </a:r>
            <a:r>
              <a:rPr lang="en-US" altLang="en-GB" sz="1800">
                <a:sym typeface="+mn-ea"/>
              </a:rPr>
              <a:t>ợc"</a:t>
            </a:r>
            <a:r>
              <a:rPr lang="en-US" altLang="en-GB" sz="1800">
                <a:sym typeface="+mn-ea"/>
              </a:rPr>
              <a:t>).</a:t>
            </a:r>
            <a:br>
              <a:rPr lang="en-US" altLang="en-GB" sz="1800">
                <a:sym typeface="+mn-ea"/>
              </a:rPr>
            </a:br>
            <a:br>
              <a:rPr lang="en-US" altLang="en-GB" sz="1800">
                <a:sym typeface="+mn-ea"/>
              </a:rPr>
            </a:br>
            <a:r>
              <a:rPr lang="en-US" altLang="en-GB" sz="1800">
                <a:sym typeface="+mn-ea"/>
              </a:rPr>
              <a:t>Gi</a:t>
            </a:r>
            <a:r>
              <a:rPr lang="en-US" altLang="en-US" sz="1800">
                <a:sym typeface="+mn-ea"/>
              </a:rPr>
              <a:t>á</a:t>
            </a:r>
            <a:r>
              <a:rPr lang="en-US" altLang="en-GB" sz="1800">
                <a:sym typeface="+mn-ea"/>
              </a:rPr>
              <a:t> trị = -1: Hai vector ng</a:t>
            </a:r>
            <a:r>
              <a:rPr lang="en-US" altLang="en-US" sz="1800">
                <a:sym typeface="+mn-ea"/>
              </a:rPr>
              <a:t>ư</a:t>
            </a:r>
            <a:r>
              <a:rPr lang="en-US" altLang="en-GB" sz="1800">
                <a:sym typeface="+mn-ea"/>
              </a:rPr>
              <a:t>ợc h</a:t>
            </a:r>
            <a:r>
              <a:rPr lang="en-US" altLang="en-US" sz="1800">
                <a:sym typeface="+mn-ea"/>
              </a:rPr>
              <a:t>ư</a:t>
            </a:r>
            <a:r>
              <a:rPr lang="en-US" altLang="en-GB" sz="1800">
                <a:sym typeface="+mn-ea"/>
              </a:rPr>
              <a:t>ớng hoàn toàn (2 câu c</a:t>
            </a:r>
            <a:r>
              <a:rPr lang="en-US" altLang="en-US" sz="1800">
                <a:sym typeface="+mn-ea"/>
              </a:rPr>
              <a:t>ó</a:t>
            </a:r>
            <a:r>
              <a:rPr lang="en-US" altLang="en-GB" sz="1800">
                <a:sym typeface="+mn-ea"/>
              </a:rPr>
              <a:t> xu h</a:t>
            </a:r>
            <a:r>
              <a:rPr lang="en-US" altLang="en-US" sz="1800">
                <a:sym typeface="+mn-ea"/>
              </a:rPr>
              <a:t>ư</a:t>
            </a:r>
            <a:r>
              <a:rPr lang="en-US" altLang="en-GB" sz="1800">
                <a:sym typeface="+mn-ea"/>
              </a:rPr>
              <a:t>ớng tr</a:t>
            </a:r>
            <a:r>
              <a:rPr lang="en-US" altLang="en-US" sz="1800">
                <a:sym typeface="+mn-ea"/>
              </a:rPr>
              <a:t>á</a:t>
            </a:r>
            <a:r>
              <a:rPr lang="en-US" altLang="en-GB" sz="1800">
                <a:sym typeface="+mn-ea"/>
              </a:rPr>
              <a:t>i ng</a:t>
            </a:r>
            <a:r>
              <a:rPr lang="en-US" altLang="en-US" sz="1800">
                <a:sym typeface="+mn-ea"/>
              </a:rPr>
              <a:t>ư</a:t>
            </a:r>
            <a:r>
              <a:rPr lang="en-US" altLang="en-GB" sz="1800">
                <a:sym typeface="+mn-ea"/>
              </a:rPr>
              <a:t>ợc về mặt ngữ ngh</a:t>
            </a:r>
            <a:r>
              <a:rPr lang="en-US" altLang="en-US" sz="1800">
                <a:sym typeface="+mn-ea"/>
              </a:rPr>
              <a:t>ĩ</a:t>
            </a:r>
            <a:r>
              <a:rPr lang="en-US" altLang="en-GB" sz="1800">
                <a:sym typeface="+mn-ea"/>
              </a:rPr>
              <a:t>a).</a:t>
            </a:r>
            <a:br>
              <a:rPr lang="en-US" altLang="en-GB" sz="1800">
                <a:sym typeface="+mn-ea"/>
              </a:rPr>
            </a:br>
            <a:endParaRPr lang="en-US" altLang="en-GB" sz="1800">
              <a:solidFill>
                <a:schemeClr val="tx1"/>
              </a:solidFill>
              <a:sym typeface="+mn-ea"/>
            </a:endParaRPr>
          </a:p>
        </p:txBody>
      </p:sp>
      <p:pic>
        <p:nvPicPr>
          <p:cNvPr id="2" name="Picture 1"/>
          <p:cNvPicPr>
            <a:picLocks noChangeAspect="1"/>
          </p:cNvPicPr>
          <p:nvPr/>
        </p:nvPicPr>
        <p:blipFill>
          <a:blip r:embed="rId1"/>
          <a:stretch>
            <a:fillRect/>
          </a:stretch>
        </p:blipFill>
        <p:spPr>
          <a:xfrm>
            <a:off x="6087745" y="2474595"/>
            <a:ext cx="6002020" cy="35782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111125"/>
            <a:ext cx="11852275" cy="6635750"/>
          </a:xfrm>
        </p:spPr>
        <p:txBody>
          <a:bodyPr>
            <a:noAutofit/>
          </a:bodyPr>
          <a:p>
            <a:r>
              <a:rPr lang="en-US" altLang="en-GB" sz="3500"/>
              <a:t>4. Kiến trúc SBERT</a:t>
            </a:r>
            <a:br>
              <a:rPr lang="en-US" altLang="en-GB" sz="3500"/>
            </a:br>
            <a:br>
              <a:rPr lang="en-US" altLang="en-GB" sz="1800">
                <a:solidFill>
                  <a:schemeClr val="tx1"/>
                </a:solidFill>
                <a:highlight>
                  <a:srgbClr val="FFFF00"/>
                </a:highlight>
              </a:rPr>
            </a:br>
            <a:r>
              <a:rPr lang="en-US" altLang="en-GB" sz="1800">
                <a:solidFill>
                  <a:schemeClr val="tx1"/>
                </a:solidFill>
                <a:highlight>
                  <a:srgbClr val="FFFF00"/>
                </a:highlight>
              </a:rPr>
              <a:t>4.5. </a:t>
            </a:r>
            <a:r>
              <a:rPr lang="en-US" altLang="en-GB" sz="1800">
                <a:highlight>
                  <a:srgbClr val="FFFF00"/>
                </a:highlight>
                <a:sym typeface="+mn-ea"/>
              </a:rPr>
              <a:t>Quy tr</a:t>
            </a:r>
            <a:r>
              <a:rPr lang="en-US" altLang="en-US" sz="1800">
                <a:highlight>
                  <a:srgbClr val="FFFF00"/>
                </a:highlight>
                <a:sym typeface="+mn-ea"/>
              </a:rPr>
              <a:t>ì</a:t>
            </a:r>
            <a:r>
              <a:rPr lang="en-US" altLang="en-GB" sz="1800">
                <a:highlight>
                  <a:srgbClr val="FFFF00"/>
                </a:highlight>
                <a:sym typeface="+mn-ea"/>
              </a:rPr>
              <a:t>nh Fine-tune pretrained BERT với Triplet Loss để thu được SBERT</a:t>
            </a:r>
            <a:br>
              <a:rPr lang="en-US" altLang="en-GB" sz="1800">
                <a:highlight>
                  <a:srgbClr val="FFFF00"/>
                </a:highlight>
                <a:sym typeface="+mn-ea"/>
              </a:rPr>
            </a:br>
            <a:br>
              <a:rPr lang="en-US" altLang="en-GB" sz="1800">
                <a:solidFill>
                  <a:schemeClr val="tx1"/>
                </a:solidFill>
              </a:rPr>
            </a:br>
            <a:r>
              <a:rPr lang="en-US" altLang="en-GB" sz="1500">
                <a:solidFill>
                  <a:schemeClr val="tx1"/>
                </a:solidFill>
              </a:rPr>
              <a:t>  	 Lấy nguy</a:t>
            </a:r>
            <a:r>
              <a:rPr lang="en-US" altLang="en-US" sz="1500">
                <a:solidFill>
                  <a:schemeClr val="tx1"/>
                </a:solidFill>
              </a:rPr>
              <a:t>ê</a:t>
            </a:r>
            <a:r>
              <a:rPr lang="en-US" altLang="en-GB" sz="1500">
                <a:solidFill>
                  <a:schemeClr val="tx1"/>
                </a:solidFill>
              </a:rPr>
              <a:t>n toàn bộ trọng số pretrained BERT</a:t>
            </a:r>
            <a:br>
              <a:rPr lang="en-US" altLang="en-GB" sz="1500">
                <a:solidFill>
                  <a:schemeClr val="tx1"/>
                </a:solidFill>
              </a:rPr>
            </a:br>
            <a:r>
              <a:rPr lang="en-US" altLang="en-GB" sz="1500">
                <a:solidFill>
                  <a:schemeClr val="tx1"/>
                </a:solidFill>
              </a:rPr>
              <a:t>  	 Th</a:t>
            </a:r>
            <a:r>
              <a:rPr lang="en-US" altLang="en-US" sz="1500">
                <a:solidFill>
                  <a:schemeClr val="tx1"/>
                </a:solidFill>
              </a:rPr>
              <a:t>ê</a:t>
            </a:r>
            <a:r>
              <a:rPr lang="en-US" altLang="en-GB" sz="1500">
                <a:solidFill>
                  <a:schemeClr val="tx1"/>
                </a:solidFill>
              </a:rPr>
              <a:t>m lớp Pooling vào cuối</a:t>
            </a:r>
            <a:br>
              <a:rPr lang="en-US" altLang="en-GB" sz="1500">
                <a:solidFill>
                  <a:schemeClr val="tx1"/>
                </a:solidFill>
              </a:rPr>
            </a:br>
            <a:r>
              <a:rPr lang="en-US" altLang="en-GB" sz="1500">
                <a:solidFill>
                  <a:schemeClr val="tx1"/>
                </a:solidFill>
              </a:rPr>
              <a:t>   	 Bọc vào kiến tr</a:t>
            </a:r>
            <a:r>
              <a:rPr lang="en-US" altLang="en-US" sz="1500">
                <a:solidFill>
                  <a:schemeClr val="tx1"/>
                </a:solidFill>
              </a:rPr>
              <a:t>ú</a:t>
            </a:r>
            <a:r>
              <a:rPr lang="en-US" altLang="en-GB" sz="1500">
                <a:solidFill>
                  <a:schemeClr val="tx1"/>
                </a:solidFill>
              </a:rPr>
              <a:t>c Siamese Network</a:t>
            </a:r>
            <a:br>
              <a:rPr lang="en-US" altLang="en-GB" sz="1500">
                <a:solidFill>
                  <a:schemeClr val="tx1"/>
                </a:solidFill>
              </a:rPr>
            </a:br>
            <a:r>
              <a:rPr lang="en-US" altLang="en-GB" sz="1500">
                <a:solidFill>
                  <a:schemeClr val="tx1"/>
                </a:solidFill>
              </a:rPr>
              <a:t>   	 Huấn luyện tiếp tr</a:t>
            </a:r>
            <a:r>
              <a:rPr lang="en-US" altLang="en-US" sz="1500">
                <a:solidFill>
                  <a:schemeClr val="tx1"/>
                </a:solidFill>
              </a:rPr>
              <a:t>ê</a:t>
            </a:r>
            <a:r>
              <a:rPr lang="en-US" altLang="en-GB" sz="1500">
                <a:solidFill>
                  <a:schemeClr val="tx1"/>
                </a:solidFill>
              </a:rPr>
              <a:t>n bài toán NLI/STS với 1 trong 3 objective function được đề xuất</a:t>
            </a:r>
            <a:br>
              <a:rPr lang="en-US" altLang="en-GB" sz="1500">
                <a:solidFill>
                  <a:schemeClr val="tx1"/>
                </a:solidFill>
              </a:rPr>
            </a:br>
            <a:r>
              <a:rPr lang="en-US" altLang="en-GB" sz="1500">
                <a:solidFill>
                  <a:schemeClr val="tx1"/>
                </a:solidFill>
              </a:rPr>
              <a:t>  	 Kết quả: SBERT (trọng số BERT </a:t>
            </a:r>
            <a:r>
              <a:rPr lang="en-US" altLang="en-US" sz="1500">
                <a:solidFill>
                  <a:schemeClr val="tx1"/>
                </a:solidFill>
              </a:rPr>
              <a:t>đ</a:t>
            </a:r>
            <a:r>
              <a:rPr lang="en-US" altLang="en-US" sz="1500">
                <a:solidFill>
                  <a:schemeClr val="tx1"/>
                </a:solidFill>
              </a:rPr>
              <a:t>ã</a:t>
            </a:r>
            <a:r>
              <a:rPr lang="en-US" altLang="en-GB" sz="1500">
                <a:solidFill>
                  <a:schemeClr val="tx1"/>
                </a:solidFill>
              </a:rPr>
              <a:t> </a:t>
            </a:r>
            <a:r>
              <a:rPr lang="en-US" altLang="en-US" sz="1500">
                <a:solidFill>
                  <a:schemeClr val="tx1"/>
                </a:solidFill>
              </a:rPr>
              <a:t>đư</a:t>
            </a:r>
            <a:r>
              <a:rPr lang="en-US" altLang="en-GB" sz="1500">
                <a:solidFill>
                  <a:schemeClr val="tx1"/>
                </a:solidFill>
              </a:rPr>
              <a:t>ợc </a:t>
            </a:r>
            <a:r>
              <a:rPr lang="en-US" altLang="en-US" sz="1500">
                <a:solidFill>
                  <a:schemeClr val="tx1"/>
                </a:solidFill>
              </a:rPr>
              <a:t>đ</a:t>
            </a:r>
            <a:r>
              <a:rPr lang="en-US" altLang="en-GB" sz="1500">
                <a:solidFill>
                  <a:schemeClr val="tx1"/>
                </a:solidFill>
              </a:rPr>
              <a:t>iều chỉnh cho sentence embedding)</a:t>
            </a:r>
            <a:br>
              <a:rPr lang="en-US" altLang="en-GB" sz="1800">
                <a:solidFill>
                  <a:schemeClr val="tx1"/>
                </a:solidFill>
              </a:rPr>
            </a:br>
            <a:br>
              <a:rPr lang="en-US" altLang="en-GB" sz="1800">
                <a:solidFill>
                  <a:schemeClr val="tx1"/>
                </a:solidFill>
                <a:sym typeface="+mn-ea"/>
              </a:rPr>
            </a:br>
            <a:br>
              <a:rPr lang="en-US" altLang="en-GB" sz="1800">
                <a:solidFill>
                  <a:schemeClr val="tx1"/>
                </a:solidFill>
                <a:sym typeface="+mn-ea"/>
              </a:rPr>
            </a:br>
            <a:r>
              <a:rPr lang="en-US" altLang="en-GB" sz="1800" b="1">
                <a:solidFill>
                  <a:srgbClr val="0070C0"/>
                </a:solidFill>
                <a:sym typeface="+mn-ea"/>
              </a:rPr>
              <a:t>B</a:t>
            </a:r>
            <a:r>
              <a:rPr lang="en-US" altLang="en-US" sz="1800" b="1">
                <a:solidFill>
                  <a:srgbClr val="0070C0"/>
                </a:solidFill>
                <a:sym typeface="+mn-ea"/>
              </a:rPr>
              <a:t>ư</a:t>
            </a:r>
            <a:r>
              <a:rPr lang="en-US" altLang="en-GB" sz="1800" b="1">
                <a:solidFill>
                  <a:srgbClr val="0070C0"/>
                </a:solidFill>
                <a:sym typeface="+mn-ea"/>
              </a:rPr>
              <a:t>ớc 1</a:t>
            </a:r>
            <a:r>
              <a:rPr lang="en-US" altLang="en-GB" sz="1800">
                <a:solidFill>
                  <a:schemeClr val="tx1"/>
                </a:solidFill>
                <a:sym typeface="+mn-ea"/>
              </a:rPr>
              <a:t>: Chuẩn bị Dữ liệu (Dạng Bộ ba - Triplets)</a:t>
            </a:r>
            <a:br>
              <a:rPr lang="en-US" altLang="en-GB" sz="1800">
                <a:solidFill>
                  <a:schemeClr val="tx1"/>
                </a:solidFill>
                <a:sym typeface="+mn-ea"/>
              </a:rPr>
            </a:br>
            <a:r>
              <a:rPr lang="en-US" altLang="en-GB" sz="1800">
                <a:solidFill>
                  <a:schemeClr val="tx1"/>
                </a:solidFill>
                <a:sym typeface="+mn-ea"/>
              </a:rPr>
              <a:t>Hệ thống nhận vào 3 c</a:t>
            </a:r>
            <a:r>
              <a:rPr lang="en-US" altLang="en-US" sz="1800">
                <a:solidFill>
                  <a:schemeClr val="tx1"/>
                </a:solidFill>
                <a:sym typeface="+mn-ea"/>
              </a:rPr>
              <a:t>â</a:t>
            </a:r>
            <a:r>
              <a:rPr lang="en-US" altLang="en-GB" sz="1800">
                <a:solidFill>
                  <a:schemeClr val="tx1"/>
                </a:solidFill>
                <a:sym typeface="+mn-ea"/>
              </a:rPr>
              <a:t>u: </a:t>
            </a:r>
            <a:r>
              <a:rPr lang="en-US" altLang="en-GB" sz="1800" b="1">
                <a:solidFill>
                  <a:schemeClr val="tx1"/>
                </a:solidFill>
                <a:sym typeface="+mn-ea"/>
              </a:rPr>
              <a:t>C</a:t>
            </a:r>
            <a:r>
              <a:rPr lang="en-US" altLang="en-US" sz="1800" b="1">
                <a:solidFill>
                  <a:schemeClr val="tx1"/>
                </a:solidFill>
                <a:sym typeface="+mn-ea"/>
              </a:rPr>
              <a:t>â</a:t>
            </a:r>
            <a:r>
              <a:rPr lang="en-US" altLang="en-GB" sz="1800" b="1">
                <a:solidFill>
                  <a:schemeClr val="tx1"/>
                </a:solidFill>
                <a:sym typeface="+mn-ea"/>
              </a:rPr>
              <a:t>u neo/gốc</a:t>
            </a:r>
            <a:r>
              <a:rPr lang="en-US" altLang="en-GB" sz="1800">
                <a:solidFill>
                  <a:schemeClr val="tx1"/>
                </a:solidFill>
                <a:sym typeface="+mn-ea"/>
              </a:rPr>
              <a:t> làm hệ quy chiếu (Anchor - a), </a:t>
            </a:r>
            <a:r>
              <a:rPr lang="en-US" altLang="en-GB" sz="1800" b="1">
                <a:solidFill>
                  <a:schemeClr val="tx1"/>
                </a:solidFill>
                <a:sym typeface="+mn-ea"/>
              </a:rPr>
              <a:t>C</a:t>
            </a:r>
            <a:r>
              <a:rPr lang="en-US" altLang="en-US" sz="1800" b="1">
                <a:solidFill>
                  <a:schemeClr val="tx1"/>
                </a:solidFill>
                <a:sym typeface="+mn-ea"/>
              </a:rPr>
              <a:t>â</a:t>
            </a:r>
            <a:r>
              <a:rPr lang="en-US" altLang="en-GB" sz="1800" b="1">
                <a:solidFill>
                  <a:schemeClr val="tx1"/>
                </a:solidFill>
                <a:sym typeface="+mn-ea"/>
              </a:rPr>
              <a:t>u </a:t>
            </a:r>
            <a:r>
              <a:rPr lang="en-US" altLang="en-US" sz="1800" b="1">
                <a:solidFill>
                  <a:schemeClr val="tx1"/>
                </a:solidFill>
                <a:sym typeface="+mn-ea"/>
              </a:rPr>
              <a:t>đ</a:t>
            </a:r>
            <a:r>
              <a:rPr lang="en-US" altLang="en-GB" sz="1800" b="1">
                <a:solidFill>
                  <a:schemeClr val="tx1"/>
                </a:solidFill>
                <a:sym typeface="+mn-ea"/>
              </a:rPr>
              <a:t>ồng ngh</a:t>
            </a:r>
            <a:r>
              <a:rPr lang="en-US" altLang="en-US" sz="1800" b="1">
                <a:solidFill>
                  <a:schemeClr val="tx1"/>
                </a:solidFill>
                <a:sym typeface="+mn-ea"/>
              </a:rPr>
              <a:t>ĩ</a:t>
            </a:r>
            <a:r>
              <a:rPr lang="en-US" altLang="en-GB" sz="1800" b="1">
                <a:solidFill>
                  <a:schemeClr val="tx1"/>
                </a:solidFill>
                <a:sym typeface="+mn-ea"/>
              </a:rPr>
              <a:t>a</a:t>
            </a:r>
            <a:r>
              <a:rPr lang="en-US" altLang="en-GB" sz="1800">
                <a:solidFill>
                  <a:schemeClr val="tx1"/>
                </a:solidFill>
                <a:sym typeface="+mn-ea"/>
              </a:rPr>
              <a:t> với câu neo (Positive - p), và </a:t>
            </a:r>
            <a:r>
              <a:rPr lang="en-US" altLang="en-GB" sz="1800" b="1">
                <a:solidFill>
                  <a:schemeClr val="tx1"/>
                </a:solidFill>
                <a:sym typeface="+mn-ea"/>
              </a:rPr>
              <a:t>C</a:t>
            </a:r>
            <a:r>
              <a:rPr lang="en-US" altLang="en-US" sz="1800" b="1">
                <a:solidFill>
                  <a:schemeClr val="tx1"/>
                </a:solidFill>
                <a:sym typeface="+mn-ea"/>
              </a:rPr>
              <a:t>â</a:t>
            </a:r>
            <a:r>
              <a:rPr lang="en-US" altLang="en-GB" sz="1800" b="1">
                <a:solidFill>
                  <a:schemeClr val="tx1"/>
                </a:solidFill>
                <a:sym typeface="+mn-ea"/>
              </a:rPr>
              <a:t>u kh</a:t>
            </a:r>
            <a:r>
              <a:rPr lang="en-US" altLang="en-US" sz="1800" b="1">
                <a:solidFill>
                  <a:schemeClr val="tx1"/>
                </a:solidFill>
                <a:sym typeface="+mn-ea"/>
              </a:rPr>
              <a:t>á</a:t>
            </a:r>
            <a:r>
              <a:rPr lang="en-US" altLang="en-GB" sz="1800" b="1">
                <a:solidFill>
                  <a:schemeClr val="tx1"/>
                </a:solidFill>
                <a:sym typeface="+mn-ea"/>
              </a:rPr>
              <a:t>c ngh</a:t>
            </a:r>
            <a:r>
              <a:rPr lang="en-US" altLang="en-US" sz="1800" b="1">
                <a:solidFill>
                  <a:schemeClr val="tx1"/>
                </a:solidFill>
                <a:sym typeface="+mn-ea"/>
              </a:rPr>
              <a:t>ĩ</a:t>
            </a:r>
            <a:r>
              <a:rPr lang="en-US" altLang="en-GB" sz="1800" b="1">
                <a:solidFill>
                  <a:schemeClr val="tx1"/>
                </a:solidFill>
                <a:sym typeface="+mn-ea"/>
              </a:rPr>
              <a:t>a</a:t>
            </a:r>
            <a:r>
              <a:rPr lang="en-US" altLang="en-GB" sz="1800">
                <a:solidFill>
                  <a:schemeClr val="tx1"/>
                </a:solidFill>
                <a:sym typeface="+mn-ea"/>
              </a:rPr>
              <a:t> với câu neo (Negative - n).</a:t>
            </a:r>
            <a:br>
              <a:rPr lang="en-US" altLang="en-GB" sz="1800">
                <a:solidFill>
                  <a:schemeClr val="tx1"/>
                </a:solidFill>
                <a:sym typeface="+mn-ea"/>
              </a:rPr>
            </a:br>
            <a:br>
              <a:rPr lang="en-US" altLang="en-GB" sz="1800">
                <a:solidFill>
                  <a:schemeClr val="tx1"/>
                </a:solidFill>
                <a:sym typeface="+mn-ea"/>
              </a:rPr>
            </a:br>
            <a:r>
              <a:rPr lang="en-US" altLang="en-GB" sz="1800" b="1">
                <a:solidFill>
                  <a:srgbClr val="0070C0"/>
                </a:solidFill>
                <a:sym typeface="+mn-ea"/>
              </a:rPr>
              <a:t>B</a:t>
            </a:r>
            <a:r>
              <a:rPr lang="en-US" altLang="en-US" sz="1800" b="1">
                <a:solidFill>
                  <a:srgbClr val="0070C0"/>
                </a:solidFill>
                <a:sym typeface="+mn-ea"/>
              </a:rPr>
              <a:t>ư</a:t>
            </a:r>
            <a:r>
              <a:rPr lang="en-US" altLang="en-GB" sz="1800" b="1">
                <a:solidFill>
                  <a:srgbClr val="0070C0"/>
                </a:solidFill>
                <a:sym typeface="+mn-ea"/>
              </a:rPr>
              <a:t>ớc 2</a:t>
            </a:r>
            <a:r>
              <a:rPr lang="en-US" altLang="en-GB" sz="1800">
                <a:solidFill>
                  <a:schemeClr val="tx1"/>
                </a:solidFill>
                <a:sym typeface="+mn-ea"/>
              </a:rPr>
              <a:t>: Tr</a:t>
            </a:r>
            <a:r>
              <a:rPr lang="en-US" altLang="en-US" sz="1800">
                <a:solidFill>
                  <a:schemeClr val="tx1"/>
                </a:solidFill>
                <a:sym typeface="+mn-ea"/>
              </a:rPr>
              <a:t>í</a:t>
            </a:r>
            <a:r>
              <a:rPr lang="en-US" altLang="en-GB" sz="1800">
                <a:solidFill>
                  <a:schemeClr val="tx1"/>
                </a:solidFill>
                <a:sym typeface="+mn-ea"/>
              </a:rPr>
              <a:t>ch xuất Vector (Siamese Network)</a:t>
            </a:r>
            <a:br>
              <a:rPr lang="en-US" altLang="en-GB" sz="1800">
                <a:solidFill>
                  <a:schemeClr val="tx1"/>
                </a:solidFill>
                <a:sym typeface="+mn-ea"/>
              </a:rPr>
            </a:br>
            <a:r>
              <a:rPr lang="en-US" altLang="en-GB" sz="1800">
                <a:solidFill>
                  <a:schemeClr val="tx1"/>
                </a:solidFill>
                <a:sym typeface="+mn-ea"/>
              </a:rPr>
              <a:t>Một model với 1 bộ trọng số duy nhất, </a:t>
            </a:r>
            <a:r>
              <a:rPr lang="en-US" altLang="en-US" sz="1800">
                <a:solidFill>
                  <a:schemeClr val="tx1"/>
                </a:solidFill>
                <a:sym typeface="+mn-ea"/>
              </a:rPr>
              <a:t>đư</a:t>
            </a:r>
            <a:r>
              <a:rPr lang="en-US" altLang="en-GB" sz="1800">
                <a:solidFill>
                  <a:schemeClr val="tx1"/>
                </a:solidFill>
                <a:sym typeface="+mn-ea"/>
              </a:rPr>
              <a:t>ợc call 3 lần li</a:t>
            </a:r>
            <a:r>
              <a:rPr lang="en-US" altLang="en-US" sz="1800">
                <a:solidFill>
                  <a:schemeClr val="tx1"/>
                </a:solidFill>
                <a:sym typeface="+mn-ea"/>
              </a:rPr>
              <a:t>ê</a:t>
            </a:r>
            <a:r>
              <a:rPr lang="en-US" altLang="en-GB" sz="1800">
                <a:solidFill>
                  <a:schemeClr val="tx1"/>
                </a:solidFill>
                <a:sym typeface="+mn-ea"/>
              </a:rPr>
              <a:t>n tiếp - mỗi lần với 1 c</a:t>
            </a:r>
            <a:r>
              <a:rPr lang="en-US" altLang="en-US" sz="1800">
                <a:solidFill>
                  <a:schemeClr val="tx1"/>
                </a:solidFill>
                <a:sym typeface="+mn-ea"/>
              </a:rPr>
              <a:t>â</a:t>
            </a:r>
            <a:r>
              <a:rPr lang="en-US" altLang="en-GB" sz="1800">
                <a:solidFill>
                  <a:schemeClr val="tx1"/>
                </a:solidFill>
                <a:sym typeface="+mn-ea"/>
              </a:rPr>
              <a:t>u </a:t>
            </a:r>
            <a:r>
              <a:rPr lang="en-US" altLang="en-US" sz="1800">
                <a:solidFill>
                  <a:schemeClr val="tx1"/>
                </a:solidFill>
                <a:sym typeface="+mn-ea"/>
              </a:rPr>
              <a:t>đ</a:t>
            </a:r>
            <a:r>
              <a:rPr lang="en-US" altLang="en-GB" sz="1800">
                <a:solidFill>
                  <a:schemeClr val="tx1"/>
                </a:solidFill>
                <a:sym typeface="+mn-ea"/>
              </a:rPr>
              <a:t>ầu vào kh</a:t>
            </a:r>
            <a:r>
              <a:rPr lang="en-US" altLang="en-US" sz="1800">
                <a:solidFill>
                  <a:schemeClr val="tx1"/>
                </a:solidFill>
                <a:sym typeface="+mn-ea"/>
              </a:rPr>
              <a:t>á</a:t>
            </a:r>
            <a:r>
              <a:rPr lang="en-US" altLang="en-GB" sz="1800">
                <a:solidFill>
                  <a:schemeClr val="tx1"/>
                </a:solidFill>
                <a:sym typeface="+mn-ea"/>
              </a:rPr>
              <a:t>c nhau (a, p, n). Đầu ra đi qua lớp gộp (Pooling) </a:t>
            </a:r>
            <a:r>
              <a:rPr lang="en-US" altLang="en-US" sz="1800">
                <a:solidFill>
                  <a:schemeClr val="tx1"/>
                </a:solidFill>
                <a:sym typeface="+mn-ea"/>
              </a:rPr>
              <a:t>đ</a:t>
            </a:r>
            <a:r>
              <a:rPr lang="en-US" altLang="en-GB" sz="1800">
                <a:solidFill>
                  <a:schemeClr val="tx1"/>
                </a:solidFill>
                <a:sym typeface="+mn-ea"/>
              </a:rPr>
              <a:t>ể tạo ra 3 vector to</a:t>
            </a:r>
            <a:r>
              <a:rPr lang="en-US" altLang="en-US" sz="1800">
                <a:solidFill>
                  <a:schemeClr val="tx1"/>
                </a:solidFill>
                <a:sym typeface="+mn-ea"/>
              </a:rPr>
              <a:t>á</a:t>
            </a:r>
            <a:r>
              <a:rPr lang="en-US" altLang="en-GB" sz="1800">
                <a:solidFill>
                  <a:schemeClr val="tx1"/>
                </a:solidFill>
                <a:sym typeface="+mn-ea"/>
              </a:rPr>
              <a:t>n học t</a:t>
            </a:r>
            <a:r>
              <a:rPr lang="en-US" altLang="en-US" sz="1800">
                <a:solidFill>
                  <a:schemeClr val="tx1"/>
                </a:solidFill>
                <a:sym typeface="+mn-ea"/>
              </a:rPr>
              <a:t>ươ</a:t>
            </a:r>
            <a:r>
              <a:rPr lang="en-US" altLang="en-GB" sz="1800">
                <a:solidFill>
                  <a:schemeClr val="tx1"/>
                </a:solidFill>
                <a:sym typeface="+mn-ea"/>
              </a:rPr>
              <a:t>ng ứng: </a:t>
            </a:r>
            <a:r>
              <a:rPr lang="en-US" altLang="en-GB" sz="1800" b="1">
                <a:solidFill>
                  <a:schemeClr val="tx1"/>
                </a:solidFill>
                <a:sym typeface="+mn-ea"/>
              </a:rPr>
              <a:t>s</a:t>
            </a:r>
            <a:r>
              <a:rPr lang="en-US" altLang="en-GB" sz="1800" b="1" baseline="-25000">
                <a:solidFill>
                  <a:schemeClr val="tx1"/>
                </a:solidFill>
                <a:sym typeface="+mn-ea"/>
              </a:rPr>
              <a:t>a</a:t>
            </a:r>
            <a:r>
              <a:rPr lang="en-US" altLang="en-GB" sz="1800" b="1">
                <a:solidFill>
                  <a:schemeClr val="tx1"/>
                </a:solidFill>
                <a:sym typeface="+mn-ea"/>
              </a:rPr>
              <a:t>, s</a:t>
            </a:r>
            <a:r>
              <a:rPr lang="en-US" altLang="en-GB" sz="1800" b="1" baseline="-25000">
                <a:solidFill>
                  <a:schemeClr val="tx1"/>
                </a:solidFill>
                <a:sym typeface="+mn-ea"/>
              </a:rPr>
              <a:t>p</a:t>
            </a:r>
            <a:r>
              <a:rPr lang="en-US" altLang="en-GB" sz="1800" b="1">
                <a:solidFill>
                  <a:schemeClr val="tx1"/>
                </a:solidFill>
                <a:sym typeface="+mn-ea"/>
              </a:rPr>
              <a:t>, s</a:t>
            </a:r>
            <a:r>
              <a:rPr lang="en-US" altLang="en-GB" sz="1800" b="1" baseline="-25000">
                <a:solidFill>
                  <a:schemeClr val="tx1"/>
                </a:solidFill>
                <a:sym typeface="+mn-ea"/>
              </a:rPr>
              <a:t>n</a:t>
            </a:r>
            <a:r>
              <a:rPr lang="en-US" altLang="en-GB" sz="1800">
                <a:solidFill>
                  <a:schemeClr val="tx1"/>
                </a:solidFill>
                <a:sym typeface="+mn-ea"/>
              </a:rPr>
              <a:t>.</a:t>
            </a:r>
            <a:br>
              <a:rPr lang="en-US" altLang="en-GB" sz="1800">
                <a:solidFill>
                  <a:schemeClr val="tx1"/>
                </a:solidFill>
                <a:sym typeface="+mn-ea"/>
              </a:rPr>
            </a:br>
            <a:br>
              <a:rPr lang="en-US" altLang="en-GB" sz="1800">
                <a:solidFill>
                  <a:schemeClr val="tx1"/>
                </a:solidFill>
                <a:sym typeface="+mn-ea"/>
              </a:rPr>
            </a:br>
            <a:r>
              <a:rPr lang="en-US" altLang="en-GB" sz="1800" b="1">
                <a:solidFill>
                  <a:srgbClr val="0070C0"/>
                </a:solidFill>
                <a:sym typeface="+mn-ea"/>
              </a:rPr>
              <a:t>B</a:t>
            </a:r>
            <a:r>
              <a:rPr lang="en-US" altLang="en-US" sz="1800" b="1">
                <a:solidFill>
                  <a:srgbClr val="0070C0"/>
                </a:solidFill>
                <a:sym typeface="+mn-ea"/>
              </a:rPr>
              <a:t>ư</a:t>
            </a:r>
            <a:r>
              <a:rPr lang="en-US" altLang="en-GB" sz="1800" b="1">
                <a:solidFill>
                  <a:srgbClr val="0070C0"/>
                </a:solidFill>
                <a:sym typeface="+mn-ea"/>
              </a:rPr>
              <a:t>ớc 3</a:t>
            </a:r>
            <a:r>
              <a:rPr lang="en-US" altLang="en-GB" sz="1800">
                <a:solidFill>
                  <a:schemeClr val="tx1"/>
                </a:solidFill>
                <a:sym typeface="+mn-ea"/>
              </a:rPr>
              <a:t>: </a:t>
            </a:r>
            <a:r>
              <a:rPr lang="en-US" altLang="en-US" sz="1800">
                <a:solidFill>
                  <a:schemeClr val="tx1"/>
                </a:solidFill>
                <a:sym typeface="+mn-ea"/>
              </a:rPr>
              <a:t>Đá</a:t>
            </a:r>
            <a:r>
              <a:rPr lang="en-US" altLang="en-GB" sz="1800">
                <a:solidFill>
                  <a:schemeClr val="tx1"/>
                </a:solidFill>
                <a:sym typeface="+mn-ea"/>
              </a:rPr>
              <a:t>nh gi</a:t>
            </a:r>
            <a:r>
              <a:rPr lang="en-US" altLang="en-US" sz="1800">
                <a:solidFill>
                  <a:schemeClr val="tx1"/>
                </a:solidFill>
                <a:sym typeface="+mn-ea"/>
              </a:rPr>
              <a:t>á</a:t>
            </a:r>
            <a:r>
              <a:rPr lang="en-US" altLang="en-GB" sz="1800">
                <a:solidFill>
                  <a:schemeClr val="tx1"/>
                </a:solidFill>
                <a:sym typeface="+mn-ea"/>
              </a:rPr>
              <a:t> bằng Hàm mất m</a:t>
            </a:r>
            <a:r>
              <a:rPr lang="en-US" altLang="en-US" sz="1800">
                <a:solidFill>
                  <a:schemeClr val="tx1"/>
                </a:solidFill>
                <a:sym typeface="+mn-ea"/>
              </a:rPr>
              <a:t>á</a:t>
            </a:r>
            <a:r>
              <a:rPr lang="en-US" altLang="en-GB" sz="1800">
                <a:solidFill>
                  <a:schemeClr val="tx1"/>
                </a:solidFill>
                <a:sym typeface="+mn-ea"/>
              </a:rPr>
              <a:t>t (Triplet Loss)</a:t>
            </a:r>
            <a:br>
              <a:rPr lang="en-US" altLang="en-GB" sz="1800">
                <a:solidFill>
                  <a:schemeClr val="tx1"/>
                </a:solidFill>
                <a:sym typeface="+mn-ea"/>
              </a:rPr>
            </a:br>
            <a:r>
              <a:rPr lang="en-US" altLang="en-US" sz="1800">
                <a:solidFill>
                  <a:schemeClr val="tx1"/>
                </a:solidFill>
                <a:sym typeface="+mn-ea"/>
              </a:rPr>
              <a:t>Đ</a:t>
            </a:r>
            <a:r>
              <a:rPr lang="en-US" altLang="en-GB" sz="1800">
                <a:solidFill>
                  <a:schemeClr val="tx1"/>
                </a:solidFill>
                <a:sym typeface="+mn-ea"/>
              </a:rPr>
              <a:t>o l</a:t>
            </a:r>
            <a:r>
              <a:rPr lang="en-US" altLang="en-US" sz="1800">
                <a:solidFill>
                  <a:schemeClr val="tx1"/>
                </a:solidFill>
                <a:sym typeface="+mn-ea"/>
              </a:rPr>
              <a:t>ư</a:t>
            </a:r>
            <a:r>
              <a:rPr lang="en-US" altLang="en-GB" sz="1800">
                <a:solidFill>
                  <a:schemeClr val="tx1"/>
                </a:solidFill>
                <a:sym typeface="+mn-ea"/>
              </a:rPr>
              <a:t>ờng khoảng c</a:t>
            </a:r>
            <a:r>
              <a:rPr lang="en-US" altLang="en-US" sz="1800">
                <a:solidFill>
                  <a:schemeClr val="tx1"/>
                </a:solidFill>
                <a:sym typeface="+mn-ea"/>
              </a:rPr>
              <a:t>á</a:t>
            </a:r>
            <a:r>
              <a:rPr lang="en-US" altLang="en-GB" sz="1800">
                <a:solidFill>
                  <a:schemeClr val="tx1"/>
                </a:solidFill>
                <a:sym typeface="+mn-ea"/>
              </a:rPr>
              <a:t>ch h</a:t>
            </a:r>
            <a:r>
              <a:rPr lang="en-US" altLang="en-US" sz="1800">
                <a:solidFill>
                  <a:schemeClr val="tx1"/>
                </a:solidFill>
                <a:sym typeface="+mn-ea"/>
              </a:rPr>
              <a:t>ì</a:t>
            </a:r>
            <a:r>
              <a:rPr lang="en-US" altLang="en-GB" sz="1800">
                <a:solidFill>
                  <a:schemeClr val="tx1"/>
                </a:solidFill>
                <a:sym typeface="+mn-ea"/>
              </a:rPr>
              <a:t>nh học giữa c</a:t>
            </a:r>
            <a:r>
              <a:rPr lang="en-US" altLang="en-US" sz="1800">
                <a:solidFill>
                  <a:schemeClr val="tx1"/>
                </a:solidFill>
                <a:sym typeface="+mn-ea"/>
              </a:rPr>
              <a:t>á</a:t>
            </a:r>
            <a:r>
              <a:rPr lang="en-US" altLang="en-GB" sz="1800">
                <a:solidFill>
                  <a:schemeClr val="tx1"/>
                </a:solidFill>
                <a:sym typeface="+mn-ea"/>
              </a:rPr>
              <a:t>c vector. Mô h</a:t>
            </a:r>
            <a:r>
              <a:rPr lang="en-US" altLang="en-US" sz="1800">
                <a:solidFill>
                  <a:schemeClr val="tx1"/>
                </a:solidFill>
                <a:sym typeface="+mn-ea"/>
              </a:rPr>
              <a:t>ì</a:t>
            </a:r>
            <a:r>
              <a:rPr lang="en-US" altLang="en-GB" sz="1800">
                <a:solidFill>
                  <a:schemeClr val="tx1"/>
                </a:solidFill>
                <a:sym typeface="+mn-ea"/>
              </a:rPr>
              <a:t>nh sẽ bị phạt (Loss lớn h</a:t>
            </a:r>
            <a:r>
              <a:rPr lang="en-US" altLang="en-US" sz="1800">
                <a:solidFill>
                  <a:schemeClr val="tx1"/>
                </a:solidFill>
                <a:sym typeface="+mn-ea"/>
              </a:rPr>
              <a:t>ơ</a:t>
            </a:r>
            <a:r>
              <a:rPr lang="en-US" altLang="en-GB" sz="1800">
                <a:solidFill>
                  <a:schemeClr val="tx1"/>
                </a:solidFill>
                <a:sym typeface="+mn-ea"/>
              </a:rPr>
              <a:t>n 0) nếu vector </a:t>
            </a:r>
            <a:r>
              <a:rPr lang="en-US" altLang="en-US" sz="1800">
                <a:solidFill>
                  <a:schemeClr val="tx1"/>
                </a:solidFill>
                <a:sym typeface="+mn-ea"/>
              </a:rPr>
              <a:t>đ</a:t>
            </a:r>
            <a:r>
              <a:rPr lang="en-US" altLang="en-GB" sz="1800">
                <a:solidFill>
                  <a:schemeClr val="tx1"/>
                </a:solidFill>
                <a:sym typeface="+mn-ea"/>
              </a:rPr>
              <a:t>ồng ngh</a:t>
            </a:r>
            <a:r>
              <a:rPr lang="en-US" altLang="en-US" sz="1800">
                <a:solidFill>
                  <a:schemeClr val="tx1"/>
                </a:solidFill>
                <a:sym typeface="+mn-ea"/>
              </a:rPr>
              <a:t>ĩ</a:t>
            </a:r>
            <a:r>
              <a:rPr lang="en-US" altLang="en-GB" sz="1800">
                <a:solidFill>
                  <a:schemeClr val="tx1"/>
                </a:solidFill>
                <a:sym typeface="+mn-ea"/>
              </a:rPr>
              <a:t>a s</a:t>
            </a:r>
            <a:r>
              <a:rPr lang="en-US" altLang="en-GB" sz="1800" baseline="-25000">
                <a:solidFill>
                  <a:schemeClr val="tx1"/>
                </a:solidFill>
                <a:sym typeface="+mn-ea"/>
              </a:rPr>
              <a:t>p</a:t>
            </a:r>
            <a:r>
              <a:rPr lang="en-US" altLang="en-GB" sz="1800">
                <a:solidFill>
                  <a:schemeClr val="tx1"/>
                </a:solidFill>
                <a:sym typeface="+mn-ea"/>
              </a:rPr>
              <a:t> ch</a:t>
            </a:r>
            <a:r>
              <a:rPr lang="en-US" altLang="en-US" sz="1800">
                <a:solidFill>
                  <a:schemeClr val="tx1"/>
                </a:solidFill>
                <a:sym typeface="+mn-ea"/>
              </a:rPr>
              <a:t>ư</a:t>
            </a:r>
            <a:r>
              <a:rPr lang="en-US" altLang="en-GB" sz="1800">
                <a:solidFill>
                  <a:schemeClr val="tx1"/>
                </a:solidFill>
                <a:sym typeface="+mn-ea"/>
              </a:rPr>
              <a:t>a nằm gần s</a:t>
            </a:r>
            <a:r>
              <a:rPr lang="en-US" altLang="en-GB" sz="1800" baseline="-25000">
                <a:solidFill>
                  <a:schemeClr val="tx1"/>
                </a:solidFill>
                <a:sym typeface="+mn-ea"/>
              </a:rPr>
              <a:t>a</a:t>
            </a:r>
            <a:r>
              <a:rPr lang="en-US" altLang="en-GB" sz="1800">
                <a:solidFill>
                  <a:schemeClr val="tx1"/>
                </a:solidFill>
                <a:sym typeface="+mn-ea"/>
              </a:rPr>
              <a:t> h</a:t>
            </a:r>
            <a:r>
              <a:rPr lang="en-US" altLang="en-US" sz="1800">
                <a:solidFill>
                  <a:schemeClr val="tx1"/>
                </a:solidFill>
                <a:sym typeface="+mn-ea"/>
              </a:rPr>
              <a:t>ơ</a:t>
            </a:r>
            <a:r>
              <a:rPr lang="en-US" altLang="en-GB" sz="1800">
                <a:solidFill>
                  <a:schemeClr val="tx1"/>
                </a:solidFill>
                <a:sym typeface="+mn-ea"/>
              </a:rPr>
              <a:t>n so với vector kh</a:t>
            </a:r>
            <a:r>
              <a:rPr lang="en-US" altLang="en-US" sz="1800">
                <a:solidFill>
                  <a:schemeClr val="tx1"/>
                </a:solidFill>
                <a:sym typeface="+mn-ea"/>
              </a:rPr>
              <a:t>á</a:t>
            </a:r>
            <a:r>
              <a:rPr lang="en-US" altLang="en-GB" sz="1800">
                <a:solidFill>
                  <a:schemeClr val="tx1"/>
                </a:solidFill>
                <a:sym typeface="+mn-ea"/>
              </a:rPr>
              <a:t>c ngh</a:t>
            </a:r>
            <a:r>
              <a:rPr lang="en-US" altLang="en-US" sz="1800">
                <a:solidFill>
                  <a:schemeClr val="tx1"/>
                </a:solidFill>
                <a:sym typeface="+mn-ea"/>
              </a:rPr>
              <a:t>ĩ</a:t>
            </a:r>
            <a:r>
              <a:rPr lang="en-US" altLang="en-GB" sz="1800">
                <a:solidFill>
                  <a:schemeClr val="tx1"/>
                </a:solidFill>
                <a:sym typeface="+mn-ea"/>
              </a:rPr>
              <a:t>a s</a:t>
            </a:r>
            <a:r>
              <a:rPr lang="en-US" altLang="en-GB" sz="1800" baseline="-25000">
                <a:solidFill>
                  <a:schemeClr val="tx1"/>
                </a:solidFill>
                <a:sym typeface="+mn-ea"/>
              </a:rPr>
              <a:t>n</a:t>
            </a:r>
            <a:r>
              <a:rPr lang="en-US" altLang="en-GB" sz="1800">
                <a:solidFill>
                  <a:schemeClr val="tx1"/>
                </a:solidFill>
                <a:sym typeface="+mn-ea"/>
              </a:rPr>
              <a:t> (t</a:t>
            </a:r>
            <a:r>
              <a:rPr lang="en-US" altLang="en-US" sz="1800">
                <a:solidFill>
                  <a:schemeClr val="tx1"/>
                </a:solidFill>
                <a:sym typeface="+mn-ea"/>
              </a:rPr>
              <a:t>í</a:t>
            </a:r>
            <a:r>
              <a:rPr lang="en-US" altLang="en-GB" sz="1800">
                <a:solidFill>
                  <a:schemeClr val="tx1"/>
                </a:solidFill>
                <a:sym typeface="+mn-ea"/>
              </a:rPr>
              <a:t>nh th</a:t>
            </a:r>
            <a:r>
              <a:rPr lang="en-US" altLang="en-US" sz="1800">
                <a:solidFill>
                  <a:schemeClr val="tx1"/>
                </a:solidFill>
                <a:sym typeface="+mn-ea"/>
              </a:rPr>
              <a:t>ê</a:t>
            </a:r>
            <a:r>
              <a:rPr lang="en-US" altLang="en-GB" sz="1800">
                <a:solidFill>
                  <a:schemeClr val="tx1"/>
                </a:solidFill>
                <a:sym typeface="+mn-ea"/>
              </a:rPr>
              <a:t>m một khoảng an toàn epsilon) - thường dùng khoảng cách Euclid ||.||</a:t>
            </a:r>
            <a:br>
              <a:rPr lang="en-US" altLang="en-GB" sz="1800">
                <a:solidFill>
                  <a:schemeClr val="tx1"/>
                </a:solidFill>
                <a:sym typeface="+mn-ea"/>
              </a:rPr>
            </a:br>
            <a:br>
              <a:rPr lang="en-US" altLang="en-GB" sz="1800">
                <a:solidFill>
                  <a:schemeClr val="tx1"/>
                </a:solidFill>
                <a:sym typeface="+mn-ea"/>
              </a:rPr>
            </a:br>
            <a:br>
              <a:rPr lang="en-US" altLang="en-GB" sz="1800">
                <a:solidFill>
                  <a:schemeClr val="tx1"/>
                </a:solidFill>
                <a:sym typeface="+mn-ea"/>
              </a:rPr>
            </a:br>
            <a:r>
              <a:rPr lang="en-US" altLang="en-GB" sz="1800" b="1">
                <a:solidFill>
                  <a:srgbClr val="0070C0"/>
                </a:solidFill>
                <a:sym typeface="+mn-ea"/>
              </a:rPr>
              <a:t>B</a:t>
            </a:r>
            <a:r>
              <a:rPr lang="en-US" altLang="en-US" sz="1800" b="1">
                <a:solidFill>
                  <a:srgbClr val="0070C0"/>
                </a:solidFill>
                <a:sym typeface="+mn-ea"/>
              </a:rPr>
              <a:t>ư</a:t>
            </a:r>
            <a:r>
              <a:rPr lang="en-US" altLang="en-GB" sz="1800" b="1">
                <a:solidFill>
                  <a:srgbClr val="0070C0"/>
                </a:solidFill>
                <a:sym typeface="+mn-ea"/>
              </a:rPr>
              <a:t>ớc 4</a:t>
            </a:r>
            <a:r>
              <a:rPr lang="en-US" altLang="en-GB" sz="1800">
                <a:solidFill>
                  <a:srgbClr val="0070C0"/>
                </a:solidFill>
                <a:sym typeface="+mn-ea"/>
              </a:rPr>
              <a:t>:</a:t>
            </a:r>
            <a:r>
              <a:rPr lang="en-US" altLang="en-GB" sz="1800">
                <a:solidFill>
                  <a:schemeClr val="tx1"/>
                </a:solidFill>
                <a:sym typeface="+mn-ea"/>
              </a:rPr>
              <a:t> Cập nhật trọng số</a:t>
            </a:r>
            <a:br>
              <a:rPr lang="en-US" altLang="en-GB" sz="1800">
                <a:solidFill>
                  <a:schemeClr val="tx1"/>
                </a:solidFill>
                <a:sym typeface="+mn-ea"/>
              </a:rPr>
            </a:br>
            <a:r>
              <a:rPr lang="en-US" altLang="en-GB" sz="1800">
                <a:solidFill>
                  <a:schemeClr val="tx1"/>
                </a:solidFill>
                <a:sym typeface="+mn-ea"/>
              </a:rPr>
              <a:t>Lan truyền ng</a:t>
            </a:r>
            <a:r>
              <a:rPr lang="en-US" altLang="en-US" sz="1800">
                <a:solidFill>
                  <a:schemeClr val="tx1"/>
                </a:solidFill>
                <a:sym typeface="+mn-ea"/>
              </a:rPr>
              <a:t>ư</a:t>
            </a:r>
            <a:r>
              <a:rPr lang="en-US" altLang="en-GB" sz="1800">
                <a:solidFill>
                  <a:schemeClr val="tx1"/>
                </a:solidFill>
                <a:sym typeface="+mn-ea"/>
              </a:rPr>
              <a:t>ợc (Backpropagation) </a:t>
            </a:r>
            <a:r>
              <a:rPr lang="en-US" altLang="en-US" sz="1800">
                <a:solidFill>
                  <a:schemeClr val="tx1"/>
                </a:solidFill>
                <a:sym typeface="+mn-ea"/>
              </a:rPr>
              <a:t>đ</a:t>
            </a:r>
            <a:r>
              <a:rPr lang="en-US" altLang="en-GB" sz="1800">
                <a:solidFill>
                  <a:schemeClr val="tx1"/>
                </a:solidFill>
                <a:sym typeface="+mn-ea"/>
              </a:rPr>
              <a:t>ể </a:t>
            </a:r>
            <a:r>
              <a:rPr lang="en-US" altLang="en-US" sz="1800">
                <a:solidFill>
                  <a:schemeClr val="tx1"/>
                </a:solidFill>
                <a:sym typeface="+mn-ea"/>
              </a:rPr>
              <a:t>đ</a:t>
            </a:r>
            <a:r>
              <a:rPr lang="en-US" altLang="en-GB" sz="1800">
                <a:solidFill>
                  <a:schemeClr val="tx1"/>
                </a:solidFill>
                <a:sym typeface="+mn-ea"/>
              </a:rPr>
              <a:t>iều chỉnh hàng triệu trọng số của BERT. Mục </a:t>
            </a:r>
            <a:r>
              <a:rPr lang="en-US" altLang="en-US" sz="1800">
                <a:solidFill>
                  <a:schemeClr val="tx1"/>
                </a:solidFill>
                <a:sym typeface="+mn-ea"/>
              </a:rPr>
              <a:t>đ</a:t>
            </a:r>
            <a:r>
              <a:rPr lang="en-US" altLang="en-US" sz="1800">
                <a:solidFill>
                  <a:schemeClr val="tx1"/>
                </a:solidFill>
                <a:sym typeface="+mn-ea"/>
              </a:rPr>
              <a:t>í</a:t>
            </a:r>
            <a:r>
              <a:rPr lang="en-US" altLang="en-GB" sz="1800">
                <a:solidFill>
                  <a:schemeClr val="tx1"/>
                </a:solidFill>
                <a:sym typeface="+mn-ea"/>
              </a:rPr>
              <a:t>ch: </a:t>
            </a:r>
            <a:r>
              <a:rPr lang="en-US" altLang="en-US" sz="1800">
                <a:solidFill>
                  <a:schemeClr val="tx1"/>
                </a:solidFill>
                <a:sym typeface="+mn-ea"/>
              </a:rPr>
              <a:t>Đ</a:t>
            </a:r>
            <a:r>
              <a:rPr lang="en-US" altLang="en-GB" sz="1800">
                <a:solidFill>
                  <a:schemeClr val="tx1"/>
                </a:solidFill>
                <a:sym typeface="+mn-ea"/>
              </a:rPr>
              <a:t>ịnh h</a:t>
            </a:r>
            <a:r>
              <a:rPr lang="en-US" altLang="en-US" sz="1800">
                <a:solidFill>
                  <a:schemeClr val="tx1"/>
                </a:solidFill>
                <a:sym typeface="+mn-ea"/>
              </a:rPr>
              <a:t>ì</a:t>
            </a:r>
            <a:r>
              <a:rPr lang="en-US" altLang="en-GB" sz="1800">
                <a:solidFill>
                  <a:schemeClr val="tx1"/>
                </a:solidFill>
                <a:sym typeface="+mn-ea"/>
              </a:rPr>
              <a:t>nh lại không gian vector </a:t>
            </a:r>
            <a:r>
              <a:rPr lang="en-US" altLang="en-US" sz="1800">
                <a:solidFill>
                  <a:schemeClr val="tx1"/>
                </a:solidFill>
                <a:sym typeface="+mn-ea"/>
              </a:rPr>
              <a:t>đ</a:t>
            </a:r>
            <a:r>
              <a:rPr lang="en-US" altLang="en-GB" sz="1800">
                <a:solidFill>
                  <a:schemeClr val="tx1"/>
                </a:solidFill>
                <a:sym typeface="+mn-ea"/>
              </a:rPr>
              <a:t>ể k</a:t>
            </a:r>
            <a:r>
              <a:rPr lang="en-US" altLang="en-US" sz="1800">
                <a:solidFill>
                  <a:schemeClr val="tx1"/>
                </a:solidFill>
                <a:sym typeface="+mn-ea"/>
              </a:rPr>
              <a:t>é</a:t>
            </a:r>
            <a:r>
              <a:rPr lang="en-US" altLang="en-GB" sz="1800">
                <a:solidFill>
                  <a:schemeClr val="tx1"/>
                </a:solidFill>
                <a:sym typeface="+mn-ea"/>
              </a:rPr>
              <a:t>o s</a:t>
            </a:r>
            <a:r>
              <a:rPr lang="en-US" altLang="en-GB" sz="1800" baseline="-25000">
                <a:solidFill>
                  <a:schemeClr val="tx1"/>
                </a:solidFill>
                <a:sym typeface="+mn-ea"/>
              </a:rPr>
              <a:t>p</a:t>
            </a:r>
            <a:r>
              <a:rPr lang="en-US" altLang="en-GB" sz="1800">
                <a:solidFill>
                  <a:schemeClr val="tx1"/>
                </a:solidFill>
                <a:sym typeface="+mn-ea"/>
              </a:rPr>
              <a:t> lại s</a:t>
            </a:r>
            <a:r>
              <a:rPr lang="en-US" altLang="en-US" sz="1800">
                <a:solidFill>
                  <a:schemeClr val="tx1"/>
                </a:solidFill>
                <a:sym typeface="+mn-ea"/>
              </a:rPr>
              <a:t>á</a:t>
            </a:r>
            <a:r>
              <a:rPr lang="en-US" altLang="en-GB" sz="1800">
                <a:solidFill>
                  <a:schemeClr val="tx1"/>
                </a:solidFill>
                <a:sym typeface="+mn-ea"/>
              </a:rPr>
              <a:t>t s</a:t>
            </a:r>
            <a:r>
              <a:rPr lang="en-US" altLang="en-GB" sz="1800" baseline="-25000">
                <a:solidFill>
                  <a:schemeClr val="tx1"/>
                </a:solidFill>
                <a:sym typeface="+mn-ea"/>
              </a:rPr>
              <a:t>a</a:t>
            </a:r>
            <a:r>
              <a:rPr lang="en-US" altLang="en-GB" sz="1800">
                <a:solidFill>
                  <a:schemeClr val="tx1"/>
                </a:solidFill>
                <a:sym typeface="+mn-ea"/>
              </a:rPr>
              <a:t>, </a:t>
            </a:r>
            <a:r>
              <a:rPr lang="en-US" altLang="en-US" sz="1800">
                <a:solidFill>
                  <a:schemeClr val="tx1"/>
                </a:solidFill>
                <a:sym typeface="+mn-ea"/>
              </a:rPr>
              <a:t>đ</a:t>
            </a:r>
            <a:r>
              <a:rPr lang="en-US" altLang="en-GB" sz="1800">
                <a:solidFill>
                  <a:schemeClr val="tx1"/>
                </a:solidFill>
                <a:sym typeface="+mn-ea"/>
              </a:rPr>
              <a:t>ồng thời </a:t>
            </a:r>
            <a:r>
              <a:rPr lang="en-US" altLang="en-US" sz="1800">
                <a:solidFill>
                  <a:schemeClr val="tx1"/>
                </a:solidFill>
                <a:sym typeface="+mn-ea"/>
              </a:rPr>
              <a:t>đ</a:t>
            </a:r>
            <a:r>
              <a:rPr lang="en-US" altLang="en-GB" sz="1800">
                <a:solidFill>
                  <a:schemeClr val="tx1"/>
                </a:solidFill>
                <a:sym typeface="+mn-ea"/>
              </a:rPr>
              <a:t>ẩy s</a:t>
            </a:r>
            <a:r>
              <a:rPr lang="en-US" altLang="en-GB" sz="1800" baseline="-25000">
                <a:solidFill>
                  <a:schemeClr val="tx1"/>
                </a:solidFill>
                <a:sym typeface="+mn-ea"/>
              </a:rPr>
              <a:t>n</a:t>
            </a:r>
            <a:r>
              <a:rPr lang="en-US" altLang="en-GB" sz="1800">
                <a:solidFill>
                  <a:schemeClr val="tx1"/>
                </a:solidFill>
                <a:sym typeface="+mn-ea"/>
              </a:rPr>
              <a:t> v</a:t>
            </a:r>
            <a:r>
              <a:rPr lang="en-US" altLang="en-US" sz="1800">
                <a:solidFill>
                  <a:schemeClr val="tx1"/>
                </a:solidFill>
                <a:sym typeface="+mn-ea"/>
              </a:rPr>
              <a:t>ă</a:t>
            </a:r>
            <a:r>
              <a:rPr lang="en-US" altLang="en-GB" sz="1800">
                <a:solidFill>
                  <a:schemeClr val="tx1"/>
                </a:solidFill>
                <a:sym typeface="+mn-ea"/>
              </a:rPr>
              <a:t>ng ra xa s</a:t>
            </a:r>
            <a:r>
              <a:rPr lang="en-US" altLang="en-GB" sz="1800" baseline="-25000">
                <a:solidFill>
                  <a:schemeClr val="tx1"/>
                </a:solidFill>
                <a:sym typeface="+mn-ea"/>
              </a:rPr>
              <a:t>a</a:t>
            </a:r>
            <a:r>
              <a:rPr lang="en-US" altLang="en-GB" sz="1800">
                <a:solidFill>
                  <a:schemeClr val="tx1"/>
                </a:solidFill>
                <a:sym typeface="+mn-ea"/>
              </a:rPr>
              <a:t>.</a:t>
            </a:r>
            <a:endParaRPr lang="en-US" altLang="en-GB" sz="1800">
              <a:solidFill>
                <a:schemeClr val="tx1"/>
              </a:solidFill>
              <a:sym typeface="+mn-ea"/>
            </a:endParaRPr>
          </a:p>
        </p:txBody>
      </p:sp>
      <p:pic>
        <p:nvPicPr>
          <p:cNvPr id="3" name="Picture 2"/>
          <p:cNvPicPr>
            <a:picLocks noChangeAspect="1"/>
          </p:cNvPicPr>
          <p:nvPr/>
        </p:nvPicPr>
        <p:blipFill>
          <a:blip r:embed="rId1"/>
          <a:stretch>
            <a:fillRect/>
          </a:stretch>
        </p:blipFill>
        <p:spPr>
          <a:xfrm>
            <a:off x="3769360" y="5579110"/>
            <a:ext cx="5324475" cy="4953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111125"/>
            <a:ext cx="11632565" cy="6635750"/>
          </a:xfrm>
        </p:spPr>
        <p:txBody>
          <a:bodyPr>
            <a:noAutofit/>
          </a:bodyPr>
          <a:p>
            <a:r>
              <a:rPr lang="en-US" altLang="en-GB" sz="3500"/>
              <a:t>5. So sánh BERT và SBERT: Đánh đổi giữa Tốc độ và Độ chính xác</a:t>
            </a:r>
            <a:br>
              <a:rPr lang="en-US" altLang="en-GB" sz="3500"/>
            </a:br>
            <a:br>
              <a:rPr lang="en-US" altLang="en-GB" sz="1800">
                <a:sym typeface="+mn-ea"/>
              </a:rPr>
            </a:br>
            <a:r>
              <a:rPr lang="en-US" altLang="en-GB" sz="1800">
                <a:sym typeface="+mn-ea"/>
              </a:rPr>
              <a:t>Về mặt hiệu n</a:t>
            </a:r>
            <a:r>
              <a:rPr lang="en-US" altLang="en-US" sz="1800">
                <a:sym typeface="+mn-ea"/>
              </a:rPr>
              <a:t>ă</a:t>
            </a:r>
            <a:r>
              <a:rPr lang="en-US" altLang="en-GB" sz="1800">
                <a:sym typeface="+mn-ea"/>
              </a:rPr>
              <a:t>ng, SBERT (Bi-encoder) tối </a:t>
            </a:r>
            <a:r>
              <a:rPr lang="en-US" altLang="en-US" sz="1800">
                <a:sym typeface="+mn-ea"/>
              </a:rPr>
              <a:t>ư</a:t>
            </a:r>
            <a:r>
              <a:rPr lang="en-US" altLang="en-GB" sz="1800">
                <a:sym typeface="+mn-ea"/>
              </a:rPr>
              <a:t>u h</a:t>
            </a:r>
            <a:r>
              <a:rPr lang="en-US" altLang="en-US" sz="1800">
                <a:sym typeface="+mn-ea"/>
              </a:rPr>
              <a:t>ó</a:t>
            </a:r>
            <a:r>
              <a:rPr lang="en-US" altLang="en-GB" sz="1800">
                <a:sym typeface="+mn-ea"/>
              </a:rPr>
              <a:t>a tốc </a:t>
            </a:r>
            <a:r>
              <a:rPr lang="en-US" altLang="en-US" sz="1800">
                <a:sym typeface="+mn-ea"/>
              </a:rPr>
              <a:t>đ</a:t>
            </a:r>
            <a:r>
              <a:rPr lang="en-US" altLang="en-GB" sz="1800">
                <a:sym typeface="+mn-ea"/>
              </a:rPr>
              <a:t>ộ xuất sắc, giảm thời gian t</a:t>
            </a:r>
            <a:r>
              <a:rPr lang="en-US" altLang="en-US" sz="1800">
                <a:sym typeface="+mn-ea"/>
              </a:rPr>
              <a:t>í</a:t>
            </a:r>
            <a:r>
              <a:rPr lang="en-US" altLang="en-GB" sz="1800">
                <a:sym typeface="+mn-ea"/>
              </a:rPr>
              <a:t>nh to</a:t>
            </a:r>
            <a:r>
              <a:rPr lang="en-US" altLang="en-US" sz="1800">
                <a:sym typeface="+mn-ea"/>
              </a:rPr>
              <a:t>á</a:t>
            </a:r>
            <a:r>
              <a:rPr lang="en-US" altLang="en-GB" sz="1800">
                <a:sym typeface="+mn-ea"/>
              </a:rPr>
              <a:t>n quy mô lớn từ 65 giờ xuống chỉ c</a:t>
            </a:r>
            <a:r>
              <a:rPr lang="en-US" altLang="en-US" sz="1800">
                <a:sym typeface="+mn-ea"/>
              </a:rPr>
              <a:t>ò</a:t>
            </a:r>
            <a:r>
              <a:rPr lang="en-US" altLang="en-GB" sz="1800">
                <a:sym typeface="+mn-ea"/>
              </a:rPr>
              <a:t>n khoảng 5 gi</a:t>
            </a:r>
            <a:r>
              <a:rPr lang="en-US" altLang="en-US" sz="1800">
                <a:sym typeface="+mn-ea"/>
              </a:rPr>
              <a:t>â</a:t>
            </a:r>
            <a:r>
              <a:rPr lang="en-US" altLang="en-GB" sz="1800">
                <a:sym typeface="+mn-ea"/>
              </a:rPr>
              <a:t>y. Tuy nhi</a:t>
            </a:r>
            <a:r>
              <a:rPr lang="en-US" altLang="en-US" sz="1800">
                <a:sym typeface="+mn-ea"/>
              </a:rPr>
              <a:t>ê</a:t>
            </a:r>
            <a:r>
              <a:rPr lang="en-US" altLang="en-GB" sz="1800">
                <a:sym typeface="+mn-ea"/>
              </a:rPr>
              <a:t>n, khi chấm </a:t>
            </a:r>
            <a:r>
              <a:rPr lang="en-US" altLang="en-US" sz="1800">
                <a:sym typeface="+mn-ea"/>
              </a:rPr>
              <a:t>đ</a:t>
            </a:r>
            <a:r>
              <a:rPr lang="en-US" altLang="en-GB" sz="1800">
                <a:sym typeface="+mn-ea"/>
              </a:rPr>
              <a:t>iểm </a:t>
            </a:r>
            <a:r>
              <a:rPr lang="en-US" altLang="en-US" sz="1800">
                <a:sym typeface="+mn-ea"/>
              </a:rPr>
              <a:t>đ</a:t>
            </a:r>
            <a:r>
              <a:rPr lang="en-US" altLang="en-GB" sz="1800">
                <a:sym typeface="+mn-ea"/>
              </a:rPr>
              <a:t>ộ t</a:t>
            </a:r>
            <a:r>
              <a:rPr lang="en-US" altLang="en-US" sz="1800">
                <a:sym typeface="+mn-ea"/>
              </a:rPr>
              <a:t>ư</a:t>
            </a:r>
            <a:r>
              <a:rPr lang="en-US" altLang="en-US" sz="1800">
                <a:sym typeface="+mn-ea"/>
              </a:rPr>
              <a:t>ơ</a:t>
            </a:r>
            <a:r>
              <a:rPr lang="en-US" altLang="en-GB" sz="1800">
                <a:sym typeface="+mn-ea"/>
              </a:rPr>
              <a:t>ng </a:t>
            </a:r>
            <a:r>
              <a:rPr lang="en-US" altLang="en-US" sz="1800">
                <a:sym typeface="+mn-ea"/>
              </a:rPr>
              <a:t>đ</a:t>
            </a:r>
            <a:r>
              <a:rPr lang="en-US" altLang="en-GB" sz="1800">
                <a:sym typeface="+mn-ea"/>
              </a:rPr>
              <a:t>ồng của từng cặp c</a:t>
            </a:r>
            <a:r>
              <a:rPr lang="en-US" altLang="en-US" sz="1800">
                <a:sym typeface="+mn-ea"/>
              </a:rPr>
              <a:t>â</a:t>
            </a:r>
            <a:r>
              <a:rPr lang="en-US" altLang="en-GB" sz="1800">
                <a:sym typeface="+mn-ea"/>
              </a:rPr>
              <a:t>u, BERT (Cross-encoder) luôn cho ra </a:t>
            </a:r>
            <a:r>
              <a:rPr lang="en-US" altLang="en-US" sz="1800">
                <a:sym typeface="+mn-ea"/>
              </a:rPr>
              <a:t>đ</a:t>
            </a:r>
            <a:r>
              <a:rPr lang="en-US" altLang="en-GB" sz="1800">
                <a:sym typeface="+mn-ea"/>
              </a:rPr>
              <a:t>ộ ch</a:t>
            </a:r>
            <a:r>
              <a:rPr lang="en-US" altLang="en-US" sz="1800">
                <a:sym typeface="+mn-ea"/>
              </a:rPr>
              <a:t>í</a:t>
            </a:r>
            <a:r>
              <a:rPr lang="en-US" altLang="en-GB" sz="1800">
                <a:sym typeface="+mn-ea"/>
              </a:rPr>
              <a:t>nh x</a:t>
            </a:r>
            <a:r>
              <a:rPr lang="en-US" altLang="en-US" sz="1800">
                <a:sym typeface="+mn-ea"/>
              </a:rPr>
              <a:t>á</a:t>
            </a:r>
            <a:r>
              <a:rPr lang="en-US" altLang="en-GB" sz="1800">
                <a:sym typeface="+mn-ea"/>
              </a:rPr>
              <a:t>c cao h</a:t>
            </a:r>
            <a:r>
              <a:rPr lang="en-US" altLang="en-US" sz="1800">
                <a:sym typeface="+mn-ea"/>
              </a:rPr>
              <a:t>ơ</a:t>
            </a:r>
            <a:r>
              <a:rPr lang="en-US" altLang="en-GB" sz="1800">
                <a:sym typeface="+mn-ea"/>
              </a:rPr>
              <a:t>n.</a:t>
            </a:r>
            <a:br>
              <a:rPr lang="en-US" altLang="en-GB" sz="1800">
                <a:sym typeface="+mn-ea"/>
              </a:rPr>
            </a:br>
            <a:br>
              <a:rPr lang="en-US" altLang="en-GB" sz="1800">
                <a:sym typeface="+mn-ea"/>
              </a:rPr>
            </a:br>
            <a:r>
              <a:rPr lang="en-US" altLang="en-GB" sz="1800">
                <a:sym typeface="+mn-ea"/>
              </a:rPr>
              <a:t>N</a:t>
            </a:r>
            <a:r>
              <a:rPr lang="en-US" altLang="en-US" sz="1800">
                <a:sym typeface="+mn-ea"/>
              </a:rPr>
              <a:t>ă</a:t>
            </a:r>
            <a:r>
              <a:rPr lang="en-US" altLang="en-GB" sz="1800">
                <a:sym typeface="+mn-ea"/>
              </a:rPr>
              <a:t>m 2019, c</a:t>
            </a:r>
            <a:r>
              <a:rPr lang="en-US" altLang="en-US" sz="1800">
                <a:sym typeface="+mn-ea"/>
              </a:rPr>
              <a:t>á</a:t>
            </a:r>
            <a:r>
              <a:rPr lang="en-US" altLang="en-GB" sz="1800">
                <a:sym typeface="+mn-ea"/>
              </a:rPr>
              <a:t>c bài b</a:t>
            </a:r>
            <a:r>
              <a:rPr lang="en-US" altLang="en-US" sz="1800">
                <a:sym typeface="+mn-ea"/>
              </a:rPr>
              <a:t>á</a:t>
            </a:r>
            <a:r>
              <a:rPr lang="en-US" altLang="en-GB" sz="1800">
                <a:sym typeface="+mn-ea"/>
              </a:rPr>
              <a:t>o khai sinh ra SBERT </a:t>
            </a:r>
            <a:r>
              <a:rPr lang="en-US" altLang="en-GB" sz="1800" baseline="30000">
                <a:sym typeface="+mn-ea"/>
              </a:rPr>
              <a:t>[7]</a:t>
            </a:r>
            <a:r>
              <a:rPr lang="en-US" altLang="en-GB" sz="1800">
                <a:sym typeface="+mn-ea"/>
              </a:rPr>
              <a:t> và kiến tr</a:t>
            </a:r>
            <a:r>
              <a:rPr lang="en-US" altLang="en-US" sz="1800">
                <a:sym typeface="+mn-ea"/>
              </a:rPr>
              <a:t>ú</a:t>
            </a:r>
            <a:r>
              <a:rPr lang="en-US" altLang="en-GB" sz="1800">
                <a:sym typeface="+mn-ea"/>
              </a:rPr>
              <a:t>c Poly-encoders</a:t>
            </a:r>
            <a:r>
              <a:rPr lang="en-US" altLang="en-GB" sz="1800" baseline="30000">
                <a:sym typeface="+mn-ea"/>
              </a:rPr>
              <a:t> [8]</a:t>
            </a:r>
            <a:r>
              <a:rPr lang="en-US" altLang="en-GB" sz="1800">
                <a:sym typeface="+mn-ea"/>
              </a:rPr>
              <a:t> </a:t>
            </a:r>
            <a:r>
              <a:rPr lang="en-US" altLang="en-US" sz="1800">
                <a:sym typeface="+mn-ea"/>
              </a:rPr>
              <a:t>đ</a:t>
            </a:r>
            <a:r>
              <a:rPr lang="en-US" altLang="en-US" sz="1800">
                <a:sym typeface="+mn-ea"/>
              </a:rPr>
              <a:t>ã</a:t>
            </a:r>
            <a:r>
              <a:rPr lang="en-US" altLang="en-GB" sz="1800">
                <a:sym typeface="+mn-ea"/>
              </a:rPr>
              <a:t> chỉ r</a:t>
            </a:r>
            <a:r>
              <a:rPr lang="en-US" altLang="en-US" sz="1800">
                <a:sym typeface="+mn-ea"/>
              </a:rPr>
              <a:t>õ</a:t>
            </a:r>
            <a:r>
              <a:rPr lang="en-US" altLang="en-GB" sz="1800">
                <a:sym typeface="+mn-ea"/>
              </a:rPr>
              <a:t> bản chất của sự </a:t>
            </a:r>
            <a:r>
              <a:rPr lang="en-US" altLang="en-US" sz="1800">
                <a:sym typeface="+mn-ea"/>
              </a:rPr>
              <a:t>đ</a:t>
            </a:r>
            <a:r>
              <a:rPr lang="en-US" altLang="en-US" sz="1800">
                <a:sym typeface="+mn-ea"/>
              </a:rPr>
              <a:t>á</a:t>
            </a:r>
            <a:r>
              <a:rPr lang="en-US" altLang="en-GB" sz="1800">
                <a:sym typeface="+mn-ea"/>
              </a:rPr>
              <a:t>nh </a:t>
            </a:r>
            <a:r>
              <a:rPr lang="en-US" altLang="en-US" sz="1800">
                <a:sym typeface="+mn-ea"/>
              </a:rPr>
              <a:t>đ</a:t>
            </a:r>
            <a:r>
              <a:rPr lang="en-US" altLang="en-GB" sz="1800">
                <a:sym typeface="+mn-ea"/>
              </a:rPr>
              <a:t>ổi này:</a:t>
            </a:r>
            <a:br>
              <a:rPr lang="en-US" altLang="en-GB" sz="1800">
                <a:sym typeface="+mn-ea"/>
              </a:rPr>
            </a:br>
            <a:r>
              <a:rPr lang="en-US" altLang="en-GB" sz="1800">
                <a:sym typeface="+mn-ea"/>
              </a:rPr>
              <a:t>	Cross-encoder (BERT): Nhờ c</a:t>
            </a:r>
            <a:r>
              <a:rPr lang="en-US" altLang="en-US" sz="1800">
                <a:sym typeface="+mn-ea"/>
              </a:rPr>
              <a:t>ơ</a:t>
            </a:r>
            <a:r>
              <a:rPr lang="en-US" altLang="en-GB" sz="1800">
                <a:sym typeface="+mn-ea"/>
              </a:rPr>
              <a:t> chế Self-Attention, c</a:t>
            </a:r>
            <a:r>
              <a:rPr lang="en-US" altLang="en-US" sz="1800">
                <a:sym typeface="+mn-ea"/>
              </a:rPr>
              <a:t>á</a:t>
            </a:r>
            <a:r>
              <a:rPr lang="en-US" altLang="en-GB" sz="1800">
                <a:sym typeface="+mn-ea"/>
              </a:rPr>
              <a:t>c từ của 2 c</a:t>
            </a:r>
            <a:r>
              <a:rPr lang="en-US" altLang="en-US" sz="1800">
                <a:sym typeface="+mn-ea"/>
              </a:rPr>
              <a:t>â</a:t>
            </a:r>
            <a:r>
              <a:rPr lang="en-US" altLang="en-GB" sz="1800">
                <a:sym typeface="+mn-ea"/>
              </a:rPr>
              <a:t>u t</a:t>
            </a:r>
            <a:r>
              <a:rPr lang="en-US" altLang="en-US" sz="1800">
                <a:sym typeface="+mn-ea"/>
              </a:rPr>
              <a:t>ư</a:t>
            </a:r>
            <a:r>
              <a:rPr lang="en-US" altLang="en-US" sz="1800">
                <a:sym typeface="+mn-ea"/>
              </a:rPr>
              <a:t>ơ</a:t>
            </a:r>
            <a:r>
              <a:rPr lang="en-US" altLang="en-GB" sz="1800">
                <a:sym typeface="+mn-ea"/>
              </a:rPr>
              <a:t>ng t</a:t>
            </a:r>
            <a:r>
              <a:rPr lang="en-US" altLang="en-US" sz="1800">
                <a:sym typeface="+mn-ea"/>
              </a:rPr>
              <a:t>á</a:t>
            </a:r>
            <a:r>
              <a:rPr lang="en-US" altLang="en-GB" sz="1800">
                <a:sym typeface="+mn-ea"/>
              </a:rPr>
              <a:t>c ch</a:t>
            </a:r>
            <a:r>
              <a:rPr lang="en-US" altLang="en-US" sz="1800">
                <a:sym typeface="+mn-ea"/>
              </a:rPr>
              <a:t>é</a:t>
            </a:r>
            <a:r>
              <a:rPr lang="en-US" altLang="en-GB" sz="1800">
                <a:sym typeface="+mn-ea"/>
              </a:rPr>
              <a:t>o (cross-attention) với nhau ngay từ c</a:t>
            </a:r>
            <a:r>
              <a:rPr lang="en-US" altLang="en-US" sz="1800">
                <a:sym typeface="+mn-ea"/>
              </a:rPr>
              <a:t>á</a:t>
            </a:r>
            <a:r>
              <a:rPr lang="en-US" altLang="en-GB" sz="1800">
                <a:sym typeface="+mn-ea"/>
              </a:rPr>
              <a:t>c lớp mạng </a:t>
            </a:r>
            <a:r>
              <a:rPr lang="en-US" altLang="en-US" sz="1800">
                <a:sym typeface="+mn-ea"/>
              </a:rPr>
              <a:t>đ</a:t>
            </a:r>
            <a:r>
              <a:rPr lang="en-US" altLang="en-GB" sz="1800">
                <a:sym typeface="+mn-ea"/>
              </a:rPr>
              <a:t>ầu ti</a:t>
            </a:r>
            <a:r>
              <a:rPr lang="en-US" altLang="en-US" sz="1800">
                <a:sym typeface="+mn-ea"/>
              </a:rPr>
              <a:t>ê</a:t>
            </a:r>
            <a:r>
              <a:rPr lang="en-US" altLang="en-GB" sz="1800">
                <a:sym typeface="+mn-ea"/>
              </a:rPr>
              <a:t>n.</a:t>
            </a:r>
            <a:br>
              <a:rPr lang="en-US" altLang="en-GB" sz="1800">
                <a:sym typeface="+mn-ea"/>
              </a:rPr>
            </a:br>
            <a:r>
              <a:rPr lang="en-US" altLang="en-GB" sz="1800">
                <a:sym typeface="+mn-ea"/>
              </a:rPr>
              <a:t>	Bi-encoder (SBERT): Hai c</a:t>
            </a:r>
            <a:r>
              <a:rPr lang="en-US" altLang="en-US" sz="1800">
                <a:sym typeface="+mn-ea"/>
              </a:rPr>
              <a:t>â</a:t>
            </a:r>
            <a:r>
              <a:rPr lang="en-US" altLang="en-GB" sz="1800">
                <a:sym typeface="+mn-ea"/>
              </a:rPr>
              <a:t>u bị cô lập hoàn toàn và chỉ t</a:t>
            </a:r>
            <a:r>
              <a:rPr lang="en-US" altLang="en-US" sz="1800">
                <a:sym typeface="+mn-ea"/>
              </a:rPr>
              <a:t>ư</a:t>
            </a:r>
            <a:r>
              <a:rPr lang="en-US" altLang="en-US" sz="1800">
                <a:sym typeface="+mn-ea"/>
              </a:rPr>
              <a:t>ơ</a:t>
            </a:r>
            <a:r>
              <a:rPr lang="en-US" altLang="en-GB" sz="1800">
                <a:sym typeface="+mn-ea"/>
              </a:rPr>
              <a:t>ng t</a:t>
            </a:r>
            <a:r>
              <a:rPr lang="en-US" altLang="en-US" sz="1800">
                <a:sym typeface="+mn-ea"/>
              </a:rPr>
              <a:t>á</a:t>
            </a:r>
            <a:r>
              <a:rPr lang="en-US" altLang="en-GB" sz="1800">
                <a:sym typeface="+mn-ea"/>
              </a:rPr>
              <a:t>c ở b</a:t>
            </a:r>
            <a:r>
              <a:rPr lang="en-US" altLang="en-US" sz="1800">
                <a:sym typeface="+mn-ea"/>
              </a:rPr>
              <a:t>ư</a:t>
            </a:r>
            <a:r>
              <a:rPr lang="en-US" altLang="en-GB" sz="1800">
                <a:sym typeface="+mn-ea"/>
              </a:rPr>
              <a:t>ớc cuối c</a:t>
            </a:r>
            <a:r>
              <a:rPr lang="en-US" altLang="en-US" sz="1800">
                <a:sym typeface="+mn-ea"/>
              </a:rPr>
              <a:t>ù</a:t>
            </a:r>
            <a:r>
              <a:rPr lang="en-US" altLang="en-GB" sz="1800">
                <a:sym typeface="+mn-ea"/>
              </a:rPr>
              <a:t>ng thông qua ph</a:t>
            </a:r>
            <a:r>
              <a:rPr lang="en-US" altLang="en-US" sz="1800">
                <a:sym typeface="+mn-ea"/>
              </a:rPr>
              <a:t>é</a:t>
            </a:r>
            <a:r>
              <a:rPr lang="en-US" altLang="en-GB" sz="1800">
                <a:sym typeface="+mn-ea"/>
              </a:rPr>
              <a:t>p t</a:t>
            </a:r>
            <a:r>
              <a:rPr lang="en-US" altLang="en-US" sz="1800">
                <a:sym typeface="+mn-ea"/>
              </a:rPr>
              <a:t>í</a:t>
            </a:r>
            <a:r>
              <a:rPr lang="en-US" altLang="en-GB" sz="1800">
                <a:sym typeface="+mn-ea"/>
              </a:rPr>
              <a:t>ch vô h</a:t>
            </a:r>
            <a:r>
              <a:rPr lang="en-US" altLang="en-US" sz="1800">
                <a:sym typeface="+mn-ea"/>
              </a:rPr>
              <a:t>ư</a:t>
            </a:r>
            <a:r>
              <a:rPr lang="en-US" altLang="en-GB" sz="1800">
                <a:sym typeface="+mn-ea"/>
              </a:rPr>
              <a:t>ớng (Dot product) của 2 vector.</a:t>
            </a:r>
            <a:br>
              <a:rPr lang="en-US" altLang="en-GB" sz="1800">
                <a:sym typeface="+mn-ea"/>
              </a:rPr>
            </a:br>
            <a:br>
              <a:rPr lang="en-US" altLang="en-GB" sz="1800">
                <a:sym typeface="+mn-ea"/>
              </a:rPr>
            </a:br>
            <a:r>
              <a:rPr lang="en-US" altLang="en-GB" sz="1800">
                <a:solidFill>
                  <a:srgbClr val="0070C0"/>
                </a:solidFill>
                <a:sym typeface="+mn-ea"/>
              </a:rPr>
              <a:t>Tóm lại</a:t>
            </a:r>
            <a:r>
              <a:rPr lang="en-US" altLang="en-GB" sz="1800">
                <a:sym typeface="+mn-ea"/>
              </a:rPr>
              <a:t>, </a:t>
            </a:r>
            <a:r>
              <a:rPr lang="en-US" altLang="en-GB" sz="1800">
                <a:sym typeface="+mn-ea"/>
              </a:rPr>
              <a:t>Cross-Encoder ch</a:t>
            </a:r>
            <a:r>
              <a:rPr lang="en-US" altLang="en-US" sz="1800">
                <a:sym typeface="+mn-ea"/>
              </a:rPr>
              <a:t>í</a:t>
            </a:r>
            <a:r>
              <a:rPr lang="en-US" altLang="en-GB" sz="1800">
                <a:sym typeface="+mn-ea"/>
              </a:rPr>
              <a:t>nh x</a:t>
            </a:r>
            <a:r>
              <a:rPr lang="en-US" altLang="en-US" sz="1800">
                <a:sym typeface="+mn-ea"/>
              </a:rPr>
              <a:t>á</a:t>
            </a:r>
            <a:r>
              <a:rPr lang="en-US" altLang="en-GB" sz="1800">
                <a:sym typeface="+mn-ea"/>
              </a:rPr>
              <a:t>c h</a:t>
            </a:r>
            <a:r>
              <a:rPr lang="en-US" altLang="en-US" sz="1800">
                <a:sym typeface="+mn-ea"/>
              </a:rPr>
              <a:t>ơ</a:t>
            </a:r>
            <a:r>
              <a:rPr lang="en-US" altLang="en-GB" sz="1800">
                <a:sym typeface="+mn-ea"/>
              </a:rPr>
              <a:t>n v</a:t>
            </a:r>
            <a:r>
              <a:rPr lang="en-US" altLang="en-US" sz="1800">
                <a:sym typeface="+mn-ea"/>
              </a:rPr>
              <a:t>ì</a:t>
            </a:r>
            <a:r>
              <a:rPr lang="en-US" altLang="en-GB" sz="1800">
                <a:sym typeface="+mn-ea"/>
              </a:rPr>
              <a:t> Self-Attention "nh</a:t>
            </a:r>
            <a:r>
              <a:rPr lang="en-US" altLang="en-US" sz="1800">
                <a:sym typeface="+mn-ea"/>
              </a:rPr>
              <a:t>ì</a:t>
            </a:r>
            <a:r>
              <a:rPr lang="en-US" altLang="en-GB" sz="1800">
                <a:sym typeface="+mn-ea"/>
              </a:rPr>
              <a:t>n" </a:t>
            </a:r>
            <a:r>
              <a:rPr lang="en-US" altLang="en-US" sz="1800">
                <a:sym typeface="+mn-ea"/>
              </a:rPr>
              <a:t>đư</a:t>
            </a:r>
            <a:r>
              <a:rPr lang="en-US" altLang="en-GB" sz="1800">
                <a:sym typeface="+mn-ea"/>
              </a:rPr>
              <a:t>ợc cả hai chuỗi c</a:t>
            </a:r>
            <a:r>
              <a:rPr lang="en-US" altLang="en-US" sz="1800">
                <a:sym typeface="+mn-ea"/>
              </a:rPr>
              <a:t>ù</a:t>
            </a:r>
            <a:r>
              <a:rPr lang="en-US" altLang="en-GB" sz="1800">
                <a:sym typeface="+mn-ea"/>
              </a:rPr>
              <a:t>ng l</a:t>
            </a:r>
            <a:r>
              <a:rPr lang="en-US" altLang="en-US" sz="1800">
                <a:sym typeface="+mn-ea"/>
              </a:rPr>
              <a:t>ú</a:t>
            </a:r>
            <a:r>
              <a:rPr lang="en-US" altLang="en-GB" sz="1800">
                <a:sym typeface="+mn-ea"/>
              </a:rPr>
              <a:t>c (full cross-attention giữa query và document), trong khi Bi-Encoder buộc phải n</a:t>
            </a:r>
            <a:r>
              <a:rPr lang="en-US" altLang="en-US" sz="1800">
                <a:sym typeface="+mn-ea"/>
              </a:rPr>
              <a:t>é</a:t>
            </a:r>
            <a:r>
              <a:rPr lang="en-US" altLang="en-GB" sz="1800">
                <a:sym typeface="+mn-ea"/>
              </a:rPr>
              <a:t>n thông tin thành một vector cố </a:t>
            </a:r>
            <a:r>
              <a:rPr lang="en-US" altLang="en-US" sz="1800">
                <a:sym typeface="+mn-ea"/>
              </a:rPr>
              <a:t>đ</a:t>
            </a:r>
            <a:r>
              <a:rPr lang="en-US" altLang="en-GB" sz="1800">
                <a:sym typeface="+mn-ea"/>
              </a:rPr>
              <a:t>ịnh tr</a:t>
            </a:r>
            <a:r>
              <a:rPr lang="en-US" altLang="en-US" sz="1800">
                <a:sym typeface="+mn-ea"/>
              </a:rPr>
              <a:t>ư</a:t>
            </a:r>
            <a:r>
              <a:rPr lang="en-US" altLang="en-GB" sz="1800">
                <a:sym typeface="+mn-ea"/>
              </a:rPr>
              <a:t>ớc khi so s</a:t>
            </a:r>
            <a:r>
              <a:rPr lang="en-US" altLang="en-US" sz="1800">
                <a:sym typeface="+mn-ea"/>
              </a:rPr>
              <a:t>á</a:t>
            </a:r>
            <a:r>
              <a:rPr lang="en-US" altLang="en-GB" sz="1800">
                <a:sym typeface="+mn-ea"/>
              </a:rPr>
              <a:t>nh, g</a:t>
            </a:r>
            <a:r>
              <a:rPr lang="en-US" altLang="en-US" sz="1800">
                <a:sym typeface="+mn-ea"/>
              </a:rPr>
              <a:t>â</a:t>
            </a:r>
            <a:r>
              <a:rPr lang="en-US" altLang="en-GB" sz="1800">
                <a:sym typeface="+mn-ea"/>
              </a:rPr>
              <a:t>y mất m</a:t>
            </a:r>
            <a:r>
              <a:rPr lang="en-US" altLang="en-US" sz="1800">
                <a:sym typeface="+mn-ea"/>
              </a:rPr>
              <a:t>á</a:t>
            </a:r>
            <a:r>
              <a:rPr lang="en-US" altLang="en-GB" sz="1800">
                <a:sym typeface="+mn-ea"/>
              </a:rPr>
              <a:t>t thông tin. Tuy nhiên, tốc độ của Cross-Encoder quá chậm để dùng cho các bài toán thực tế.</a:t>
            </a:r>
            <a:r>
              <a:rPr lang="en-US" sz="1800">
                <a:sym typeface="+mn-ea"/>
              </a:rPr>
              <a:t> Đây là lý do</a:t>
            </a:r>
            <a:r>
              <a:rPr lang="en-US" altLang="en-GB" sz="1800">
                <a:sym typeface="+mn-ea"/>
              </a:rPr>
              <a:t> Pipeline t</a:t>
            </a:r>
            <a:r>
              <a:rPr lang="en-US" altLang="en-US" sz="1800">
                <a:sym typeface="+mn-ea"/>
              </a:rPr>
              <a:t>ì</a:t>
            </a:r>
            <a:r>
              <a:rPr lang="en-US" altLang="en-GB" sz="1800">
                <a:sym typeface="+mn-ea"/>
              </a:rPr>
              <a:t>m kiếm thực tế hiện nay thường là:</a:t>
            </a:r>
            <a:br>
              <a:rPr lang="en-US" altLang="en-GB" sz="1800">
                <a:sym typeface="+mn-ea"/>
              </a:rPr>
            </a:br>
            <a:br>
              <a:rPr lang="en-US" altLang="en-GB" sz="1800">
                <a:sym typeface="+mn-ea"/>
              </a:rPr>
            </a:br>
            <a:r>
              <a:rPr lang="en-US" altLang="en-GB" sz="1800">
                <a:sym typeface="+mn-ea"/>
              </a:rPr>
              <a:t>		</a:t>
            </a:r>
            <a:r>
              <a:rPr lang="en-US" altLang="en-GB" sz="1800">
                <a:highlight>
                  <a:srgbClr val="FFFF00"/>
                </a:highlight>
                <a:sym typeface="+mn-ea"/>
              </a:rPr>
              <a:t> D</a:t>
            </a:r>
            <a:r>
              <a:rPr lang="en-US" altLang="en-US" sz="1800">
                <a:highlight>
                  <a:srgbClr val="FFFF00"/>
                </a:highlight>
                <a:sym typeface="+mn-ea"/>
              </a:rPr>
              <a:t>ù</a:t>
            </a:r>
            <a:r>
              <a:rPr lang="en-US" altLang="en-GB" sz="1800">
                <a:highlight>
                  <a:srgbClr val="FFFF00"/>
                </a:highlight>
                <a:sym typeface="+mn-ea"/>
              </a:rPr>
              <a:t>ng SBERT </a:t>
            </a:r>
            <a:r>
              <a:rPr lang="en-US" altLang="en-US" sz="1800">
                <a:highlight>
                  <a:srgbClr val="FFFF00"/>
                </a:highlight>
                <a:sym typeface="+mn-ea"/>
              </a:rPr>
              <a:t>đ</a:t>
            </a:r>
            <a:r>
              <a:rPr lang="en-US" altLang="en-GB" sz="1800">
                <a:highlight>
                  <a:srgbClr val="FFFF00"/>
                </a:highlight>
                <a:sym typeface="+mn-ea"/>
              </a:rPr>
              <a:t>ể qu</a:t>
            </a:r>
            <a:r>
              <a:rPr lang="en-US" altLang="en-US" sz="1800">
                <a:highlight>
                  <a:srgbClr val="FFFF00"/>
                </a:highlight>
                <a:sym typeface="+mn-ea"/>
              </a:rPr>
              <a:t>é</a:t>
            </a:r>
            <a:r>
              <a:rPr lang="en-US" altLang="en-GB" sz="1800">
                <a:highlight>
                  <a:srgbClr val="FFFF00"/>
                </a:highlight>
                <a:sym typeface="+mn-ea"/>
              </a:rPr>
              <a:t>t lọc nhanh (Retriever) và BERT </a:t>
            </a:r>
            <a:r>
              <a:rPr lang="en-US" altLang="en-US" sz="1800">
                <a:highlight>
                  <a:srgbClr val="FFFF00"/>
                </a:highlight>
                <a:sym typeface="+mn-ea"/>
              </a:rPr>
              <a:t>đ</a:t>
            </a:r>
            <a:r>
              <a:rPr lang="en-US" altLang="en-GB" sz="1800">
                <a:highlight>
                  <a:srgbClr val="FFFF00"/>
                </a:highlight>
                <a:sym typeface="+mn-ea"/>
              </a:rPr>
              <a:t>ể chấm </a:t>
            </a:r>
            <a:r>
              <a:rPr lang="en-US" altLang="en-US" sz="1800">
                <a:highlight>
                  <a:srgbClr val="FFFF00"/>
                </a:highlight>
                <a:sym typeface="+mn-ea"/>
              </a:rPr>
              <a:t>đ</a:t>
            </a:r>
            <a:r>
              <a:rPr lang="en-US" altLang="en-GB" sz="1800">
                <a:highlight>
                  <a:srgbClr val="FFFF00"/>
                </a:highlight>
                <a:sym typeface="+mn-ea"/>
              </a:rPr>
              <a:t>iểm lại (Reranker)</a:t>
            </a:r>
            <a:br>
              <a:rPr lang="en-US" altLang="en-GB" sz="1800">
                <a:sym typeface="+mn-ea"/>
              </a:rPr>
            </a:br>
            <a:br>
              <a:rPr lang="en-US" altLang="en-GB" sz="1800">
                <a:sym typeface="+mn-ea"/>
              </a:rPr>
            </a:br>
            <a:br>
              <a:rPr lang="en-US" altLang="en-GB" sz="1800">
                <a:sym typeface="+mn-ea"/>
              </a:rPr>
            </a:br>
            <a:br>
              <a:rPr lang="en-US" altLang="en-GB" sz="1800">
                <a:sym typeface="+mn-ea"/>
              </a:rPr>
            </a:br>
            <a:r>
              <a:rPr lang="en-US" altLang="en-GB" sz="1800">
                <a:sym typeface="+mn-ea"/>
              </a:rPr>
              <a:t>[</a:t>
            </a:r>
            <a:r>
              <a:rPr lang="en-US" altLang="en-GB" sz="1500">
                <a:sym typeface="+mn-ea"/>
              </a:rPr>
              <a:t>7]: Reimers, N., &amp; Gurevych, I. (2019). "Sentence-BERT: Sentence Embeddings using Siamese BERT-Networks". EMNLP. https://arxiv.org/abs/1908.10084</a:t>
            </a:r>
            <a:br>
              <a:rPr lang="en-US" altLang="en-GB" sz="1500">
                <a:sym typeface="+mn-ea"/>
              </a:rPr>
            </a:br>
            <a:r>
              <a:rPr lang="en-US" altLang="en-GB" sz="1500">
                <a:sym typeface="+mn-ea"/>
              </a:rPr>
              <a:t>[</a:t>
            </a:r>
            <a:r>
              <a:rPr lang="en-US" altLang="en-GB" sz="1500">
                <a:sym typeface="+mn-ea"/>
              </a:rPr>
              <a:t>8]: Humeau, S., et al. (2019). "Poly-encoders: Architectures and Pre-training Strategies for Fast and Accurate Multi-sentence Scoring". ICLR. https://arxiv.org/abs/1905.01969</a:t>
            </a:r>
            <a:endParaRPr lang="en-US" altLang="en-GB" sz="150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111125"/>
            <a:ext cx="6158865" cy="6635750"/>
          </a:xfrm>
        </p:spPr>
        <p:txBody>
          <a:bodyPr>
            <a:noAutofit/>
          </a:bodyPr>
          <a:p>
            <a:r>
              <a:rPr lang="en-US" altLang="en-GB" sz="3500"/>
              <a:t>6. Liên hệ với bài toán Q&amp;A</a:t>
            </a:r>
            <a:br>
              <a:rPr lang="en-US" altLang="en-GB" sz="3500"/>
            </a:br>
            <a:br>
              <a:rPr lang="en-US" altLang="en-GB" sz="1500">
                <a:solidFill>
                  <a:schemeClr val="tx1"/>
                </a:solidFill>
              </a:rPr>
            </a:br>
            <a:r>
              <a:rPr lang="en-US" altLang="en-GB" sz="1500">
                <a:solidFill>
                  <a:srgbClr val="0070C0"/>
                </a:solidFill>
              </a:rPr>
              <a:t>Bài to</a:t>
            </a:r>
            <a:r>
              <a:rPr lang="en-US" altLang="en-US" sz="1500">
                <a:solidFill>
                  <a:srgbClr val="0070C0"/>
                </a:solidFill>
              </a:rPr>
              <a:t>á</a:t>
            </a:r>
            <a:r>
              <a:rPr lang="en-US" altLang="en-GB" sz="1500">
                <a:solidFill>
                  <a:srgbClr val="0070C0"/>
                </a:solidFill>
              </a:rPr>
              <a:t>n Question Answering</a:t>
            </a:r>
            <a:r>
              <a:rPr lang="en-US" altLang="en-GB" sz="1500">
                <a:solidFill>
                  <a:schemeClr val="tx1"/>
                </a:solidFill>
              </a:rPr>
              <a:t> là: hệ thống tự </a:t>
            </a:r>
            <a:r>
              <a:rPr lang="en-US" altLang="en-US" sz="1500">
                <a:solidFill>
                  <a:schemeClr val="tx1"/>
                </a:solidFill>
              </a:rPr>
              <a:t>đ</a:t>
            </a:r>
            <a:r>
              <a:rPr lang="en-US" altLang="en-GB" sz="1500">
                <a:solidFill>
                  <a:schemeClr val="tx1"/>
                </a:solidFill>
              </a:rPr>
              <a:t>ộng trả lời c</a:t>
            </a:r>
            <a:r>
              <a:rPr lang="en-US" altLang="en-US" sz="1500">
                <a:solidFill>
                  <a:schemeClr val="tx1"/>
                </a:solidFill>
              </a:rPr>
              <a:t>â</a:t>
            </a:r>
            <a:r>
              <a:rPr lang="en-US" altLang="en-GB" sz="1500">
                <a:solidFill>
                  <a:schemeClr val="tx1"/>
                </a:solidFill>
              </a:rPr>
              <a:t>u hỏi của ng</a:t>
            </a:r>
            <a:r>
              <a:rPr lang="en-US" altLang="en-US" sz="1500">
                <a:solidFill>
                  <a:schemeClr val="tx1"/>
                </a:solidFill>
              </a:rPr>
              <a:t>ư</a:t>
            </a:r>
            <a:r>
              <a:rPr lang="en-US" altLang="en-GB" sz="1500">
                <a:solidFill>
                  <a:schemeClr val="tx1"/>
                </a:solidFill>
              </a:rPr>
              <a:t>ời d</a:t>
            </a:r>
            <a:r>
              <a:rPr lang="en-US" altLang="en-US" sz="1500">
                <a:solidFill>
                  <a:schemeClr val="tx1"/>
                </a:solidFill>
              </a:rPr>
              <a:t>ù</a:t>
            </a:r>
            <a:r>
              <a:rPr lang="en-US" altLang="en-GB" sz="1500">
                <a:solidFill>
                  <a:schemeClr val="tx1"/>
                </a:solidFill>
              </a:rPr>
              <a:t>ng dựa tr</a:t>
            </a:r>
            <a:r>
              <a:rPr lang="en-US" altLang="en-US" sz="1500">
                <a:solidFill>
                  <a:schemeClr val="tx1"/>
                </a:solidFill>
              </a:rPr>
              <a:t>ê</a:t>
            </a:r>
            <a:r>
              <a:rPr lang="en-US" altLang="en-GB" sz="1500">
                <a:solidFill>
                  <a:schemeClr val="tx1"/>
                </a:solidFill>
              </a:rPr>
              <a:t>n kho dữ liệu cho tr</a:t>
            </a:r>
            <a:r>
              <a:rPr lang="en-US" altLang="en-US" sz="1500">
                <a:solidFill>
                  <a:schemeClr val="tx1"/>
                </a:solidFill>
              </a:rPr>
              <a:t>ư</a:t>
            </a:r>
            <a:r>
              <a:rPr lang="en-US" altLang="en-GB" sz="1500">
                <a:solidFill>
                  <a:schemeClr val="tx1"/>
                </a:solidFill>
              </a:rPr>
              <a:t>ớc. Hai thành phần ch</a:t>
            </a:r>
            <a:r>
              <a:rPr lang="en-US" altLang="en-US" sz="1500">
                <a:solidFill>
                  <a:schemeClr val="tx1"/>
                </a:solidFill>
              </a:rPr>
              <a:t>í</a:t>
            </a:r>
            <a:r>
              <a:rPr lang="en-US" altLang="en-GB" sz="1500">
                <a:solidFill>
                  <a:schemeClr val="tx1"/>
                </a:solidFill>
              </a:rPr>
              <a:t>nh của hệ thống QA hiện </a:t>
            </a:r>
            <a:r>
              <a:rPr lang="en-US" altLang="en-US" sz="1500">
                <a:solidFill>
                  <a:schemeClr val="tx1"/>
                </a:solidFill>
              </a:rPr>
              <a:t>đ</a:t>
            </a:r>
            <a:r>
              <a:rPr lang="en-US" altLang="en-GB" sz="1500">
                <a:solidFill>
                  <a:schemeClr val="tx1"/>
                </a:solidFill>
              </a:rPr>
              <a:t>ại (open-domain QA hoặc RAG) </a:t>
            </a:r>
            <a:r>
              <a:rPr lang="en-US" altLang="en-GB" sz="1500" baseline="30000">
                <a:solidFill>
                  <a:schemeClr val="tx1"/>
                </a:solidFill>
              </a:rPr>
              <a:t>[9]</a:t>
            </a:r>
            <a:r>
              <a:rPr lang="en-US" altLang="en-GB" sz="1500">
                <a:solidFill>
                  <a:schemeClr val="tx1"/>
                </a:solidFill>
              </a:rPr>
              <a:t>:</a:t>
            </a:r>
            <a:br>
              <a:rPr lang="en-US" altLang="en-GB" sz="1500">
                <a:solidFill>
                  <a:schemeClr val="tx1"/>
                </a:solidFill>
              </a:rPr>
            </a:br>
            <a:r>
              <a:rPr lang="en-US" altLang="en-GB" sz="1500">
                <a:solidFill>
                  <a:schemeClr val="tx1"/>
                </a:solidFill>
              </a:rPr>
              <a:t>	+ Retriever (Bộ truy xuất): r</a:t>
            </a:r>
            <a:r>
              <a:rPr lang="en-US" altLang="en-US" sz="1500">
                <a:solidFill>
                  <a:schemeClr val="tx1"/>
                </a:solidFill>
              </a:rPr>
              <a:t>ú</a:t>
            </a:r>
            <a:r>
              <a:rPr lang="en-US" altLang="en-GB" sz="1500">
                <a:solidFill>
                  <a:schemeClr val="tx1"/>
                </a:solidFill>
              </a:rPr>
              <a:t>t tr</a:t>
            </a:r>
            <a:r>
              <a:rPr lang="en-US" altLang="en-US" sz="1500">
                <a:solidFill>
                  <a:schemeClr val="tx1"/>
                </a:solidFill>
              </a:rPr>
              <a:t>í</a:t>
            </a:r>
            <a:r>
              <a:rPr lang="en-US" altLang="en-GB" sz="1500">
                <a:solidFill>
                  <a:schemeClr val="tx1"/>
                </a:solidFill>
              </a:rPr>
              <a:t>ch c</a:t>
            </a:r>
            <a:r>
              <a:rPr lang="en-US" altLang="en-US" sz="1500">
                <a:solidFill>
                  <a:schemeClr val="tx1"/>
                </a:solidFill>
              </a:rPr>
              <a:t>á</a:t>
            </a:r>
            <a:r>
              <a:rPr lang="en-US" altLang="en-GB" sz="1500">
                <a:solidFill>
                  <a:schemeClr val="tx1"/>
                </a:solidFill>
              </a:rPr>
              <a:t>c </a:t>
            </a:r>
            <a:r>
              <a:rPr lang="en-US" altLang="en-US" sz="1500">
                <a:solidFill>
                  <a:schemeClr val="tx1"/>
                </a:solidFill>
              </a:rPr>
              <a:t>đ</a:t>
            </a:r>
            <a:r>
              <a:rPr lang="en-US" altLang="en-GB" sz="1500">
                <a:solidFill>
                  <a:schemeClr val="tx1"/>
                </a:solidFill>
              </a:rPr>
              <a:t>oạn v</a:t>
            </a:r>
            <a:r>
              <a:rPr lang="en-US" altLang="en-US" sz="1500">
                <a:solidFill>
                  <a:schemeClr val="tx1"/>
                </a:solidFill>
              </a:rPr>
              <a:t>ă</a:t>
            </a:r>
            <a:r>
              <a:rPr lang="en-US" altLang="en-GB" sz="1500">
                <a:solidFill>
                  <a:schemeClr val="tx1"/>
                </a:solidFill>
              </a:rPr>
              <a:t>n bản (context) li</a:t>
            </a:r>
            <a:r>
              <a:rPr lang="en-US" altLang="en-US" sz="1500">
                <a:solidFill>
                  <a:schemeClr val="tx1"/>
                </a:solidFill>
              </a:rPr>
              <a:t>ê</a:t>
            </a:r>
            <a:r>
              <a:rPr lang="en-US" altLang="en-GB" sz="1500">
                <a:solidFill>
                  <a:schemeClr val="tx1"/>
                </a:solidFill>
              </a:rPr>
              <a:t>n quan nhất </a:t>
            </a:r>
            <a:r>
              <a:rPr lang="en-US" altLang="en-US" sz="1500">
                <a:solidFill>
                  <a:schemeClr val="tx1"/>
                </a:solidFill>
              </a:rPr>
              <a:t>đ</a:t>
            </a:r>
            <a:r>
              <a:rPr lang="en-US" altLang="en-GB" sz="1500">
                <a:solidFill>
                  <a:schemeClr val="tx1"/>
                </a:solidFill>
              </a:rPr>
              <a:t>ến c</a:t>
            </a:r>
            <a:r>
              <a:rPr lang="en-US" altLang="en-US" sz="1500">
                <a:solidFill>
                  <a:schemeClr val="tx1"/>
                </a:solidFill>
              </a:rPr>
              <a:t>â</a:t>
            </a:r>
            <a:r>
              <a:rPr lang="en-US" altLang="en-GB" sz="1500">
                <a:solidFill>
                  <a:schemeClr val="tx1"/>
                </a:solidFill>
              </a:rPr>
              <a:t>u hỏi từ một kho dữ liệu khổng lồ</a:t>
            </a:r>
            <a:br>
              <a:rPr lang="en-US" altLang="en-GB" sz="1500">
                <a:solidFill>
                  <a:schemeClr val="tx1"/>
                </a:solidFill>
              </a:rPr>
            </a:br>
            <a:r>
              <a:rPr lang="en-US" altLang="en-GB" sz="1500">
                <a:solidFill>
                  <a:schemeClr val="tx1"/>
                </a:solidFill>
              </a:rPr>
              <a:t>	+ Reader/Generator (Bộ </a:t>
            </a:r>
            <a:r>
              <a:rPr lang="en-US" altLang="en-US" sz="1500">
                <a:solidFill>
                  <a:schemeClr val="tx1"/>
                </a:solidFill>
              </a:rPr>
              <a:t>đ</a:t>
            </a:r>
            <a:r>
              <a:rPr lang="en-US" altLang="en-GB" sz="1500">
                <a:solidFill>
                  <a:schemeClr val="tx1"/>
                </a:solidFill>
              </a:rPr>
              <a:t>ọc/Tạo sinh): </a:t>
            </a:r>
            <a:r>
              <a:rPr lang="en-US" altLang="en-US" sz="1500">
                <a:solidFill>
                  <a:schemeClr val="tx1"/>
                </a:solidFill>
              </a:rPr>
              <a:t>Đư</a:t>
            </a:r>
            <a:r>
              <a:rPr lang="en-US" altLang="en-GB" sz="1500">
                <a:solidFill>
                  <a:schemeClr val="tx1"/>
                </a:solidFill>
              </a:rPr>
              <a:t>a c</a:t>
            </a:r>
            <a:r>
              <a:rPr lang="en-US" altLang="en-US" sz="1500">
                <a:solidFill>
                  <a:schemeClr val="tx1"/>
                </a:solidFill>
              </a:rPr>
              <a:t>â</a:t>
            </a:r>
            <a:r>
              <a:rPr lang="en-US" altLang="en-GB" sz="1500">
                <a:solidFill>
                  <a:schemeClr val="tx1"/>
                </a:solidFill>
              </a:rPr>
              <a:t>u hỏi và </a:t>
            </a:r>
            <a:r>
              <a:rPr lang="en-US" altLang="en-US" sz="1500">
                <a:solidFill>
                  <a:schemeClr val="tx1"/>
                </a:solidFill>
              </a:rPr>
              <a:t>đ</a:t>
            </a:r>
            <a:r>
              <a:rPr lang="en-US" altLang="en-GB" sz="1500">
                <a:solidFill>
                  <a:schemeClr val="tx1"/>
                </a:solidFill>
              </a:rPr>
              <a:t>oạn v</a:t>
            </a:r>
            <a:r>
              <a:rPr lang="en-US" altLang="en-US" sz="1500">
                <a:solidFill>
                  <a:schemeClr val="tx1"/>
                </a:solidFill>
              </a:rPr>
              <a:t>ă</a:t>
            </a:r>
            <a:r>
              <a:rPr lang="en-US" altLang="en-GB" sz="1500">
                <a:solidFill>
                  <a:schemeClr val="tx1"/>
                </a:solidFill>
              </a:rPr>
              <a:t>n vừa t</a:t>
            </a:r>
            <a:r>
              <a:rPr lang="en-US" altLang="en-US" sz="1500">
                <a:solidFill>
                  <a:schemeClr val="tx1"/>
                </a:solidFill>
              </a:rPr>
              <a:t>ì</a:t>
            </a:r>
            <a:r>
              <a:rPr lang="en-US" altLang="en-GB" sz="1500">
                <a:solidFill>
                  <a:schemeClr val="tx1"/>
                </a:solidFill>
              </a:rPr>
              <a:t>m </a:t>
            </a:r>
            <a:r>
              <a:rPr lang="en-US" altLang="en-US" sz="1500">
                <a:solidFill>
                  <a:schemeClr val="tx1"/>
                </a:solidFill>
              </a:rPr>
              <a:t>đư</a:t>
            </a:r>
            <a:r>
              <a:rPr lang="en-US" altLang="en-GB" sz="1500">
                <a:solidFill>
                  <a:schemeClr val="tx1"/>
                </a:solidFill>
              </a:rPr>
              <a:t>ợc vào mô h</a:t>
            </a:r>
            <a:r>
              <a:rPr lang="en-US" altLang="en-US" sz="1500">
                <a:solidFill>
                  <a:schemeClr val="tx1"/>
                </a:solidFill>
              </a:rPr>
              <a:t>ì</a:t>
            </a:r>
            <a:r>
              <a:rPr lang="en-US" altLang="en-GB" sz="1500">
                <a:solidFill>
                  <a:schemeClr val="tx1"/>
                </a:solidFill>
              </a:rPr>
              <a:t>nh (nh</a:t>
            </a:r>
            <a:r>
              <a:rPr lang="en-US" altLang="en-US" sz="1500">
                <a:solidFill>
                  <a:schemeClr val="tx1"/>
                </a:solidFill>
              </a:rPr>
              <a:t>ư</a:t>
            </a:r>
            <a:r>
              <a:rPr lang="en-US" altLang="en-GB" sz="1500">
                <a:solidFill>
                  <a:schemeClr val="tx1"/>
                </a:solidFill>
              </a:rPr>
              <a:t> BERT hoặc LLM) </a:t>
            </a:r>
            <a:r>
              <a:rPr lang="en-US" altLang="en-US" sz="1500">
                <a:solidFill>
                  <a:schemeClr val="tx1"/>
                </a:solidFill>
              </a:rPr>
              <a:t>đ</a:t>
            </a:r>
            <a:r>
              <a:rPr lang="en-US" altLang="en-GB" sz="1500">
                <a:solidFill>
                  <a:schemeClr val="tx1"/>
                </a:solidFill>
              </a:rPr>
              <a:t>ể tr</a:t>
            </a:r>
            <a:r>
              <a:rPr lang="en-US" altLang="en-US" sz="1500">
                <a:solidFill>
                  <a:schemeClr val="tx1"/>
                </a:solidFill>
              </a:rPr>
              <a:t>í</a:t>
            </a:r>
            <a:r>
              <a:rPr lang="en-US" altLang="en-GB" sz="1500">
                <a:solidFill>
                  <a:schemeClr val="tx1"/>
                </a:solidFill>
              </a:rPr>
              <a:t>ch xuất hoặc sinh ra c</a:t>
            </a:r>
            <a:r>
              <a:rPr lang="en-US" altLang="en-US" sz="1500">
                <a:solidFill>
                  <a:schemeClr val="tx1"/>
                </a:solidFill>
              </a:rPr>
              <a:t>â</a:t>
            </a:r>
            <a:r>
              <a:rPr lang="en-US" altLang="en-GB" sz="1500">
                <a:solidFill>
                  <a:schemeClr val="tx1"/>
                </a:solidFill>
              </a:rPr>
              <a:t>u trả lời cuối c</a:t>
            </a:r>
            <a:r>
              <a:rPr lang="en-US" altLang="en-US" sz="1500">
                <a:solidFill>
                  <a:schemeClr val="tx1"/>
                </a:solidFill>
              </a:rPr>
              <a:t>ù</a:t>
            </a:r>
            <a:r>
              <a:rPr lang="en-US" altLang="en-GB" sz="1500">
                <a:solidFill>
                  <a:schemeClr val="tx1"/>
                </a:solidFill>
              </a:rPr>
              <a:t>ng</a:t>
            </a:r>
            <a:br>
              <a:rPr lang="en-US" altLang="en-GB" sz="1500">
                <a:solidFill>
                  <a:schemeClr val="tx1"/>
                </a:solidFill>
              </a:rPr>
            </a:br>
            <a:br>
              <a:rPr lang="en-US" altLang="en-GB" sz="1500">
                <a:solidFill>
                  <a:schemeClr val="tx1"/>
                </a:solidFill>
              </a:rPr>
            </a:br>
            <a:br>
              <a:rPr lang="en-US" altLang="en-GB" sz="1500">
                <a:solidFill>
                  <a:schemeClr val="tx1"/>
                </a:solidFill>
              </a:rPr>
            </a:br>
            <a:r>
              <a:rPr lang="en-US" altLang="en-GB" sz="1500">
                <a:solidFill>
                  <a:schemeClr val="tx1"/>
                </a:solidFill>
                <a:highlight>
                  <a:srgbClr val="FFFF00"/>
                </a:highlight>
              </a:rPr>
              <a:t>Vai tr</a:t>
            </a:r>
            <a:r>
              <a:rPr lang="en-US" altLang="en-US" sz="1500">
                <a:solidFill>
                  <a:schemeClr val="tx1"/>
                </a:solidFill>
                <a:highlight>
                  <a:srgbClr val="FFFF00"/>
                </a:highlight>
              </a:rPr>
              <a:t>ò</a:t>
            </a:r>
            <a:r>
              <a:rPr lang="en-US" altLang="en-GB" sz="1500">
                <a:solidFill>
                  <a:schemeClr val="tx1"/>
                </a:solidFill>
                <a:highlight>
                  <a:srgbClr val="FFFF00"/>
                </a:highlight>
              </a:rPr>
              <a:t> của SBERT trong QA</a:t>
            </a:r>
            <a:r>
              <a:rPr lang="en-US" sz="1500">
                <a:solidFill>
                  <a:schemeClr val="tx1"/>
                </a:solidFill>
              </a:rPr>
              <a:t>: </a:t>
            </a:r>
            <a:r>
              <a:rPr lang="en-US" altLang="en-GB" sz="1500">
                <a:solidFill>
                  <a:schemeClr val="tx1"/>
                </a:solidFill>
              </a:rPr>
              <a:t>SBERT </a:t>
            </a:r>
            <a:r>
              <a:rPr lang="en-US" altLang="en-US" sz="1500">
                <a:solidFill>
                  <a:schemeClr val="tx1"/>
                </a:solidFill>
              </a:rPr>
              <a:t>đó</a:t>
            </a:r>
            <a:r>
              <a:rPr lang="en-US" altLang="en-GB" sz="1500">
                <a:solidFill>
                  <a:schemeClr val="tx1"/>
                </a:solidFill>
              </a:rPr>
              <a:t>ng vai tr</a:t>
            </a:r>
            <a:r>
              <a:rPr lang="en-US" altLang="en-US" sz="1500">
                <a:solidFill>
                  <a:schemeClr val="tx1"/>
                </a:solidFill>
              </a:rPr>
              <a:t>ò</a:t>
            </a:r>
            <a:r>
              <a:rPr lang="en-US" altLang="en-GB" sz="1500">
                <a:solidFill>
                  <a:schemeClr val="tx1"/>
                </a:solidFill>
              </a:rPr>
              <a:t> là l</a:t>
            </a:r>
            <a:r>
              <a:rPr lang="en-US" altLang="en-US" sz="1500">
                <a:solidFill>
                  <a:schemeClr val="tx1"/>
                </a:solidFill>
              </a:rPr>
              <a:t>õ</a:t>
            </a:r>
            <a:r>
              <a:rPr lang="en-US" altLang="en-GB" sz="1500">
                <a:solidFill>
                  <a:schemeClr val="tx1"/>
                </a:solidFill>
              </a:rPr>
              <a:t>i trong bộ Retriever. Từ đó giúp hệ thống thực hiện Semantic Search thay v</a:t>
            </a:r>
            <a:r>
              <a:rPr lang="en-US" altLang="en-US" sz="1500">
                <a:solidFill>
                  <a:schemeClr val="tx1"/>
                </a:solidFill>
              </a:rPr>
              <a:t>ì</a:t>
            </a:r>
            <a:r>
              <a:rPr lang="en-US" altLang="en-GB" sz="1500">
                <a:solidFill>
                  <a:schemeClr val="tx1"/>
                </a:solidFill>
              </a:rPr>
              <a:t> Keyword Search (t</a:t>
            </a:r>
            <a:r>
              <a:rPr lang="en-US" altLang="en-US" sz="1500">
                <a:solidFill>
                  <a:schemeClr val="tx1"/>
                </a:solidFill>
              </a:rPr>
              <a:t>ì</a:t>
            </a:r>
            <a:r>
              <a:rPr lang="en-US" altLang="en-GB" sz="1500">
                <a:solidFill>
                  <a:schemeClr val="tx1"/>
                </a:solidFill>
              </a:rPr>
              <a:t>m kiếm theo từ kh</a:t>
            </a:r>
            <a:r>
              <a:rPr lang="en-US" altLang="en-US" sz="1500">
                <a:solidFill>
                  <a:schemeClr val="tx1"/>
                </a:solidFill>
              </a:rPr>
              <a:t>ó</a:t>
            </a:r>
            <a:r>
              <a:rPr lang="en-US" altLang="en-GB" sz="1500">
                <a:solidFill>
                  <a:schemeClr val="tx1"/>
                </a:solidFill>
              </a:rPr>
              <a:t>a ch</a:t>
            </a:r>
            <a:r>
              <a:rPr lang="en-US" altLang="en-US" sz="1500">
                <a:solidFill>
                  <a:schemeClr val="tx1"/>
                </a:solidFill>
              </a:rPr>
              <a:t>í</a:t>
            </a:r>
            <a:r>
              <a:rPr lang="en-US" altLang="en-GB" sz="1500">
                <a:solidFill>
                  <a:schemeClr val="tx1"/>
                </a:solidFill>
              </a:rPr>
              <a:t>nh x</a:t>
            </a:r>
            <a:r>
              <a:rPr lang="en-US" altLang="en-US" sz="1500">
                <a:solidFill>
                  <a:schemeClr val="tx1"/>
                </a:solidFill>
              </a:rPr>
              <a:t>á</a:t>
            </a:r>
            <a:r>
              <a:rPr lang="en-US" altLang="en-GB" sz="1500">
                <a:solidFill>
                  <a:schemeClr val="tx1"/>
                </a:solidFill>
              </a:rPr>
              <a:t>c nh</a:t>
            </a:r>
            <a:r>
              <a:rPr lang="en-US" altLang="en-US" sz="1500">
                <a:solidFill>
                  <a:schemeClr val="tx1"/>
                </a:solidFill>
              </a:rPr>
              <a:t>ư</a:t>
            </a:r>
            <a:r>
              <a:rPr lang="en-US" altLang="en-GB" sz="1500">
                <a:solidFill>
                  <a:schemeClr val="tx1"/>
                </a:solidFill>
              </a:rPr>
              <a:t> thuật to</a:t>
            </a:r>
            <a:r>
              <a:rPr lang="en-US" altLang="en-US" sz="1500">
                <a:solidFill>
                  <a:schemeClr val="tx1"/>
                </a:solidFill>
              </a:rPr>
              <a:t>á</a:t>
            </a:r>
            <a:r>
              <a:rPr lang="en-US" altLang="en-GB" sz="1500">
                <a:solidFill>
                  <a:schemeClr val="tx1"/>
                </a:solidFill>
              </a:rPr>
              <a:t>n BM25)</a:t>
            </a:r>
            <a:br>
              <a:rPr lang="en-US" altLang="en-GB" sz="1500">
                <a:solidFill>
                  <a:schemeClr val="tx1"/>
                </a:solidFill>
              </a:rPr>
            </a:br>
            <a:br>
              <a:rPr lang="en-US" altLang="en-GB" sz="1500">
                <a:solidFill>
                  <a:schemeClr val="tx1"/>
                </a:solidFill>
              </a:rPr>
            </a:br>
            <a:br>
              <a:rPr lang="en-US" altLang="en-GB" sz="1500">
                <a:solidFill>
                  <a:schemeClr val="tx1"/>
                </a:solidFill>
              </a:rPr>
            </a:br>
            <a:r>
              <a:rPr lang="en-US" altLang="en-GB" sz="1500">
                <a:solidFill>
                  <a:schemeClr val="tx1"/>
                </a:solidFill>
                <a:highlight>
                  <a:srgbClr val="FFFF00"/>
                </a:highlight>
              </a:rPr>
              <a:t>Logic triển khai:</a:t>
            </a:r>
            <a:br>
              <a:rPr lang="en-US" altLang="en-GB" sz="1500">
                <a:solidFill>
                  <a:schemeClr val="tx1"/>
                </a:solidFill>
              </a:rPr>
            </a:br>
            <a:br>
              <a:rPr lang="en-US" altLang="en-GB" sz="1500">
                <a:solidFill>
                  <a:schemeClr val="tx1"/>
                </a:solidFill>
              </a:rPr>
            </a:br>
            <a:r>
              <a:rPr lang="en-US" altLang="en-US" sz="1500">
                <a:solidFill>
                  <a:schemeClr val="tx1"/>
                </a:solidFill>
              </a:rPr>
              <a:t></a:t>
            </a:r>
            <a:r>
              <a:rPr lang="en-US" altLang="en-GB" sz="1500">
                <a:solidFill>
                  <a:srgbClr val="0070C0"/>
                </a:solidFill>
              </a:rPr>
              <a:t>B</a:t>
            </a:r>
            <a:r>
              <a:rPr lang="en-US" altLang="en-US" sz="1500">
                <a:solidFill>
                  <a:srgbClr val="0070C0"/>
                </a:solidFill>
              </a:rPr>
              <a:t>ư</a:t>
            </a:r>
            <a:r>
              <a:rPr lang="en-US" altLang="en-GB" sz="1500">
                <a:solidFill>
                  <a:srgbClr val="0070C0"/>
                </a:solidFill>
              </a:rPr>
              <a:t>ớc 1 (Retriever - d</a:t>
            </a:r>
            <a:r>
              <a:rPr lang="en-US" altLang="en-US" sz="1500">
                <a:solidFill>
                  <a:srgbClr val="0070C0"/>
                </a:solidFill>
              </a:rPr>
              <a:t>ù</a:t>
            </a:r>
            <a:r>
              <a:rPr lang="en-US" altLang="en-GB" sz="1500">
                <a:solidFill>
                  <a:srgbClr val="0070C0"/>
                </a:solidFill>
              </a:rPr>
              <a:t>ng SBERT):</a:t>
            </a:r>
            <a:br>
              <a:rPr lang="en-US" altLang="en-GB" sz="1500">
                <a:solidFill>
                  <a:srgbClr val="0070C0"/>
                </a:solidFill>
              </a:rPr>
            </a:br>
            <a:r>
              <a:rPr lang="en-US" altLang="en-GB" sz="1500">
                <a:solidFill>
                  <a:schemeClr val="tx1"/>
                </a:solidFill>
              </a:rPr>
              <a:t>C</a:t>
            </a:r>
            <a:r>
              <a:rPr lang="en-US" altLang="en-US" sz="1500">
                <a:solidFill>
                  <a:schemeClr val="tx1"/>
                </a:solidFill>
              </a:rPr>
              <a:t>â</a:t>
            </a:r>
            <a:r>
              <a:rPr lang="en-US" altLang="en-GB" sz="1500">
                <a:solidFill>
                  <a:schemeClr val="tx1"/>
                </a:solidFill>
              </a:rPr>
              <a:t>u hỏi</a:t>
            </a:r>
            <a:r>
              <a:rPr lang="en-US" altLang="en-US" sz="1500">
                <a:solidFill>
                  <a:schemeClr val="tx1"/>
                </a:solidFill>
              </a:rPr>
              <a:t> </a:t>
            </a:r>
            <a:r>
              <a:rPr lang="en-US" sz="1500">
                <a:solidFill>
                  <a:schemeClr val="tx1"/>
                </a:solidFill>
              </a:rPr>
              <a:t>-&gt;</a:t>
            </a:r>
            <a:r>
              <a:rPr lang="en-US" altLang="en-US" sz="1500">
                <a:solidFill>
                  <a:schemeClr val="tx1"/>
                </a:solidFill>
              </a:rPr>
              <a:t> </a:t>
            </a:r>
            <a:r>
              <a:rPr lang="en-US" sz="1500">
                <a:solidFill>
                  <a:schemeClr val="tx1"/>
                </a:solidFill>
              </a:rPr>
              <a:t>Tạo vector embedding cho câu hỏi -&gt; </a:t>
            </a:r>
            <a:r>
              <a:rPr lang="en-US" altLang="en-GB" sz="1500">
                <a:solidFill>
                  <a:schemeClr val="tx1"/>
                </a:solidFill>
              </a:rPr>
              <a:t>So s</a:t>
            </a:r>
            <a:r>
              <a:rPr lang="en-US" altLang="en-US" sz="1500">
                <a:solidFill>
                  <a:schemeClr val="tx1"/>
                </a:solidFill>
              </a:rPr>
              <a:t>á</a:t>
            </a:r>
            <a:r>
              <a:rPr lang="en-US" altLang="en-GB" sz="1500">
                <a:solidFill>
                  <a:schemeClr val="tx1"/>
                </a:solidFill>
              </a:rPr>
              <a:t>nh vector embedding của câu hỏi với vector embedding của tài liệu (đã tạo embedding từ trước đó)</a:t>
            </a:r>
            <a:r>
              <a:rPr lang="en-US" altLang="en-US" sz="1500">
                <a:solidFill>
                  <a:schemeClr val="tx1"/>
                </a:solidFill>
              </a:rPr>
              <a:t> </a:t>
            </a:r>
            <a:r>
              <a:rPr lang="en-US" sz="1500">
                <a:solidFill>
                  <a:schemeClr val="tx1"/>
                </a:solidFill>
              </a:rPr>
              <a:t>-&gt; </a:t>
            </a:r>
            <a:r>
              <a:rPr lang="en-US" altLang="en-GB" sz="1500">
                <a:solidFill>
                  <a:schemeClr val="tx1"/>
                </a:solidFill>
              </a:rPr>
              <a:t>Lấy ra Top k </a:t>
            </a:r>
            <a:r>
              <a:rPr lang="en-US" altLang="en-US" sz="1500">
                <a:solidFill>
                  <a:schemeClr val="tx1"/>
                </a:solidFill>
              </a:rPr>
              <a:t>đ</a:t>
            </a:r>
            <a:r>
              <a:rPr lang="en-US" altLang="en-GB" sz="1500">
                <a:solidFill>
                  <a:schemeClr val="tx1"/>
                </a:solidFill>
              </a:rPr>
              <a:t>oạn v</a:t>
            </a:r>
            <a:r>
              <a:rPr lang="en-US" altLang="en-US" sz="1500">
                <a:solidFill>
                  <a:schemeClr val="tx1"/>
                </a:solidFill>
              </a:rPr>
              <a:t>ă</a:t>
            </a:r>
            <a:r>
              <a:rPr lang="en-US" altLang="en-GB" sz="1500">
                <a:solidFill>
                  <a:schemeClr val="tx1"/>
                </a:solidFill>
              </a:rPr>
              <a:t>n (Context) c</a:t>
            </a:r>
            <a:r>
              <a:rPr lang="en-US" altLang="en-US" sz="1500">
                <a:solidFill>
                  <a:schemeClr val="tx1"/>
                </a:solidFill>
              </a:rPr>
              <a:t>ó</a:t>
            </a:r>
            <a:r>
              <a:rPr lang="en-US" altLang="en-GB" sz="1500">
                <a:solidFill>
                  <a:schemeClr val="tx1"/>
                </a:solidFill>
              </a:rPr>
              <a:t> </a:t>
            </a:r>
            <a:r>
              <a:rPr lang="en-US" altLang="en-US" sz="1500">
                <a:solidFill>
                  <a:schemeClr val="tx1"/>
                </a:solidFill>
              </a:rPr>
              <a:t>đ</a:t>
            </a:r>
            <a:r>
              <a:rPr lang="en-US" altLang="en-GB" sz="1500">
                <a:solidFill>
                  <a:schemeClr val="tx1"/>
                </a:solidFill>
              </a:rPr>
              <a:t>iểm Cosine cao nhất.</a:t>
            </a:r>
            <a:br>
              <a:rPr lang="en-US" altLang="en-GB" sz="1500">
                <a:solidFill>
                  <a:schemeClr val="tx1"/>
                </a:solidFill>
              </a:rPr>
            </a:br>
            <a:br>
              <a:rPr lang="en-US" altLang="en-GB" sz="1500">
                <a:solidFill>
                  <a:schemeClr val="tx1"/>
                </a:solidFill>
              </a:rPr>
            </a:br>
            <a:r>
              <a:rPr lang="en-US" altLang="en-US" sz="1500">
                <a:solidFill>
                  <a:schemeClr val="tx1"/>
                </a:solidFill>
              </a:rPr>
              <a:t></a:t>
            </a:r>
            <a:r>
              <a:rPr lang="en-US" altLang="en-GB" sz="1500">
                <a:solidFill>
                  <a:srgbClr val="0070C0"/>
                </a:solidFill>
              </a:rPr>
              <a:t>B</a:t>
            </a:r>
            <a:r>
              <a:rPr lang="en-US" altLang="en-US" sz="1500">
                <a:solidFill>
                  <a:srgbClr val="0070C0"/>
                </a:solidFill>
              </a:rPr>
              <a:t>ư</a:t>
            </a:r>
            <a:r>
              <a:rPr lang="en-US" altLang="en-GB" sz="1500">
                <a:solidFill>
                  <a:srgbClr val="0070C0"/>
                </a:solidFill>
              </a:rPr>
              <a:t>ớc 2 (Reader - d</a:t>
            </a:r>
            <a:r>
              <a:rPr lang="en-US" altLang="en-US" sz="1500">
                <a:solidFill>
                  <a:srgbClr val="0070C0"/>
                </a:solidFill>
              </a:rPr>
              <a:t>ù</a:t>
            </a:r>
            <a:r>
              <a:rPr lang="en-US" altLang="en-GB" sz="1500">
                <a:solidFill>
                  <a:srgbClr val="0070C0"/>
                </a:solidFill>
              </a:rPr>
              <a:t>ng BERT QA hoặc LLM):</a:t>
            </a:r>
            <a:br>
              <a:rPr lang="en-US" altLang="en-GB" sz="1500">
                <a:solidFill>
                  <a:srgbClr val="0070C0"/>
                </a:solidFill>
              </a:rPr>
            </a:br>
            <a:r>
              <a:rPr lang="en-US" altLang="en-US" sz="1500">
                <a:solidFill>
                  <a:schemeClr val="tx1"/>
                </a:solidFill>
              </a:rPr>
              <a:t>Đư</a:t>
            </a:r>
            <a:r>
              <a:rPr lang="en-US" altLang="en-GB" sz="1500">
                <a:solidFill>
                  <a:schemeClr val="tx1"/>
                </a:solidFill>
              </a:rPr>
              <a:t>a (C</a:t>
            </a:r>
            <a:r>
              <a:rPr lang="en-US" altLang="en-US" sz="1500">
                <a:solidFill>
                  <a:schemeClr val="tx1"/>
                </a:solidFill>
              </a:rPr>
              <a:t>â</a:t>
            </a:r>
            <a:r>
              <a:rPr lang="en-US" altLang="en-GB" sz="1500">
                <a:solidFill>
                  <a:schemeClr val="tx1"/>
                </a:solidFill>
              </a:rPr>
              <a:t>u hỏi, Context) vào mô h</a:t>
            </a:r>
            <a:r>
              <a:rPr lang="en-US" altLang="en-US" sz="1500">
                <a:solidFill>
                  <a:schemeClr val="tx1"/>
                </a:solidFill>
              </a:rPr>
              <a:t>ì</a:t>
            </a:r>
            <a:r>
              <a:rPr lang="en-US" altLang="en-GB" sz="1500">
                <a:solidFill>
                  <a:schemeClr val="tx1"/>
                </a:solidFill>
              </a:rPr>
              <a:t>nh QA pipeline</a:t>
            </a:r>
            <a:r>
              <a:rPr lang="en-US" altLang="en-US" sz="1500">
                <a:solidFill>
                  <a:schemeClr val="tx1"/>
                </a:solidFill>
              </a:rPr>
              <a:t> </a:t>
            </a:r>
            <a:r>
              <a:rPr lang="en-US" sz="1500">
                <a:solidFill>
                  <a:schemeClr val="tx1"/>
                </a:solidFill>
              </a:rPr>
              <a:t>-&gt; </a:t>
            </a:r>
            <a:r>
              <a:rPr lang="en-US" altLang="en-GB" sz="1500">
                <a:solidFill>
                  <a:schemeClr val="tx1"/>
                </a:solidFill>
              </a:rPr>
              <a:t>Tr</a:t>
            </a:r>
            <a:r>
              <a:rPr lang="en-US" altLang="en-US" sz="1500">
                <a:solidFill>
                  <a:schemeClr val="tx1"/>
                </a:solidFill>
              </a:rPr>
              <a:t>í</a:t>
            </a:r>
            <a:r>
              <a:rPr lang="en-US" altLang="en-GB" sz="1500">
                <a:solidFill>
                  <a:schemeClr val="tx1"/>
                </a:solidFill>
              </a:rPr>
              <a:t>ch xuất ra </a:t>
            </a:r>
            <a:r>
              <a:rPr lang="en-US" altLang="en-US" sz="1500">
                <a:solidFill>
                  <a:schemeClr val="tx1"/>
                </a:solidFill>
              </a:rPr>
              <a:t>đú</a:t>
            </a:r>
            <a:r>
              <a:rPr lang="en-US" altLang="en-GB" sz="1500">
                <a:solidFill>
                  <a:schemeClr val="tx1"/>
                </a:solidFill>
              </a:rPr>
              <a:t>ng cụm từ/c</a:t>
            </a:r>
            <a:r>
              <a:rPr lang="en-US" altLang="en-US" sz="1500">
                <a:solidFill>
                  <a:schemeClr val="tx1"/>
                </a:solidFill>
              </a:rPr>
              <a:t>â</a:t>
            </a:r>
            <a:r>
              <a:rPr lang="en-US" altLang="en-GB" sz="1500">
                <a:solidFill>
                  <a:schemeClr val="tx1"/>
                </a:solidFill>
              </a:rPr>
              <a:t>u trả lời (Answer).</a:t>
            </a:r>
            <a:br>
              <a:rPr lang="en-US" altLang="en-GB" sz="1500">
                <a:solidFill>
                  <a:schemeClr val="tx1"/>
                </a:solidFill>
              </a:rPr>
            </a:br>
            <a:br>
              <a:rPr lang="en-US" altLang="en-GB" sz="1500">
                <a:solidFill>
                  <a:schemeClr val="tx1"/>
                </a:solidFill>
              </a:rPr>
            </a:br>
            <a:br>
              <a:rPr lang="en-US" altLang="en-GB" sz="1500">
                <a:solidFill>
                  <a:schemeClr val="tx1"/>
                </a:solidFill>
              </a:rPr>
            </a:br>
            <a:r>
              <a:rPr lang="en-US" altLang="en-GB" sz="1500">
                <a:solidFill>
                  <a:schemeClr val="tx1"/>
                </a:solidFill>
              </a:rPr>
              <a:t>[9]</a:t>
            </a:r>
            <a:r>
              <a:rPr lang="en-US" altLang="en-GB" sz="1400">
                <a:solidFill>
                  <a:schemeClr val="tx1"/>
                </a:solidFill>
              </a:rPr>
              <a:t>: V. Karpukhin et al., "Dense Passage Retrieval for Open-Domain Question Answering," in Proc. EMNLP, 2020, pp. 6769–6781.</a:t>
            </a:r>
            <a:endParaRPr lang="en-US" altLang="en-GB" sz="1400">
              <a:solidFill>
                <a:schemeClr val="tx1"/>
              </a:solidFill>
            </a:endParaRPr>
          </a:p>
        </p:txBody>
      </p:sp>
      <p:graphicFrame>
        <p:nvGraphicFramePr>
          <p:cNvPr id="3" name="Object 2"/>
          <p:cNvGraphicFramePr/>
          <p:nvPr/>
        </p:nvGraphicFramePr>
        <p:xfrm>
          <a:off x="6425565" y="595630"/>
          <a:ext cx="5766435" cy="6067425"/>
        </p:xfrm>
        <a:graphic>
          <a:graphicData uri="http://schemas.openxmlformats.org/presentationml/2006/ole">
            <mc:AlternateContent xmlns:mc="http://schemas.openxmlformats.org/markup-compatibility/2006">
              <mc:Choice xmlns:v="urn:schemas-microsoft-com:vml" Requires="v">
                <p:oleObj spid="_x0000_s5" name="" r:id="rId1" imgW="7383780" imgH="7901940" progId="Paint.Picture">
                  <p:embed/>
                </p:oleObj>
              </mc:Choice>
              <mc:Fallback>
                <p:oleObj name="" r:id="rId1" imgW="7383780" imgH="7901940" progId="Paint.Picture">
                  <p:embed/>
                  <p:pic>
                    <p:nvPicPr>
                      <p:cNvPr id="0" name="Picture 4"/>
                      <p:cNvPicPr/>
                      <p:nvPr/>
                    </p:nvPicPr>
                    <p:blipFill>
                      <a:blip r:embed="rId2"/>
                      <a:stretch>
                        <a:fillRect/>
                      </a:stretch>
                    </p:blipFill>
                    <p:spPr>
                      <a:xfrm>
                        <a:off x="6425565" y="595630"/>
                        <a:ext cx="5766435" cy="6067425"/>
                      </a:xfrm>
                      <a:prstGeom prst="rect">
                        <a:avLst/>
                      </a:prstGeom>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44475" y="111125"/>
            <a:ext cx="11784330" cy="6635750"/>
          </a:xfrm>
        </p:spPr>
        <p:txBody>
          <a:bodyPr>
            <a:noAutofit/>
          </a:bodyPr>
          <a:p>
            <a:r>
              <a:rPr lang="en-US" altLang="en-GB" sz="3500"/>
              <a:t>7. DEMO + Đánh giá kết quả</a:t>
            </a:r>
            <a:br>
              <a:rPr lang="en-US" altLang="en-GB" sz="3500"/>
            </a:br>
            <a:br>
              <a:rPr lang="en-US" altLang="en-US" sz="1800"/>
            </a:br>
            <a:r>
              <a:rPr lang="en-US" altLang="en-US" sz="1800"/>
              <a:t>	                     </a:t>
            </a:r>
            <a:r>
              <a:rPr lang="en-US" altLang="en-GB" sz="1700" b="1">
                <a:sym typeface="+mn-ea"/>
              </a:rPr>
              <a:t>Link Colab</a:t>
            </a:r>
            <a:r>
              <a:rPr lang="en-US" altLang="en-GB" sz="1500">
                <a:sym typeface="+mn-ea"/>
              </a:rPr>
              <a:t>: </a:t>
            </a:r>
            <a:r>
              <a:rPr lang="en-US" altLang="en-GB" sz="1500">
                <a:sym typeface="+mn-ea"/>
                <a:hlinkClick r:id="rId1" action="ppaction://hlinkfile"/>
              </a:rPr>
              <a:t>https://colab.research.google.com/drive/1BTqUbMNwzs23B3E0Ac95SPb8JUTw6AQo</a:t>
            </a:r>
            <a:br>
              <a:rPr lang="en-US" altLang="en-GB" sz="1800">
                <a:highlight>
                  <a:srgbClr val="FFFF00"/>
                </a:highlight>
                <a:sym typeface="+mn-ea"/>
              </a:rPr>
            </a:br>
            <a:br>
              <a:rPr lang="en-US" altLang="en-GB" sz="1800">
                <a:highlight>
                  <a:srgbClr val="FFFF00"/>
                </a:highlight>
                <a:sym typeface="+mn-ea"/>
              </a:rPr>
            </a:br>
            <a:r>
              <a:rPr lang="en-GB" altLang="en-US" sz="1800">
                <a:highlight>
                  <a:srgbClr val="FFFF00"/>
                </a:highlight>
                <a:sym typeface="+mn-ea"/>
              </a:rPr>
              <a:t>Sử dụng 2 metrics: Recall</a:t>
            </a:r>
            <a:r>
              <a:rPr lang="en-US" altLang="en-US" sz="1800">
                <a:highlight>
                  <a:srgbClr val="FFFF00"/>
                </a:highlight>
                <a:sym typeface="+mn-ea"/>
              </a:rPr>
              <a:t>@k và MRR</a:t>
            </a:r>
            <a:br>
              <a:rPr lang="en-US" altLang="en-US" sz="1800">
                <a:highlight>
                  <a:srgbClr val="FFFF00"/>
                </a:highlight>
                <a:sym typeface="+mn-ea"/>
              </a:rPr>
            </a:br>
            <a:br>
              <a:rPr lang="en-US" altLang="en-US" sz="1800"/>
            </a:br>
            <a:r>
              <a:rPr lang="en-US" altLang="en-US" sz="1800">
                <a:solidFill>
                  <a:srgbClr val="0070C0"/>
                </a:solidFill>
              </a:rPr>
              <a:t>Recall@k</a:t>
            </a:r>
            <a:r>
              <a:rPr lang="en-US" altLang="en-US" sz="1800"/>
              <a:t>: Đ</a:t>
            </a:r>
            <a:r>
              <a:rPr lang="en-US" altLang="en-GB" sz="1800"/>
              <a:t>ộ phủ trong Top K. Là tỉ lệ phần tr</a:t>
            </a:r>
            <a:r>
              <a:rPr lang="en-US" altLang="en-US" sz="1800"/>
              <a:t>ă</a:t>
            </a:r>
            <a:r>
              <a:rPr lang="en-US" altLang="en-GB" sz="1800"/>
              <a:t>m c</a:t>
            </a:r>
            <a:r>
              <a:rPr lang="en-US" altLang="en-US" sz="1800"/>
              <a:t>á</a:t>
            </a:r>
            <a:r>
              <a:rPr lang="en-US" altLang="en-GB" sz="1800"/>
              <a:t>c c</a:t>
            </a:r>
            <a:r>
              <a:rPr lang="en-US" altLang="en-US" sz="1800"/>
              <a:t>â</a:t>
            </a:r>
            <a:r>
              <a:rPr lang="en-US" altLang="en-GB" sz="1800"/>
              <a:t>u hỏi mà tài liệu ch</a:t>
            </a:r>
            <a:r>
              <a:rPr lang="en-US" altLang="en-US" sz="1800"/>
              <a:t>í</a:t>
            </a:r>
            <a:r>
              <a:rPr lang="en-US" altLang="en-GB" sz="1800"/>
              <a:t>nh x</a:t>
            </a:r>
            <a:r>
              <a:rPr lang="en-US" altLang="en-US" sz="1800"/>
              <a:t>á</a:t>
            </a:r>
            <a:r>
              <a:rPr lang="en-US" altLang="en-GB" sz="1800"/>
              <a:t>c </a:t>
            </a:r>
            <a:r>
              <a:rPr lang="en-US" altLang="en-US" sz="1800"/>
              <a:t>đư</a:t>
            </a:r>
            <a:r>
              <a:rPr lang="en-US" altLang="en-GB" sz="1800"/>
              <a:t>ợc mô h</a:t>
            </a:r>
            <a:r>
              <a:rPr lang="en-US" altLang="en-US" sz="1800"/>
              <a:t>ì</a:t>
            </a:r>
            <a:r>
              <a:rPr lang="en-US" altLang="en-GB" sz="1800"/>
              <a:t>nh Retriever t</a:t>
            </a:r>
            <a:r>
              <a:rPr lang="en-US" altLang="en-US" sz="1800"/>
              <a:t>ì</a:t>
            </a:r>
            <a:r>
              <a:rPr lang="en-US" altLang="en-GB" sz="1800"/>
              <a:t>m thấy và xếp trong Top K kết quả trả về.</a:t>
            </a:r>
            <a:br>
              <a:rPr lang="en-US" altLang="en-GB" sz="1800"/>
            </a:br>
            <a:r>
              <a:rPr lang="en-US" sz="1800"/>
              <a:t>	</a:t>
            </a:r>
            <a:r>
              <a:rPr lang="en-US" altLang="en-US" sz="1800" u="sng"/>
              <a:t>Ý</a:t>
            </a:r>
            <a:r>
              <a:rPr lang="en-US" altLang="en-GB" sz="1800" u="sng"/>
              <a:t> ngh</a:t>
            </a:r>
            <a:r>
              <a:rPr lang="en-US" altLang="en-US" sz="1800" u="sng"/>
              <a:t>ĩ</a:t>
            </a:r>
            <a:r>
              <a:rPr lang="en-US" altLang="en-GB" sz="1800" u="sng"/>
              <a:t>a</a:t>
            </a:r>
            <a:r>
              <a:rPr lang="en-US" altLang="en-GB" sz="1800"/>
              <a:t>: </a:t>
            </a:r>
            <a:r>
              <a:rPr lang="en-US" altLang="en-US" sz="1800" b="1"/>
              <a:t>Đ</a:t>
            </a:r>
            <a:r>
              <a:rPr lang="en-US" altLang="en-GB" sz="1800" b="1"/>
              <a:t>o l</a:t>
            </a:r>
            <a:r>
              <a:rPr lang="en-US" altLang="en-US" sz="1800" b="1"/>
              <a:t>ư</a:t>
            </a:r>
            <a:r>
              <a:rPr lang="en-US" altLang="en-GB" sz="1800" b="1"/>
              <a:t>ờng khả n</a:t>
            </a:r>
            <a:r>
              <a:rPr lang="en-US" altLang="en-US" sz="1800" b="1"/>
              <a:t>ă</a:t>
            </a:r>
            <a:r>
              <a:rPr lang="en-US" altLang="en-GB" sz="1800" b="1"/>
              <a:t>ng "không bỏ s</a:t>
            </a:r>
            <a:r>
              <a:rPr lang="en-US" altLang="en-US" sz="1800" b="1"/>
              <a:t>ó</a:t>
            </a:r>
            <a:r>
              <a:rPr lang="en-US" altLang="en-GB" sz="1800" b="1"/>
              <a:t>t" tài liệu </a:t>
            </a:r>
            <a:r>
              <a:rPr lang="en-US" altLang="en-US" sz="1800" b="1"/>
              <a:t>đú</a:t>
            </a:r>
            <a:r>
              <a:rPr lang="en-US" altLang="en-GB" sz="1800" b="1"/>
              <a:t>ng của Retriever</a:t>
            </a:r>
            <a:r>
              <a:rPr lang="en-US" altLang="en-GB" sz="1800"/>
              <a:t>.</a:t>
            </a:r>
            <a:br>
              <a:rPr lang="en-US" altLang="en-GB" sz="1800"/>
            </a:br>
            <a:r>
              <a:rPr lang="en-US" altLang="en-GB" sz="1800"/>
              <a:t>	Recall@1: Tài liệu </a:t>
            </a:r>
            <a:r>
              <a:rPr lang="en-US" altLang="en-US" sz="1800"/>
              <a:t>đú</a:t>
            </a:r>
            <a:r>
              <a:rPr lang="en-US" altLang="en-GB" sz="1800"/>
              <a:t>ng nằm ngay ở vị tr</a:t>
            </a:r>
            <a:r>
              <a:rPr lang="en-US" altLang="en-US" sz="1800"/>
              <a:t>í</a:t>
            </a:r>
            <a:r>
              <a:rPr lang="en-US" altLang="en-GB" sz="1800"/>
              <a:t> số 1.</a:t>
            </a:r>
            <a:br>
              <a:rPr lang="en-US" altLang="en-GB" sz="1800"/>
            </a:br>
            <a:r>
              <a:rPr lang="en-US" altLang="en-GB" sz="1800"/>
              <a:t>	Recall@5: Tài liệu </a:t>
            </a:r>
            <a:r>
              <a:rPr lang="en-US" altLang="en-US" sz="1800"/>
              <a:t>đú</a:t>
            </a:r>
            <a:r>
              <a:rPr lang="en-US" altLang="en-GB" sz="1800"/>
              <a:t>ng nằm </a:t>
            </a:r>
            <a:r>
              <a:rPr lang="en-US" altLang="en-US" sz="1800"/>
              <a:t>đâ</a:t>
            </a:r>
            <a:r>
              <a:rPr lang="en-US" altLang="en-GB" sz="1800"/>
              <a:t>u </a:t>
            </a:r>
            <a:r>
              <a:rPr lang="en-US" altLang="en-US" sz="1800"/>
              <a:t>đó</a:t>
            </a:r>
            <a:r>
              <a:rPr lang="en-US" altLang="en-GB" sz="1800"/>
              <a:t> từ hạng 1 </a:t>
            </a:r>
            <a:r>
              <a:rPr lang="en-US" altLang="en-US" sz="1800"/>
              <a:t>đ</a:t>
            </a:r>
            <a:r>
              <a:rPr lang="en-US" altLang="en-GB" sz="1800"/>
              <a:t>ến hạng 5.</a:t>
            </a:r>
            <a:br>
              <a:rPr lang="en-US" altLang="en-US" sz="1800"/>
            </a:br>
            <a:br>
              <a:rPr lang="en-US" altLang="en-US" sz="1800"/>
            </a:br>
            <a:r>
              <a:rPr lang="en-US" altLang="en-US" sz="1800">
                <a:solidFill>
                  <a:srgbClr val="0070C0"/>
                </a:solidFill>
              </a:rPr>
              <a:t>MRR </a:t>
            </a:r>
            <a:r>
              <a:rPr lang="en-US" altLang="en-GB" sz="1800"/>
              <a:t>(Mean Reciprocal Rank ): Thứ hạng nghịch </a:t>
            </a:r>
            <a:r>
              <a:rPr lang="en-US" altLang="en-US" sz="1800"/>
              <a:t>đ</a:t>
            </a:r>
            <a:r>
              <a:rPr lang="en-US" altLang="en-GB" sz="1800"/>
              <a:t>ảo trung b</a:t>
            </a:r>
            <a:r>
              <a:rPr lang="en-US" altLang="en-US" sz="1800"/>
              <a:t>ì</a:t>
            </a:r>
            <a:r>
              <a:rPr lang="en-US" altLang="en-GB" sz="1800"/>
              <a:t>nh. Là trung b</a:t>
            </a:r>
            <a:r>
              <a:rPr lang="en-US" altLang="en-US" sz="1800"/>
              <a:t>ì</a:t>
            </a:r>
            <a:r>
              <a:rPr lang="en-US" altLang="en-GB" sz="1800"/>
              <a:t>nh cộng của nghịch </a:t>
            </a:r>
            <a:r>
              <a:rPr lang="en-US" altLang="en-US" sz="1800"/>
              <a:t>đ</a:t>
            </a:r>
            <a:r>
              <a:rPr lang="en-US" altLang="en-GB" sz="1800"/>
              <a:t>ảo thứ hạng tài liệu </a:t>
            </a:r>
            <a:r>
              <a:rPr lang="en-US" altLang="en-US" sz="1800"/>
              <a:t>đú</a:t>
            </a:r>
            <a:r>
              <a:rPr lang="en-US" altLang="en-GB" sz="1800"/>
              <a:t>ng:</a:t>
            </a:r>
            <a:br>
              <a:rPr lang="en-US" altLang="en-GB" sz="1800"/>
            </a:br>
            <a:br>
              <a:rPr lang="en-US" altLang="en-GB" sz="1800"/>
            </a:br>
            <a:br>
              <a:rPr lang="en-US" altLang="en-GB" sz="1800"/>
            </a:br>
            <a:br>
              <a:rPr lang="en-US" altLang="en-GB" sz="1800"/>
            </a:br>
            <a:br>
              <a:rPr lang="en-US" altLang="en-GB" sz="1800"/>
            </a:br>
            <a:br>
              <a:rPr lang="en-US" altLang="en-GB" sz="1800"/>
            </a:br>
            <a:br>
              <a:rPr lang="en-US" altLang="en-GB" sz="1800"/>
            </a:br>
            <a:br>
              <a:rPr lang="en-US" altLang="en-GB" sz="1800"/>
            </a:br>
            <a:br>
              <a:rPr lang="en-US" altLang="en-GB" sz="1800"/>
            </a:br>
            <a:br>
              <a:rPr lang="en-US" altLang="en-GB" sz="1800"/>
            </a:br>
            <a:r>
              <a:rPr lang="en-US" sz="1800"/>
              <a:t>	</a:t>
            </a:r>
            <a:br>
              <a:rPr lang="en-US" sz="1800"/>
            </a:br>
            <a:r>
              <a:rPr lang="en-US" sz="1800"/>
              <a:t>	</a:t>
            </a:r>
            <a:r>
              <a:rPr lang="en-US" altLang="en-US" sz="1800" u="sng"/>
              <a:t>Ý</a:t>
            </a:r>
            <a:r>
              <a:rPr lang="en-US" altLang="en-GB" sz="1800" u="sng"/>
              <a:t> ngh</a:t>
            </a:r>
            <a:r>
              <a:rPr lang="en-US" altLang="en-US" sz="1800" u="sng"/>
              <a:t>ĩ</a:t>
            </a:r>
            <a:r>
              <a:rPr lang="en-US" altLang="en-GB" sz="1800" u="sng"/>
              <a:t>a</a:t>
            </a:r>
            <a:r>
              <a:rPr lang="en-US" altLang="en-GB" sz="1800"/>
              <a:t>: </a:t>
            </a:r>
            <a:r>
              <a:rPr lang="en-US" altLang="en-US" sz="1800" b="1"/>
              <a:t>Đ</a:t>
            </a:r>
            <a:r>
              <a:rPr lang="en-US" altLang="en-GB" sz="1800" b="1"/>
              <a:t>o l</a:t>
            </a:r>
            <a:r>
              <a:rPr lang="en-US" altLang="en-US" sz="1800" b="1"/>
              <a:t>ư</a:t>
            </a:r>
            <a:r>
              <a:rPr lang="en-US" altLang="en-GB" sz="1800" b="1"/>
              <a:t>ờng xem tài liệu </a:t>
            </a:r>
            <a:r>
              <a:rPr lang="en-US" altLang="en-US" sz="1800" b="1"/>
              <a:t>đú</a:t>
            </a:r>
            <a:r>
              <a:rPr lang="en-US" altLang="en-GB" sz="1800" b="1"/>
              <a:t>ng </a:t>
            </a:r>
            <a:r>
              <a:rPr lang="en-US" altLang="en-US" sz="1800" b="1"/>
              <a:t>đư</a:t>
            </a:r>
            <a:r>
              <a:rPr lang="en-US" altLang="en-GB" sz="1800" b="1"/>
              <a:t>ợc xếp hạng cao hay thấp</a:t>
            </a:r>
            <a:r>
              <a:rPr lang="en-US" altLang="en-GB" sz="1800"/>
              <a:t>.</a:t>
            </a:r>
            <a:br>
              <a:rPr lang="en-US" altLang="en-GB" sz="1800"/>
            </a:br>
            <a:r>
              <a:rPr lang="en-US" sz="1800"/>
              <a:t>	</a:t>
            </a:r>
            <a:r>
              <a:rPr lang="en-US" altLang="en-US" sz="1800"/>
              <a:t>Đ</a:t>
            </a:r>
            <a:r>
              <a:rPr lang="en-US" altLang="en-GB" sz="1800"/>
              <a:t>iểm MRR càng gần về 1.0 chứng tỏ tài liệu </a:t>
            </a:r>
            <a:r>
              <a:rPr lang="en-US" altLang="en-US" sz="1800"/>
              <a:t>đú</a:t>
            </a:r>
            <a:r>
              <a:rPr lang="en-US" altLang="en-GB" sz="1800"/>
              <a:t>ng th</a:t>
            </a:r>
            <a:r>
              <a:rPr lang="en-US" altLang="en-US" sz="1800"/>
              <a:t>ư</a:t>
            </a:r>
            <a:r>
              <a:rPr lang="en-US" altLang="en-GB" sz="1800"/>
              <a:t>ờng xuy</a:t>
            </a:r>
            <a:r>
              <a:rPr lang="en-US" altLang="en-US" sz="1800"/>
              <a:t>ê</a:t>
            </a:r>
            <a:r>
              <a:rPr lang="en-US" altLang="en-GB" sz="1800"/>
              <a:t>n </a:t>
            </a:r>
            <a:r>
              <a:rPr lang="en-US" altLang="en-US" sz="1800"/>
              <a:t>đư</a:t>
            </a:r>
            <a:r>
              <a:rPr lang="en-US" altLang="en-GB" sz="1800"/>
              <a:t>ợc </a:t>
            </a:r>
            <a:r>
              <a:rPr lang="en-US" altLang="en-US" sz="1800"/>
              <a:t>đ</a:t>
            </a:r>
            <a:r>
              <a:rPr lang="en-US" altLang="en-GB" sz="1800"/>
              <a:t>ẩy l</a:t>
            </a:r>
            <a:r>
              <a:rPr lang="en-US" altLang="en-US" sz="1800"/>
              <a:t>ê</a:t>
            </a:r>
            <a:r>
              <a:rPr lang="en-US" altLang="en-GB" sz="1800"/>
              <a:t>n s</a:t>
            </a:r>
            <a:r>
              <a:rPr lang="en-US" altLang="en-US" sz="1800"/>
              <a:t>á</a:t>
            </a:r>
            <a:r>
              <a:rPr lang="en-US" altLang="en-GB" sz="1800"/>
              <a:t>t vị tr</a:t>
            </a:r>
            <a:r>
              <a:rPr lang="en-US" altLang="en-US" sz="1800"/>
              <a:t>í</a:t>
            </a:r>
            <a:r>
              <a:rPr lang="en-US" altLang="en-GB" sz="1800"/>
              <a:t> Top 1.</a:t>
            </a:r>
            <a:endParaRPr lang="en-US" altLang="en-GB" sz="1800">
              <a:solidFill>
                <a:schemeClr val="tx1"/>
              </a:solidFill>
            </a:endParaRPr>
          </a:p>
        </p:txBody>
      </p:sp>
      <p:pic>
        <p:nvPicPr>
          <p:cNvPr id="6" name="Picture 5"/>
          <p:cNvPicPr>
            <a:picLocks noChangeAspect="1"/>
          </p:cNvPicPr>
          <p:nvPr/>
        </p:nvPicPr>
        <p:blipFill>
          <a:blip r:embed="rId2"/>
          <a:stretch>
            <a:fillRect/>
          </a:stretch>
        </p:blipFill>
        <p:spPr>
          <a:xfrm>
            <a:off x="3243580" y="3708400"/>
            <a:ext cx="5501640" cy="23272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34315" y="111125"/>
            <a:ext cx="11480165" cy="6635750"/>
          </a:xfrm>
        </p:spPr>
        <p:txBody>
          <a:bodyPr>
            <a:noAutofit/>
          </a:bodyPr>
          <a:p>
            <a:r>
              <a:rPr lang="en-US" altLang="en-GB" sz="3500"/>
              <a:t>7. DEMO + Đánh giá kết quả</a:t>
            </a:r>
            <a:br>
              <a:rPr lang="en-US" altLang="en-GB" sz="3500"/>
            </a:br>
            <a:br>
              <a:rPr lang="en-US" altLang="en-GB" sz="3500"/>
            </a:br>
            <a:r>
              <a:rPr lang="en-US" sz="1800">
                <a:highlight>
                  <a:srgbClr val="FFFF00"/>
                </a:highlight>
              </a:rPr>
              <a:t>Đánh giá kết quả:</a:t>
            </a:r>
            <a:br>
              <a:rPr lang="en-US" altLang="en-US" sz="1800">
                <a:highlight>
                  <a:srgbClr val="FFFF00"/>
                </a:highlight>
              </a:rPr>
            </a:br>
            <a:br>
              <a:rPr lang="en-US" altLang="en-US" sz="1800"/>
            </a:br>
            <a:r>
              <a:rPr lang="en-US" altLang="en-GB" sz="1800" b="1">
                <a:solidFill>
                  <a:schemeClr val="tx1"/>
                </a:solidFill>
              </a:rPr>
              <a:t>Bộ dữ liệu Tiếng Việt (Sổ tay sinh vi</a:t>
            </a:r>
            <a:r>
              <a:rPr lang="en-US" altLang="en-US" sz="1800" b="1">
                <a:solidFill>
                  <a:schemeClr val="tx1"/>
                </a:solidFill>
              </a:rPr>
              <a:t>ê</a:t>
            </a:r>
            <a:r>
              <a:rPr lang="en-US" altLang="en-GB" sz="1800" b="1">
                <a:solidFill>
                  <a:schemeClr val="tx1"/>
                </a:solidFill>
              </a:rPr>
              <a:t>n Phenikaa):</a:t>
            </a:r>
            <a:br>
              <a:rPr lang="en-US" altLang="en-GB" sz="1800" b="1">
                <a:solidFill>
                  <a:schemeClr val="tx1"/>
                </a:solidFill>
              </a:rPr>
            </a:br>
            <a:br>
              <a:rPr lang="en-US" altLang="en-GB" sz="1800">
                <a:solidFill>
                  <a:schemeClr val="tx1"/>
                </a:solidFill>
              </a:rPr>
            </a:br>
            <a:r>
              <a:rPr lang="en-US" altLang="en-GB" sz="1800">
                <a:solidFill>
                  <a:schemeClr val="tx1"/>
                </a:solidFill>
              </a:rPr>
              <a:t>Tổng số tài liệu: 88 v</a:t>
            </a:r>
            <a:r>
              <a:rPr lang="en-US" altLang="en-US" sz="1800">
                <a:solidFill>
                  <a:schemeClr val="tx1"/>
                </a:solidFill>
              </a:rPr>
              <a:t>ă</a:t>
            </a:r>
            <a:r>
              <a:rPr lang="en-US" altLang="en-GB" sz="1800">
                <a:solidFill>
                  <a:schemeClr val="tx1"/>
                </a:solidFill>
              </a:rPr>
              <a:t>n bản quy chế.</a:t>
            </a:r>
            <a:br>
              <a:rPr lang="en-US" altLang="en-GB" sz="1800">
                <a:solidFill>
                  <a:schemeClr val="tx1"/>
                </a:solidFill>
              </a:rPr>
            </a:br>
            <a:r>
              <a:rPr lang="en-US" altLang="en-GB" sz="1800">
                <a:solidFill>
                  <a:schemeClr val="tx1"/>
                </a:solidFill>
              </a:rPr>
              <a:t>Mô h</a:t>
            </a:r>
            <a:r>
              <a:rPr lang="en-US" altLang="en-US" sz="1800">
                <a:solidFill>
                  <a:schemeClr val="tx1"/>
                </a:solidFill>
              </a:rPr>
              <a:t>ì</a:t>
            </a:r>
            <a:r>
              <a:rPr lang="en-US" altLang="en-GB" sz="1800">
                <a:solidFill>
                  <a:schemeClr val="tx1"/>
                </a:solidFill>
              </a:rPr>
              <a:t>nh sử dụng: </a:t>
            </a:r>
            <a:r>
              <a:rPr lang="en-US" altLang="en-GB" sz="1800">
                <a:solidFill>
                  <a:srgbClr val="0070C0"/>
                </a:solidFill>
              </a:rPr>
              <a:t>vietnamese-bi-encoder</a:t>
            </a:r>
            <a:r>
              <a:rPr lang="en-US" altLang="en-GB" sz="1800">
                <a:solidFill>
                  <a:schemeClr val="tx1"/>
                </a:solidFill>
              </a:rPr>
              <a:t> + </a:t>
            </a:r>
            <a:r>
              <a:rPr lang="en-US" altLang="en-GB" sz="1800">
                <a:solidFill>
                  <a:srgbClr val="0070C0"/>
                </a:solidFill>
              </a:rPr>
              <a:t>xlm-roberta-large-vi-qa</a:t>
            </a:r>
            <a:br>
              <a:rPr lang="en-US" altLang="en-GB" sz="1800">
                <a:solidFill>
                  <a:srgbClr val="0070C0"/>
                </a:solidFill>
              </a:rPr>
            </a:br>
            <a:r>
              <a:rPr lang="en-US" altLang="en-GB" sz="1800">
                <a:solidFill>
                  <a:schemeClr val="tx1"/>
                </a:solidFill>
              </a:rPr>
              <a:t>Kết quả:</a:t>
            </a:r>
            <a:br>
              <a:rPr lang="en-US" altLang="en-GB" sz="1800">
                <a:solidFill>
                  <a:schemeClr val="tx1"/>
                </a:solidFill>
              </a:rPr>
            </a:br>
            <a:r>
              <a:rPr lang="en-US" altLang="en-GB" sz="1800">
                <a:solidFill>
                  <a:schemeClr val="tx1"/>
                </a:solidFill>
              </a:rPr>
              <a:t>	Recall@1: 47.6% | Recall@3: 66.7%</a:t>
            </a:r>
            <a:br>
              <a:rPr lang="en-US" altLang="en-GB" sz="1800">
                <a:solidFill>
                  <a:schemeClr val="tx1"/>
                </a:solidFill>
              </a:rPr>
            </a:br>
            <a:r>
              <a:rPr lang="en-US" altLang="en-GB" sz="1800">
                <a:solidFill>
                  <a:schemeClr val="tx1"/>
                </a:solidFill>
              </a:rPr>
              <a:t>	Recall@5: 81.0% (C</a:t>
            </a:r>
            <a:r>
              <a:rPr lang="en-US" altLang="en-US" sz="1800">
                <a:solidFill>
                  <a:schemeClr val="tx1"/>
                </a:solidFill>
              </a:rPr>
              <a:t>ó</a:t>
            </a:r>
            <a:r>
              <a:rPr lang="en-US" altLang="en-GB" sz="1800">
                <a:solidFill>
                  <a:schemeClr val="tx1"/>
                </a:solidFill>
              </a:rPr>
              <a:t> tới 81% c</a:t>
            </a:r>
            <a:r>
              <a:rPr lang="en-US" altLang="en-US" sz="1800">
                <a:solidFill>
                  <a:schemeClr val="tx1"/>
                </a:solidFill>
              </a:rPr>
              <a:t>ơ</a:t>
            </a:r>
            <a:r>
              <a:rPr lang="en-US" altLang="en-GB" sz="1800">
                <a:solidFill>
                  <a:schemeClr val="tx1"/>
                </a:solidFill>
              </a:rPr>
              <a:t> hội tài liệu </a:t>
            </a:r>
            <a:r>
              <a:rPr lang="en-US" altLang="en-US" sz="1800">
                <a:solidFill>
                  <a:schemeClr val="tx1"/>
                </a:solidFill>
              </a:rPr>
              <a:t>đ</a:t>
            </a:r>
            <a:r>
              <a:rPr lang="en-US" altLang="en-US" sz="1800">
                <a:solidFill>
                  <a:schemeClr val="tx1"/>
                </a:solidFill>
              </a:rPr>
              <a:t>ú</a:t>
            </a:r>
            <a:r>
              <a:rPr lang="en-US" altLang="en-GB" sz="1800">
                <a:solidFill>
                  <a:schemeClr val="tx1"/>
                </a:solidFill>
              </a:rPr>
              <a:t>ng nằm trong Top 5)</a:t>
            </a:r>
            <a:br>
              <a:rPr lang="en-US" altLang="en-GB" sz="1800">
                <a:solidFill>
                  <a:schemeClr val="tx1"/>
                </a:solidFill>
              </a:rPr>
            </a:br>
            <a:r>
              <a:rPr lang="en-US" altLang="en-GB" sz="1800">
                <a:solidFill>
                  <a:schemeClr val="tx1"/>
                </a:solidFill>
              </a:rPr>
              <a:t>	Recall@10: 90.5% | Recall@20: 95.2%</a:t>
            </a:r>
            <a:br>
              <a:rPr lang="en-US" altLang="en-GB" sz="1800">
                <a:solidFill>
                  <a:schemeClr val="tx1"/>
                </a:solidFill>
              </a:rPr>
            </a:br>
            <a:r>
              <a:rPr lang="en-US" altLang="en-GB" sz="1800">
                <a:solidFill>
                  <a:schemeClr val="tx1"/>
                </a:solidFill>
              </a:rPr>
              <a:t>	MRR (Mean Reciprocal Rank): 0.5943</a:t>
            </a:r>
            <a:br>
              <a:rPr lang="en-US" altLang="en-GB" sz="1800">
                <a:solidFill>
                  <a:schemeClr val="tx1"/>
                </a:solidFill>
              </a:rPr>
            </a:br>
            <a:br>
              <a:rPr lang="en-US" altLang="en-GB" sz="1800">
                <a:solidFill>
                  <a:schemeClr val="tx1"/>
                </a:solidFill>
              </a:rPr>
            </a:br>
            <a:br>
              <a:rPr lang="en-US" altLang="en-GB" sz="1800">
                <a:solidFill>
                  <a:schemeClr val="tx1"/>
                </a:solidFill>
              </a:rPr>
            </a:br>
            <a:br>
              <a:rPr lang="en-US" altLang="en-GB" sz="1800">
                <a:solidFill>
                  <a:schemeClr val="tx1"/>
                </a:solidFill>
              </a:rPr>
            </a:br>
            <a:r>
              <a:rPr lang="en-US" altLang="en-GB" sz="1800" b="1">
                <a:solidFill>
                  <a:schemeClr val="tx1"/>
                </a:solidFill>
              </a:rPr>
              <a:t>Bộ dữ liệu Tiếng Anh (Tập mẫu SQuAD 2.0):</a:t>
            </a:r>
            <a:br>
              <a:rPr lang="en-US" altLang="en-GB" sz="1800">
                <a:solidFill>
                  <a:schemeClr val="tx1"/>
                </a:solidFill>
              </a:rPr>
            </a:br>
            <a:br>
              <a:rPr lang="en-US" altLang="en-GB" sz="1800">
                <a:solidFill>
                  <a:schemeClr val="tx1"/>
                </a:solidFill>
              </a:rPr>
            </a:br>
            <a:r>
              <a:rPr lang="en-US" altLang="en-GB" sz="1800">
                <a:solidFill>
                  <a:schemeClr val="tx1"/>
                </a:solidFill>
              </a:rPr>
              <a:t>Tổng số tài liệu: 100 v</a:t>
            </a:r>
            <a:r>
              <a:rPr lang="en-US" altLang="en-US" sz="1800">
                <a:solidFill>
                  <a:schemeClr val="tx1"/>
                </a:solidFill>
              </a:rPr>
              <a:t>ă</a:t>
            </a:r>
            <a:r>
              <a:rPr lang="en-US" altLang="en-GB" sz="1800">
                <a:solidFill>
                  <a:schemeClr val="tx1"/>
                </a:solidFill>
              </a:rPr>
              <a:t>n bản ngữ cảnh.</a:t>
            </a:r>
            <a:br>
              <a:rPr lang="en-US" altLang="en-GB" sz="1800">
                <a:solidFill>
                  <a:schemeClr val="tx1"/>
                </a:solidFill>
              </a:rPr>
            </a:br>
            <a:r>
              <a:rPr lang="en-US" altLang="en-GB" sz="1800">
                <a:solidFill>
                  <a:schemeClr val="tx1"/>
                </a:solidFill>
              </a:rPr>
              <a:t>Mô h</a:t>
            </a:r>
            <a:r>
              <a:rPr lang="en-US" altLang="en-US" sz="1800">
                <a:solidFill>
                  <a:schemeClr val="tx1"/>
                </a:solidFill>
              </a:rPr>
              <a:t>ì</a:t>
            </a:r>
            <a:r>
              <a:rPr lang="en-US" altLang="en-GB" sz="1800">
                <a:solidFill>
                  <a:schemeClr val="tx1"/>
                </a:solidFill>
              </a:rPr>
              <a:t>nh sử dụng: </a:t>
            </a:r>
            <a:r>
              <a:rPr lang="en-US" altLang="en-GB" sz="1800">
                <a:solidFill>
                  <a:srgbClr val="0070C0"/>
                </a:solidFill>
              </a:rPr>
              <a:t>all-MiniLM-L6-v2</a:t>
            </a:r>
            <a:r>
              <a:rPr lang="en-US" altLang="en-GB" sz="1800">
                <a:solidFill>
                  <a:schemeClr val="tx1"/>
                </a:solidFill>
              </a:rPr>
              <a:t> + </a:t>
            </a:r>
            <a:r>
              <a:rPr lang="en-US" altLang="en-GB" sz="1800">
                <a:solidFill>
                  <a:srgbClr val="0070C0"/>
                </a:solidFill>
              </a:rPr>
              <a:t>roberta-base-squad2</a:t>
            </a:r>
            <a:br>
              <a:rPr lang="en-US" altLang="en-GB" sz="1800">
                <a:solidFill>
                  <a:schemeClr val="tx1"/>
                </a:solidFill>
              </a:rPr>
            </a:br>
            <a:r>
              <a:rPr lang="en-US" altLang="en-GB" sz="1800">
                <a:solidFill>
                  <a:schemeClr val="tx1"/>
                </a:solidFill>
              </a:rPr>
              <a:t>Kết quả:</a:t>
            </a:r>
            <a:br>
              <a:rPr lang="en-US" altLang="en-GB" sz="1800">
                <a:solidFill>
                  <a:schemeClr val="tx1"/>
                </a:solidFill>
              </a:rPr>
            </a:br>
            <a:r>
              <a:rPr lang="en-US" altLang="en-GB" sz="1800">
                <a:solidFill>
                  <a:schemeClr val="tx1"/>
                </a:solidFill>
              </a:rPr>
              <a:t>	Recall@1: 56.7% | Recall@3: 76.7% | Recall@5: 76.7%</a:t>
            </a:r>
            <a:br>
              <a:rPr lang="en-US" altLang="en-GB" sz="1800">
                <a:solidFill>
                  <a:schemeClr val="tx1"/>
                </a:solidFill>
              </a:rPr>
            </a:br>
            <a:r>
              <a:rPr lang="en-US" altLang="en-GB" sz="1800">
                <a:solidFill>
                  <a:schemeClr val="tx1"/>
                </a:solidFill>
              </a:rPr>
              <a:t>	Recall@10: 86.7% | Recall@20: 93.3%</a:t>
            </a:r>
            <a:br>
              <a:rPr lang="en-US" altLang="en-GB" sz="1800">
                <a:solidFill>
                  <a:schemeClr val="tx1"/>
                </a:solidFill>
              </a:rPr>
            </a:br>
            <a:r>
              <a:rPr lang="en-US" altLang="en-GB" sz="1800">
                <a:solidFill>
                  <a:schemeClr val="tx1"/>
                </a:solidFill>
              </a:rPr>
              <a:t>	MRR: 0.6750</a:t>
            </a:r>
            <a:endParaRPr lang="en-US" altLang="en-GB" sz="1800">
              <a:solidFill>
                <a:schemeClr val="tx1"/>
              </a:solidFill>
            </a:endParaRPr>
          </a:p>
        </p:txBody>
      </p:sp>
      <p:pic>
        <p:nvPicPr>
          <p:cNvPr id="2" name="Picture 1"/>
          <p:cNvPicPr/>
          <p:nvPr/>
        </p:nvPicPr>
        <p:blipFill>
          <a:blip r:embed="rId1"/>
          <a:stretch>
            <a:fillRect/>
          </a:stretch>
        </p:blipFill>
        <p:spPr>
          <a:xfrm>
            <a:off x="7509510" y="3846195"/>
            <a:ext cx="4306570" cy="3011805"/>
          </a:xfrm>
          <a:prstGeom prst="rect">
            <a:avLst/>
          </a:prstGeom>
        </p:spPr>
      </p:pic>
      <p:pic>
        <p:nvPicPr>
          <p:cNvPr id="3" name="Picture 2"/>
          <p:cNvPicPr/>
          <p:nvPr/>
        </p:nvPicPr>
        <p:blipFill>
          <a:blip r:embed="rId2"/>
          <a:stretch>
            <a:fillRect/>
          </a:stretch>
        </p:blipFill>
        <p:spPr>
          <a:xfrm>
            <a:off x="7407910" y="431165"/>
            <a:ext cx="4408170" cy="30892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208915" y="111125"/>
            <a:ext cx="6591935" cy="6635750"/>
          </a:xfrm>
        </p:spPr>
        <p:txBody>
          <a:bodyPr>
            <a:noAutofit/>
          </a:bodyPr>
          <a:p>
            <a:r>
              <a:rPr lang="en-US" altLang="en-GB" sz="3000"/>
              <a:t>8. </a:t>
            </a:r>
            <a:r>
              <a:rPr lang="en-US" altLang="en-US" sz="3000"/>
              <a:t>Đ</a:t>
            </a:r>
            <a:r>
              <a:rPr lang="en-US" altLang="en-GB" sz="3000"/>
              <a:t>ịnh h</a:t>
            </a:r>
            <a:r>
              <a:rPr lang="en-US" altLang="en-US" sz="3000"/>
              <a:t>ư</a:t>
            </a:r>
            <a:r>
              <a:rPr lang="en-US" altLang="en-GB" sz="3000"/>
              <a:t>ớng mở rộng: Kiến tr</a:t>
            </a:r>
            <a:r>
              <a:rPr lang="en-US" altLang="en-US" sz="3000"/>
              <a:t>ú</a:t>
            </a:r>
            <a:r>
              <a:rPr lang="en-US" altLang="en-GB" sz="3000"/>
              <a:t>c Hỏi </a:t>
            </a:r>
            <a:r>
              <a:rPr lang="en-US" altLang="en-US" sz="3000"/>
              <a:t>Đ</a:t>
            </a:r>
            <a:r>
              <a:rPr lang="en-US" altLang="en-US" sz="3000"/>
              <a:t>á</a:t>
            </a:r>
            <a:r>
              <a:rPr lang="en-US" altLang="en-GB" sz="3000"/>
              <a:t>p (QA) toàn diện với mô h</a:t>
            </a:r>
            <a:r>
              <a:rPr lang="en-US" altLang="en-US" sz="3000"/>
              <a:t>ì</a:t>
            </a:r>
            <a:r>
              <a:rPr lang="en-US" altLang="en-GB" sz="3000"/>
              <a:t>nh Retriever - Reranker</a:t>
            </a:r>
            <a:br>
              <a:rPr lang="en-US" altLang="en-GB" sz="3500"/>
            </a:br>
            <a:br>
              <a:rPr lang="en-US" altLang="en-GB" sz="3500"/>
            </a:br>
            <a:r>
              <a:rPr lang="en-US" sz="1500">
                <a:solidFill>
                  <a:schemeClr val="tx1"/>
                </a:solidFill>
              </a:rPr>
              <a:t>C</a:t>
            </a:r>
            <a:r>
              <a:rPr lang="en-US" altLang="en-US" sz="1500">
                <a:solidFill>
                  <a:schemeClr val="tx1"/>
                </a:solidFill>
              </a:rPr>
              <a:t>á</a:t>
            </a:r>
            <a:r>
              <a:rPr lang="en-US" altLang="en-GB" sz="1500">
                <a:solidFill>
                  <a:schemeClr val="tx1"/>
                </a:solidFill>
              </a:rPr>
              <a:t>c hệ thống Hỏi - </a:t>
            </a:r>
            <a:r>
              <a:rPr lang="en-US" altLang="en-US" sz="1500">
                <a:solidFill>
                  <a:schemeClr val="tx1"/>
                </a:solidFill>
              </a:rPr>
              <a:t>Đ</a:t>
            </a:r>
            <a:r>
              <a:rPr lang="en-US" altLang="en-US" sz="1500">
                <a:solidFill>
                  <a:schemeClr val="tx1"/>
                </a:solidFill>
              </a:rPr>
              <a:t>á</a:t>
            </a:r>
            <a:r>
              <a:rPr lang="en-US" altLang="en-GB" sz="1500">
                <a:solidFill>
                  <a:schemeClr val="tx1"/>
                </a:solidFill>
              </a:rPr>
              <a:t>p (QA) hiện </a:t>
            </a:r>
            <a:r>
              <a:rPr lang="en-US" altLang="en-US" sz="1500">
                <a:solidFill>
                  <a:schemeClr val="tx1"/>
                </a:solidFill>
              </a:rPr>
              <a:t>đ</a:t>
            </a:r>
            <a:r>
              <a:rPr lang="en-US" altLang="en-GB" sz="1500">
                <a:solidFill>
                  <a:schemeClr val="tx1"/>
                </a:solidFill>
              </a:rPr>
              <a:t>ại không chọn một trong hai BERT hoặc SBERT, mà kết hợp cả hai mô h</a:t>
            </a:r>
            <a:r>
              <a:rPr lang="en-US" altLang="en-US" sz="1500">
                <a:solidFill>
                  <a:schemeClr val="tx1"/>
                </a:solidFill>
              </a:rPr>
              <a:t>ì</a:t>
            </a:r>
            <a:r>
              <a:rPr lang="en-US" altLang="en-GB" sz="1500">
                <a:solidFill>
                  <a:schemeClr val="tx1"/>
                </a:solidFill>
              </a:rPr>
              <a:t>nh này thành một Pipeline hai giai </a:t>
            </a:r>
            <a:r>
              <a:rPr lang="en-US" altLang="en-US" sz="1500">
                <a:solidFill>
                  <a:schemeClr val="tx1"/>
                </a:solidFill>
              </a:rPr>
              <a:t>đ</a:t>
            </a:r>
            <a:r>
              <a:rPr lang="en-US" altLang="en-GB" sz="1500">
                <a:solidFill>
                  <a:schemeClr val="tx1"/>
                </a:solidFill>
              </a:rPr>
              <a:t>oạn (Retriever - Reranker) hoàn chỉnh tr</a:t>
            </a:r>
            <a:r>
              <a:rPr lang="en-US" altLang="en-US" sz="1500">
                <a:solidFill>
                  <a:schemeClr val="tx1"/>
                </a:solidFill>
              </a:rPr>
              <a:t>ư</a:t>
            </a:r>
            <a:r>
              <a:rPr lang="en-US" altLang="en-GB" sz="1500">
                <a:solidFill>
                  <a:schemeClr val="tx1"/>
                </a:solidFill>
              </a:rPr>
              <a:t>ớc khi </a:t>
            </a:r>
            <a:r>
              <a:rPr lang="en-US" altLang="en-US" sz="1500">
                <a:solidFill>
                  <a:schemeClr val="tx1"/>
                </a:solidFill>
              </a:rPr>
              <a:t>đư</a:t>
            </a:r>
            <a:r>
              <a:rPr lang="en-US" altLang="en-GB" sz="1500">
                <a:solidFill>
                  <a:schemeClr val="tx1"/>
                </a:solidFill>
              </a:rPr>
              <a:t>a dữ liệu cho c</a:t>
            </a:r>
            <a:r>
              <a:rPr lang="en-US" altLang="en-US" sz="1500">
                <a:solidFill>
                  <a:schemeClr val="tx1"/>
                </a:solidFill>
              </a:rPr>
              <a:t>á</a:t>
            </a:r>
            <a:r>
              <a:rPr lang="en-US" altLang="en-GB" sz="1500">
                <a:solidFill>
                  <a:schemeClr val="tx1"/>
                </a:solidFill>
              </a:rPr>
              <a:t>c Mô h</a:t>
            </a:r>
            <a:r>
              <a:rPr lang="en-US" altLang="en-US" sz="1500">
                <a:solidFill>
                  <a:schemeClr val="tx1"/>
                </a:solidFill>
              </a:rPr>
              <a:t>ì</a:t>
            </a:r>
            <a:r>
              <a:rPr lang="en-US" altLang="en-GB" sz="1500">
                <a:solidFill>
                  <a:schemeClr val="tx1"/>
                </a:solidFill>
              </a:rPr>
              <a:t>nh ngôn ngữ lớn (LLM) </a:t>
            </a:r>
            <a:r>
              <a:rPr lang="en-US" altLang="en-US" sz="1500">
                <a:solidFill>
                  <a:schemeClr val="tx1"/>
                </a:solidFill>
              </a:rPr>
              <a:t>đ</a:t>
            </a:r>
            <a:r>
              <a:rPr lang="en-US" altLang="en-GB" sz="1500">
                <a:solidFill>
                  <a:schemeClr val="tx1"/>
                </a:solidFill>
              </a:rPr>
              <a:t>ọc hiểu.</a:t>
            </a:r>
            <a:br>
              <a:rPr lang="en-US" altLang="en-GB" sz="1500">
                <a:solidFill>
                  <a:schemeClr val="tx1"/>
                </a:solidFill>
              </a:rPr>
            </a:br>
            <a:br>
              <a:rPr lang="en-US" altLang="en-GB" sz="1500">
                <a:solidFill>
                  <a:schemeClr val="tx1"/>
                </a:solidFill>
              </a:rPr>
            </a:br>
            <a:br>
              <a:rPr lang="en-US" altLang="en-GB" sz="1500">
                <a:solidFill>
                  <a:schemeClr val="tx1"/>
                </a:solidFill>
              </a:rPr>
            </a:br>
            <a:r>
              <a:rPr lang="en-US" altLang="en-US" sz="1500">
                <a:solidFill>
                  <a:schemeClr val="tx1"/>
                </a:solidFill>
                <a:highlight>
                  <a:srgbClr val="FFFF00"/>
                </a:highlight>
              </a:rPr>
              <a:t>Đ</a:t>
            </a:r>
            <a:r>
              <a:rPr lang="en-US" altLang="en-GB" sz="1500">
                <a:solidFill>
                  <a:schemeClr val="tx1"/>
                </a:solidFill>
                <a:highlight>
                  <a:srgbClr val="FFFF00"/>
                </a:highlight>
              </a:rPr>
              <a:t>ề xuất Kiến tr</a:t>
            </a:r>
            <a:r>
              <a:rPr lang="en-US" altLang="en-US" sz="1500">
                <a:solidFill>
                  <a:schemeClr val="tx1"/>
                </a:solidFill>
                <a:highlight>
                  <a:srgbClr val="FFFF00"/>
                </a:highlight>
              </a:rPr>
              <a:t>ú</a:t>
            </a:r>
            <a:r>
              <a:rPr lang="en-US" altLang="en-GB" sz="1500">
                <a:solidFill>
                  <a:schemeClr val="tx1"/>
                </a:solidFill>
                <a:highlight>
                  <a:srgbClr val="FFFF00"/>
                </a:highlight>
              </a:rPr>
              <a:t>c Hệ thống truy xuất thông tin tối ưu, được vận hành qua 02 bước cốt lõi:</a:t>
            </a:r>
            <a:br>
              <a:rPr lang="en-US" altLang="en-GB" sz="1500">
                <a:solidFill>
                  <a:schemeClr val="tx1"/>
                </a:solidFill>
                <a:highlight>
                  <a:srgbClr val="FFFF00"/>
                </a:highlight>
              </a:rPr>
            </a:br>
            <a:br>
              <a:rPr lang="en-US" altLang="en-GB" sz="1500">
                <a:solidFill>
                  <a:schemeClr val="tx1"/>
                </a:solidFill>
              </a:rPr>
            </a:br>
            <a:r>
              <a:rPr lang="en-US" altLang="en-GB" sz="1500">
                <a:solidFill>
                  <a:srgbClr val="0070C0"/>
                </a:solidFill>
              </a:rPr>
              <a:t>Giai </a:t>
            </a:r>
            <a:r>
              <a:rPr lang="en-US" altLang="en-US" sz="1500">
                <a:solidFill>
                  <a:srgbClr val="0070C0"/>
                </a:solidFill>
              </a:rPr>
              <a:t>đ</a:t>
            </a:r>
            <a:r>
              <a:rPr lang="en-US" altLang="en-GB" sz="1500">
                <a:solidFill>
                  <a:srgbClr val="0070C0"/>
                </a:solidFill>
              </a:rPr>
              <a:t>oạn 1 - Retriever</a:t>
            </a:r>
            <a:r>
              <a:rPr lang="en-US" altLang="en-GB" sz="1500">
                <a:solidFill>
                  <a:schemeClr val="tx1"/>
                </a:solidFill>
              </a:rPr>
              <a:t> (Tr</a:t>
            </a:r>
            <a:r>
              <a:rPr lang="en-US" altLang="en-US" sz="1500">
                <a:solidFill>
                  <a:schemeClr val="tx1"/>
                </a:solidFill>
              </a:rPr>
              <a:t>í</a:t>
            </a:r>
            <a:r>
              <a:rPr lang="en-US" altLang="en-GB" sz="1500">
                <a:solidFill>
                  <a:schemeClr val="tx1"/>
                </a:solidFill>
              </a:rPr>
              <a:t>ch xuất thô bằng SBERT): Sử dụng SBERT (Bi-encoder) làm bộ lọc s</a:t>
            </a:r>
            <a:r>
              <a:rPr lang="en-US" altLang="en-US" sz="1500">
                <a:solidFill>
                  <a:schemeClr val="tx1"/>
                </a:solidFill>
              </a:rPr>
              <a:t>ơ</a:t>
            </a:r>
            <a:r>
              <a:rPr lang="en-US" altLang="en-GB" sz="1500">
                <a:solidFill>
                  <a:schemeClr val="tx1"/>
                </a:solidFill>
              </a:rPr>
              <a:t> cấp. SBERT c</a:t>
            </a:r>
            <a:r>
              <a:rPr lang="en-US" altLang="en-US" sz="1500">
                <a:solidFill>
                  <a:schemeClr val="tx1"/>
                </a:solidFill>
              </a:rPr>
              <a:t>ó</a:t>
            </a:r>
            <a:r>
              <a:rPr lang="en-US" altLang="en-GB" sz="1500">
                <a:solidFill>
                  <a:schemeClr val="tx1"/>
                </a:solidFill>
              </a:rPr>
              <a:t> thể qu</a:t>
            </a:r>
            <a:r>
              <a:rPr lang="en-US" altLang="en-US" sz="1500">
                <a:solidFill>
                  <a:schemeClr val="tx1"/>
                </a:solidFill>
              </a:rPr>
              <a:t>é</a:t>
            </a:r>
            <a:r>
              <a:rPr lang="en-US" altLang="en-GB" sz="1500">
                <a:solidFill>
                  <a:schemeClr val="tx1"/>
                </a:solidFill>
              </a:rPr>
              <a:t>t qua hàng triệu tài liệu chỉ trong vài mili-gi</a:t>
            </a:r>
            <a:r>
              <a:rPr lang="en-US" altLang="en-US" sz="1500">
                <a:solidFill>
                  <a:schemeClr val="tx1"/>
                </a:solidFill>
              </a:rPr>
              <a:t>â</a:t>
            </a:r>
            <a:r>
              <a:rPr lang="en-US" altLang="en-GB" sz="1500">
                <a:solidFill>
                  <a:schemeClr val="tx1"/>
                </a:solidFill>
              </a:rPr>
              <a:t>y </a:t>
            </a:r>
            <a:r>
              <a:rPr lang="en-US" altLang="en-US" sz="1500">
                <a:solidFill>
                  <a:schemeClr val="tx1"/>
                </a:solidFill>
              </a:rPr>
              <a:t>đ</a:t>
            </a:r>
            <a:r>
              <a:rPr lang="en-US" altLang="en-GB" sz="1500">
                <a:solidFill>
                  <a:schemeClr val="tx1"/>
                </a:solidFill>
              </a:rPr>
              <a:t>ể lấy ra tập hợp Top K tài liệu tiềm n</a:t>
            </a:r>
            <a:r>
              <a:rPr lang="en-US" altLang="en-US" sz="1500">
                <a:solidFill>
                  <a:schemeClr val="tx1"/>
                </a:solidFill>
              </a:rPr>
              <a:t>ă</a:t>
            </a:r>
            <a:r>
              <a:rPr lang="en-US" altLang="en-GB" sz="1500">
                <a:solidFill>
                  <a:schemeClr val="tx1"/>
                </a:solidFill>
              </a:rPr>
              <a:t>ng nhất. Ở b</a:t>
            </a:r>
            <a:r>
              <a:rPr lang="en-US" altLang="en-US" sz="1500">
                <a:solidFill>
                  <a:schemeClr val="tx1"/>
                </a:solidFill>
              </a:rPr>
              <a:t>ư</a:t>
            </a:r>
            <a:r>
              <a:rPr lang="en-US" altLang="en-GB" sz="1500">
                <a:solidFill>
                  <a:schemeClr val="tx1"/>
                </a:solidFill>
              </a:rPr>
              <a:t>ớc này, ta </a:t>
            </a:r>
            <a:r>
              <a:rPr lang="en-US" altLang="en-US" sz="1500">
                <a:solidFill>
                  <a:schemeClr val="tx1"/>
                </a:solidFill>
              </a:rPr>
              <a:t>ư</a:t>
            </a:r>
            <a:r>
              <a:rPr lang="en-US" altLang="en-GB" sz="1500">
                <a:solidFill>
                  <a:schemeClr val="tx1"/>
                </a:solidFill>
              </a:rPr>
              <a:t>u ti</a:t>
            </a:r>
            <a:r>
              <a:rPr lang="en-US" altLang="en-US" sz="1500">
                <a:solidFill>
                  <a:schemeClr val="tx1"/>
                </a:solidFill>
              </a:rPr>
              <a:t>ê</a:t>
            </a:r>
            <a:r>
              <a:rPr lang="en-US" altLang="en-GB" sz="1500">
                <a:solidFill>
                  <a:schemeClr val="tx1"/>
                </a:solidFill>
              </a:rPr>
              <a:t>n Tốc </a:t>
            </a:r>
            <a:r>
              <a:rPr lang="en-US" altLang="en-US" sz="1500">
                <a:solidFill>
                  <a:schemeClr val="tx1"/>
                </a:solidFill>
              </a:rPr>
              <a:t>đ</a:t>
            </a:r>
            <a:r>
              <a:rPr lang="en-US" altLang="en-GB" sz="1500">
                <a:solidFill>
                  <a:schemeClr val="tx1"/>
                </a:solidFill>
              </a:rPr>
              <a:t>ộ.</a:t>
            </a:r>
            <a:br>
              <a:rPr lang="en-US" altLang="en-GB" sz="1500">
                <a:solidFill>
                  <a:schemeClr val="tx1"/>
                </a:solidFill>
              </a:rPr>
            </a:br>
            <a:br>
              <a:rPr lang="en-US" altLang="en-GB" sz="1500">
                <a:solidFill>
                  <a:schemeClr val="tx1"/>
                </a:solidFill>
              </a:rPr>
            </a:br>
            <a:r>
              <a:rPr lang="en-US" altLang="en-GB" sz="1500">
                <a:solidFill>
                  <a:srgbClr val="0070C0"/>
                </a:solidFill>
              </a:rPr>
              <a:t>Giai </a:t>
            </a:r>
            <a:r>
              <a:rPr lang="en-US" altLang="en-US" sz="1500">
                <a:solidFill>
                  <a:srgbClr val="0070C0"/>
                </a:solidFill>
              </a:rPr>
              <a:t>đ</a:t>
            </a:r>
            <a:r>
              <a:rPr lang="en-US" altLang="en-GB" sz="1500">
                <a:solidFill>
                  <a:srgbClr val="0070C0"/>
                </a:solidFill>
              </a:rPr>
              <a:t>oạn 2 - Reranker</a:t>
            </a:r>
            <a:r>
              <a:rPr lang="en-US" altLang="en-GB" sz="1500">
                <a:solidFill>
                  <a:schemeClr val="tx1"/>
                </a:solidFill>
              </a:rPr>
              <a:t> (Xếp hạng lại bằng BERT): Sử dụng mạng BERT (Cross-encoder) </a:t>
            </a:r>
            <a:r>
              <a:rPr lang="en-US" altLang="en-US" sz="1500">
                <a:solidFill>
                  <a:schemeClr val="tx1"/>
                </a:solidFill>
              </a:rPr>
              <a:t>đ</a:t>
            </a:r>
            <a:r>
              <a:rPr lang="en-US" altLang="en-GB" sz="1500">
                <a:solidFill>
                  <a:schemeClr val="tx1"/>
                </a:solidFill>
              </a:rPr>
              <a:t>ể chấm </a:t>
            </a:r>
            <a:r>
              <a:rPr lang="en-US" altLang="en-US" sz="1500">
                <a:solidFill>
                  <a:schemeClr val="tx1"/>
                </a:solidFill>
              </a:rPr>
              <a:t>đ</a:t>
            </a:r>
            <a:r>
              <a:rPr lang="en-US" altLang="en-GB" sz="1500">
                <a:solidFill>
                  <a:schemeClr val="tx1"/>
                </a:solidFill>
              </a:rPr>
              <a:t>iểm lại tập hợp K tài liệu vừa t</a:t>
            </a:r>
            <a:r>
              <a:rPr lang="en-US" altLang="en-US" sz="1500">
                <a:solidFill>
                  <a:schemeClr val="tx1"/>
                </a:solidFill>
              </a:rPr>
              <a:t>ì</a:t>
            </a:r>
            <a:r>
              <a:rPr lang="en-US" altLang="en-GB" sz="1500">
                <a:solidFill>
                  <a:schemeClr val="tx1"/>
                </a:solidFill>
              </a:rPr>
              <a:t>m </a:t>
            </a:r>
            <a:r>
              <a:rPr lang="en-US" altLang="en-US" sz="1500">
                <a:solidFill>
                  <a:schemeClr val="tx1"/>
                </a:solidFill>
              </a:rPr>
              <a:t>đư</a:t>
            </a:r>
            <a:r>
              <a:rPr lang="en-US" altLang="en-GB" sz="1500">
                <a:solidFill>
                  <a:schemeClr val="tx1"/>
                </a:solidFill>
              </a:rPr>
              <a:t>ợc. V</a:t>
            </a:r>
            <a:r>
              <a:rPr lang="en-US" altLang="en-US" sz="1500">
                <a:solidFill>
                  <a:schemeClr val="tx1"/>
                </a:solidFill>
              </a:rPr>
              <a:t>ì</a:t>
            </a:r>
            <a:r>
              <a:rPr lang="en-US" altLang="en-GB" sz="1500">
                <a:solidFill>
                  <a:schemeClr val="tx1"/>
                </a:solidFill>
              </a:rPr>
              <a:t> l</a:t>
            </a:r>
            <a:r>
              <a:rPr lang="en-US" altLang="en-US" sz="1500">
                <a:solidFill>
                  <a:schemeClr val="tx1"/>
                </a:solidFill>
              </a:rPr>
              <a:t>ú</a:t>
            </a:r>
            <a:r>
              <a:rPr lang="en-US" altLang="en-GB" sz="1500">
                <a:solidFill>
                  <a:schemeClr val="tx1"/>
                </a:solidFill>
              </a:rPr>
              <a:t>c này số l</a:t>
            </a:r>
            <a:r>
              <a:rPr lang="en-US" altLang="en-US" sz="1500">
                <a:solidFill>
                  <a:schemeClr val="tx1"/>
                </a:solidFill>
              </a:rPr>
              <a:t>ư</a:t>
            </a:r>
            <a:r>
              <a:rPr lang="en-US" altLang="en-GB" sz="1500">
                <a:solidFill>
                  <a:schemeClr val="tx1"/>
                </a:solidFill>
              </a:rPr>
              <a:t>ợng tài liệu chỉ c</a:t>
            </a:r>
            <a:r>
              <a:rPr lang="en-US" altLang="en-US" sz="1500">
                <a:solidFill>
                  <a:schemeClr val="tx1"/>
                </a:solidFill>
              </a:rPr>
              <a:t>ò</a:t>
            </a:r>
            <a:r>
              <a:rPr lang="en-US" altLang="en-GB" sz="1500">
                <a:solidFill>
                  <a:schemeClr val="tx1"/>
                </a:solidFill>
              </a:rPr>
              <a:t>n lại rất </a:t>
            </a:r>
            <a:r>
              <a:rPr lang="en-US" altLang="en-US" sz="1500">
                <a:solidFill>
                  <a:schemeClr val="tx1"/>
                </a:solidFill>
              </a:rPr>
              <a:t>í</a:t>
            </a:r>
            <a:r>
              <a:rPr lang="en-US" altLang="en-GB" sz="1500">
                <a:solidFill>
                  <a:schemeClr val="tx1"/>
                </a:solidFill>
              </a:rPr>
              <a:t>t, BERT c</a:t>
            </a:r>
            <a:r>
              <a:rPr lang="en-US" altLang="en-US" sz="1500">
                <a:solidFill>
                  <a:schemeClr val="tx1"/>
                </a:solidFill>
              </a:rPr>
              <a:t>ó</a:t>
            </a:r>
            <a:r>
              <a:rPr lang="en-US" altLang="en-GB" sz="1500">
                <a:solidFill>
                  <a:schemeClr val="tx1"/>
                </a:solidFill>
              </a:rPr>
              <a:t> thể thoải m</a:t>
            </a:r>
            <a:r>
              <a:rPr lang="en-US" altLang="en-US" sz="1500">
                <a:solidFill>
                  <a:schemeClr val="tx1"/>
                </a:solidFill>
              </a:rPr>
              <a:t>á</a:t>
            </a:r>
            <a:r>
              <a:rPr lang="en-US" altLang="en-GB" sz="1500">
                <a:solidFill>
                  <a:schemeClr val="tx1"/>
                </a:solidFill>
              </a:rPr>
              <a:t>i thực hiện c</a:t>
            </a:r>
            <a:r>
              <a:rPr lang="en-US" altLang="en-US" sz="1500">
                <a:solidFill>
                  <a:schemeClr val="tx1"/>
                </a:solidFill>
              </a:rPr>
              <a:t>ơ</a:t>
            </a:r>
            <a:r>
              <a:rPr lang="en-US" altLang="en-GB" sz="1500">
                <a:solidFill>
                  <a:schemeClr val="tx1"/>
                </a:solidFill>
              </a:rPr>
              <a:t> chế Attention chéo giữa C</a:t>
            </a:r>
            <a:r>
              <a:rPr lang="en-US" altLang="en-US" sz="1500">
                <a:solidFill>
                  <a:schemeClr val="tx1"/>
                </a:solidFill>
              </a:rPr>
              <a:t>â</a:t>
            </a:r>
            <a:r>
              <a:rPr lang="en-US" altLang="en-GB" sz="1500">
                <a:solidFill>
                  <a:schemeClr val="tx1"/>
                </a:solidFill>
              </a:rPr>
              <a:t>u hỏi và Từng tài liệu </a:t>
            </a:r>
            <a:r>
              <a:rPr lang="en-US" altLang="en-US" sz="1500">
                <a:solidFill>
                  <a:schemeClr val="tx1"/>
                </a:solidFill>
              </a:rPr>
              <a:t>đ</a:t>
            </a:r>
            <a:r>
              <a:rPr lang="en-US" altLang="en-GB" sz="1500">
                <a:solidFill>
                  <a:schemeClr val="tx1"/>
                </a:solidFill>
              </a:rPr>
              <a:t>ể t</a:t>
            </a:r>
            <a:r>
              <a:rPr lang="en-US" altLang="en-US" sz="1500">
                <a:solidFill>
                  <a:schemeClr val="tx1"/>
                </a:solidFill>
              </a:rPr>
              <a:t>í</a:t>
            </a:r>
            <a:r>
              <a:rPr lang="en-US" altLang="en-GB" sz="1500">
                <a:solidFill>
                  <a:schemeClr val="tx1"/>
                </a:solidFill>
              </a:rPr>
              <a:t>nh to</a:t>
            </a:r>
            <a:r>
              <a:rPr lang="en-US" altLang="en-US" sz="1500">
                <a:solidFill>
                  <a:schemeClr val="tx1"/>
                </a:solidFill>
              </a:rPr>
              <a:t>á</a:t>
            </a:r>
            <a:r>
              <a:rPr lang="en-US" altLang="en-GB" sz="1500">
                <a:solidFill>
                  <a:schemeClr val="tx1"/>
                </a:solidFill>
              </a:rPr>
              <a:t>n mức </a:t>
            </a:r>
            <a:r>
              <a:rPr lang="en-US" altLang="en-US" sz="1500">
                <a:solidFill>
                  <a:schemeClr val="tx1"/>
                </a:solidFill>
              </a:rPr>
              <a:t>đ</a:t>
            </a:r>
            <a:r>
              <a:rPr lang="en-US" altLang="en-GB" sz="1500">
                <a:solidFill>
                  <a:schemeClr val="tx1"/>
                </a:solidFill>
              </a:rPr>
              <a:t>ộ li</a:t>
            </a:r>
            <a:r>
              <a:rPr lang="en-US" altLang="en-US" sz="1500">
                <a:solidFill>
                  <a:schemeClr val="tx1"/>
                </a:solidFill>
              </a:rPr>
              <a:t>ê</a:t>
            </a:r>
            <a:r>
              <a:rPr lang="en-US" altLang="en-GB" sz="1500">
                <a:solidFill>
                  <a:schemeClr val="tx1"/>
                </a:solidFill>
              </a:rPr>
              <a:t>n quan một c</a:t>
            </a:r>
            <a:r>
              <a:rPr lang="en-US" altLang="en-US" sz="1500">
                <a:solidFill>
                  <a:schemeClr val="tx1"/>
                </a:solidFill>
              </a:rPr>
              <a:t>á</a:t>
            </a:r>
            <a:r>
              <a:rPr lang="en-US" altLang="en-GB" sz="1500">
                <a:solidFill>
                  <a:schemeClr val="tx1"/>
                </a:solidFill>
              </a:rPr>
              <a:t>ch ch</a:t>
            </a:r>
            <a:r>
              <a:rPr lang="en-US" altLang="en-US" sz="1500">
                <a:solidFill>
                  <a:schemeClr val="tx1"/>
                </a:solidFill>
              </a:rPr>
              <a:t>í</a:t>
            </a:r>
            <a:r>
              <a:rPr lang="en-US" altLang="en-GB" sz="1500">
                <a:solidFill>
                  <a:schemeClr val="tx1"/>
                </a:solidFill>
              </a:rPr>
              <a:t>nh x</a:t>
            </a:r>
            <a:r>
              <a:rPr lang="en-US" altLang="en-US" sz="1500">
                <a:solidFill>
                  <a:schemeClr val="tx1"/>
                </a:solidFill>
              </a:rPr>
              <a:t>á</a:t>
            </a:r>
            <a:r>
              <a:rPr lang="en-US" altLang="en-GB" sz="1500">
                <a:solidFill>
                  <a:schemeClr val="tx1"/>
                </a:solidFill>
              </a:rPr>
              <a:t>c nhất. Ở b</a:t>
            </a:r>
            <a:r>
              <a:rPr lang="en-US" altLang="en-US" sz="1500">
                <a:solidFill>
                  <a:schemeClr val="tx1"/>
                </a:solidFill>
              </a:rPr>
              <a:t>ư</a:t>
            </a:r>
            <a:r>
              <a:rPr lang="en-US" altLang="en-GB" sz="1500">
                <a:solidFill>
                  <a:schemeClr val="tx1"/>
                </a:solidFill>
              </a:rPr>
              <a:t>ớc này, ta </a:t>
            </a:r>
            <a:r>
              <a:rPr lang="en-US" altLang="en-US" sz="1500">
                <a:solidFill>
                  <a:schemeClr val="tx1"/>
                </a:solidFill>
              </a:rPr>
              <a:t>ư</a:t>
            </a:r>
            <a:r>
              <a:rPr lang="en-US" altLang="en-GB" sz="1500">
                <a:solidFill>
                  <a:schemeClr val="tx1"/>
                </a:solidFill>
              </a:rPr>
              <a:t>u ti</a:t>
            </a:r>
            <a:r>
              <a:rPr lang="en-US" altLang="en-US" sz="1500">
                <a:solidFill>
                  <a:schemeClr val="tx1"/>
                </a:solidFill>
              </a:rPr>
              <a:t>ê</a:t>
            </a:r>
            <a:r>
              <a:rPr lang="en-US" altLang="en-GB" sz="1500">
                <a:solidFill>
                  <a:schemeClr val="tx1"/>
                </a:solidFill>
              </a:rPr>
              <a:t>n </a:t>
            </a:r>
            <a:r>
              <a:rPr lang="en-US" altLang="en-US" sz="1500">
                <a:solidFill>
                  <a:schemeClr val="tx1"/>
                </a:solidFill>
              </a:rPr>
              <a:t>Đ</a:t>
            </a:r>
            <a:r>
              <a:rPr lang="en-US" altLang="en-GB" sz="1500">
                <a:solidFill>
                  <a:schemeClr val="tx1"/>
                </a:solidFill>
              </a:rPr>
              <a:t>ộ ch</a:t>
            </a:r>
            <a:r>
              <a:rPr lang="en-US" altLang="en-US" sz="1500">
                <a:solidFill>
                  <a:schemeClr val="tx1"/>
                </a:solidFill>
              </a:rPr>
              <a:t>í</a:t>
            </a:r>
            <a:r>
              <a:rPr lang="en-US" altLang="en-GB" sz="1500">
                <a:solidFill>
                  <a:schemeClr val="tx1"/>
                </a:solidFill>
              </a:rPr>
              <a:t>nh x</a:t>
            </a:r>
            <a:r>
              <a:rPr lang="en-US" altLang="en-US" sz="1500">
                <a:solidFill>
                  <a:schemeClr val="tx1"/>
                </a:solidFill>
              </a:rPr>
              <a:t>á</a:t>
            </a:r>
            <a:r>
              <a:rPr lang="en-US" altLang="en-GB" sz="1500">
                <a:solidFill>
                  <a:schemeClr val="tx1"/>
                </a:solidFill>
              </a:rPr>
              <a:t>c.</a:t>
            </a:r>
            <a:br>
              <a:rPr lang="en-US" altLang="en-GB" sz="1500">
                <a:solidFill>
                  <a:schemeClr val="tx1"/>
                </a:solidFill>
              </a:rPr>
            </a:br>
            <a:endParaRPr lang="en-US" altLang="en-GB" sz="1500">
              <a:solidFill>
                <a:schemeClr val="tx1"/>
              </a:solidFill>
            </a:endParaRPr>
          </a:p>
        </p:txBody>
      </p:sp>
      <p:graphicFrame>
        <p:nvGraphicFramePr>
          <p:cNvPr id="2" name="Object 1"/>
          <p:cNvGraphicFramePr/>
          <p:nvPr/>
        </p:nvGraphicFramePr>
        <p:xfrm>
          <a:off x="6800850" y="407670"/>
          <a:ext cx="5290820" cy="5993765"/>
        </p:xfrm>
        <a:graphic>
          <a:graphicData uri="http://schemas.openxmlformats.org/presentationml/2006/ole">
            <mc:AlternateContent xmlns:mc="http://schemas.openxmlformats.org/markup-compatibility/2006">
              <mc:Choice xmlns:v="urn:schemas-microsoft-com:vml" Requires="v">
                <p:oleObj spid="_x0000_s6" name="" r:id="rId1" imgW="6835140" imgH="8542020" progId="Paint.Picture">
                  <p:embed/>
                </p:oleObj>
              </mc:Choice>
              <mc:Fallback>
                <p:oleObj name="" r:id="rId1" imgW="6835140" imgH="8542020" progId="Paint.Picture">
                  <p:embed/>
                  <p:pic>
                    <p:nvPicPr>
                      <p:cNvPr id="0" name="Picture 5"/>
                      <p:cNvPicPr/>
                      <p:nvPr/>
                    </p:nvPicPr>
                    <p:blipFill>
                      <a:blip r:embed="rId2"/>
                      <a:stretch>
                        <a:fillRect/>
                      </a:stretch>
                    </p:blipFill>
                    <p:spPr>
                      <a:xfrm>
                        <a:off x="6800850" y="407670"/>
                        <a:ext cx="5290820" cy="5993765"/>
                      </a:xfrm>
                      <a:prstGeom prst="rect">
                        <a:avLst/>
                      </a:prstGeom>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Object 2"/>
          <p:cNvGraphicFramePr/>
          <p:nvPr/>
        </p:nvGraphicFramePr>
        <p:xfrm>
          <a:off x="1392555" y="352425"/>
          <a:ext cx="9620250" cy="6153785"/>
        </p:xfrm>
        <a:graphic>
          <a:graphicData uri="http://schemas.openxmlformats.org/presentationml/2006/ole">
            <mc:AlternateContent xmlns:mc="http://schemas.openxmlformats.org/markup-compatibility/2006">
              <mc:Choice xmlns:v="urn:schemas-microsoft-com:vml" Requires="v">
                <p:oleObj spid="_x0000_s5" name="" r:id="rId1" imgW="8953500" imgH="5722620" progId="Paint.Picture">
                  <p:embed/>
                </p:oleObj>
              </mc:Choice>
              <mc:Fallback>
                <p:oleObj name="" r:id="rId1" imgW="8953500" imgH="5722620" progId="Paint.Picture">
                  <p:embed/>
                  <p:pic>
                    <p:nvPicPr>
                      <p:cNvPr id="0" name="Picture 4"/>
                      <p:cNvPicPr/>
                      <p:nvPr/>
                    </p:nvPicPr>
                    <p:blipFill>
                      <a:blip r:embed="rId2"/>
                      <a:stretch>
                        <a:fillRect/>
                      </a:stretch>
                    </p:blipFill>
                    <p:spPr>
                      <a:xfrm>
                        <a:off x="1392555" y="352425"/>
                        <a:ext cx="9620250" cy="6153785"/>
                      </a:xfrm>
                      <a:prstGeom prst="rect">
                        <a:avLst/>
                      </a:prstGeom>
                    </p:spPr>
                  </p:pic>
                </p:oleObj>
              </mc:Fallback>
            </mc:AlternateContent>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23587</Words>
  <Application>WPS Presentation</Application>
  <PresentationFormat>Widescreen</PresentationFormat>
  <Paragraphs>58</Paragraphs>
  <Slides>27</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13</vt:i4>
      </vt:variant>
      <vt:variant>
        <vt:lpstr>幻灯片标题</vt:lpstr>
      </vt:variant>
      <vt:variant>
        <vt:i4>27</vt:i4>
      </vt:variant>
    </vt:vector>
  </HeadingPairs>
  <TitlesOfParts>
    <vt:vector size="48" baseType="lpstr">
      <vt:lpstr>Arial</vt:lpstr>
      <vt:lpstr>SimSun</vt:lpstr>
      <vt:lpstr>Wingdings</vt:lpstr>
      <vt:lpstr>Calibri Light</vt:lpstr>
      <vt:lpstr>Calibri</vt:lpstr>
      <vt:lpstr>Microsoft YaHei</vt:lpstr>
      <vt:lpstr>Arial Unicode MS</vt:lpstr>
      <vt:lpstr>Office Theme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[NLP] NHÓM 2  Tìm hiểu về model Sentence BERT và liên hệ đến bài toán Question &amp; Answering</vt:lpstr>
      <vt:lpstr>NỘI DUNG:  1. Đặt vấn đề  2. Giải pháp: SBERT ra đời 3. Cơ sở lý thuyết 4. Kiến trúc SBERT 5. So sánh BERT và SBERT: Đánh đổi giữa Tốc độ và Độ chính xác 6. Liên hệ với bài toán Q&amp;A 7. Demo + Đánh giá kết quả 8. Định hướng mở rộng: Kiến trúc Hỏi Đáp (QA) toàn diện với mô hình Retriever - Reranker</vt:lpstr>
      <vt:lpstr>1. Đặt vấn đề  Trước 2017, các model chuyển đổi chuỗi chiếm ưu thế thường dựa trên mạng nơ-ron hồi quy RNN (như LSTM) hoặc mạng tích chập CNN phức tạp bao gồm bộ mã hóa (encoder) và bộ giải mà (decoder).  Các mô hình hồi quy có bản chất là tính toán tuần tự theo các vị trí biểu tượng của đầu vào và đầu ra. Bản chất tuần tự này ngăn cản khả năng song song hóa trong quá trình huấn luyện dẫn đến thời gian huấn luyện rất lớn.  Năm 2017, Google cho ra mắt bài báo “Attention is all you need” [1], đề xuất kiến trúc mạng mang tên Transformer.   Transformer: + Vẫn sử dụng cấu trúc encoder-decoder, xếp chồng các lớp Self-Attention và các mạng feed-forward (truyền thẳng) + Loại bỏ hoàn toàn các lớp hồi quy và tích chập, thay vào đó chỉ dựa hoàn toàn vào cơ chế attention để rút ra các phụ thuộc toàn cục giữa đầu vào và đầu ra.  =&gt; Cơ chế này cho phép khả năng song song hóa, từ đó giảm mạnh thời gian huấn luyện  Trước khi Transformer ra đời, các mô hình cũ như word2vec sử dụng Static Representation (biểu diễn tĩnh) tức là một từ luôn cố định 1 vector duy nhất dù nó nằm trong câu nào.   [1]: Vaswani, A., Shazeer, N., Parmar, N., Uszkoreit, J., Jones, L., Gomez, A. N., Kaiser, Ł., &amp; Polosukhin, I. (2017). "Attention Is All You Need". Advances in  Neural Information Processing Systems (NeurIPS) 30. https://arxiv.org/abs/1706.03762</vt:lpstr>
      <vt:lpstr>1. Đặt vấn đề  Trong NLP, nhu cầu so sánh 2 câu rất lớn, đây là xương sống vận hành hầu hết các hệ thống AI xử lý ngôn ngữ thực tế tại các doanh nghiệp  -&gt; Tạo ra sự chuyển dịch bắt buộc: từ tìm kiếm theo từ khóa (Lexical) sang tìm kiếm theo ngữ nghĩa (semantic)  Năm 2018, BERT [2] ra đời bằng cách kế thừa và xếp chồng các lớp Encoder của Transformer. Khi áp dụng BERT vào bài toán so sánh 2 câu, BERT sẽ ghép 2 câu lại thành 01 chuỗi duy nhất theo định dạng:   				[CLS] Câu A [SEP] Câu B [SEP]  Trong đó, [CLS] và [SEP] là hai token đặc biệt để giúp mô hình hiểu được cấu trúc của văn bản đầu vào. Khi đưa văn bản dạng thô vào BERT, bước tiền xử lý (tokenization) sẽ tự động chèn thêm hai token này.  Sau đó, toàn bộ chuỗi này được đưa qua các lớp Transformer của BERT. Nhờ cơ chế Self-Attention, ngay từ lớp đầu tiên, mỗi từ trong câu A đã liên tục tính toán sự tương quan với từng từ trong câu B và ngược lại.  Điểm cộng: Mô hình hiểu cực kỳ sâu sắc mối quan hệ ngữ cảnh giữa 2 câu, độ chính xác rất cao. Điểm trừ: Vì hai câu bị khóa chặt vào nhau, chúng ta không thể tách tài liệu ra để mô hình xử lý trước. Giả sử hệ thống QA của chúng ta có 10,000 tài liệu. Khi user nhập 1 câu hỏi, BERT truyền thống phải bê câu hỏi đó ghép với tài liệu số 1 rồi chạy mô hình, rồi lại ghép với tài liệu số 2 và chạy tiếp... Quá trình này lặp lại 10,000 lần. Nếu trên quy mô hàng triệu tài liệu, việc này mất khoảng 65 giờ chỉ để trả lời 1 câu hỏi.(theo tác giả SBERT) -&gt; BERT hoàn toàn không đáp ứng được bài toán tìm kiếm semantic trong thực tế   [2]: Devlin, J., Chang, M. W., Lee, K., &amp; Toutanova, K. (2018/2019). "BERT: Pre-training of Deep Bidirectional Transformers for Language Understanding". Proceedings of NAACL-HLT 2019. https://arxiv.org/abs/1810.04805</vt:lpstr>
      <vt:lpstr>2. Giải pháp: Sentence-Bert [3] (Bi-Encoder) ra đời  Ý nghĩa cốt lõi: Tách biệt việc mã hóa giữa 2 câu  Sử dụng kiến trúc Siamese hoặc Triple network để mã hóa  các câu 1 cách độc lập thành các vector có độ dài cố định gọi là semantically meaningful sentence embeddings. Sau đó dùng cosine similarity để so sánh độ tương đồng cực kỳ nhanh.  Các tác vụ mới của SBERT so với BERT: 	+ So sánh độ tương đồng ngữ nghĩa quy mô lớn 	+ Phân cụm 	+ Truy xuất thông tin thông qua tìm kiếm ngữ nghĩa.  -&gt; SBERT là một giải pháp về mặt tốc độ cho BERT. Thay vì phải đánh giá theo từng cặp 2 câu, ta chuyển các câu trong tài liệu có sẵn thành vector sentence embedding từ trước, rồi sau đó chỉ cần so sánh bằng phép toán đơn giản và nhanh hơn (như cosine similarity) khi có thêm 1 câu mới. Giúp giảm nỗ lực tìm kiếm cặp tương đồng nhất từ 65 giờ với BERT / RoBERTa xuống còn khoảng 5 giây với SBERT, trong khi vẫn duy trì độ chính xác từ BERT [4].      [3]: Reimers, N., &amp; Gurevych, I. (2019). "Sentence-BERT: Sentence Embeddings using Siamese BERT-Networks". Proceedings of EMNLP-IJCNLP 2019. https://arxiv.org/abs/1908.10084 [4]: Theo phần 1. Introduction trong bài báo giới thiệu SBERT (Sentence-BERT: Sentence Embeddings using Siamese BERT-Networks) </vt:lpstr>
      <vt:lpstr>2. Giải pháp: Sentence-Bert (Bi-Encoder) ra đời  Thực chất, cũng có thể dùng BERT để tạo ra các sentence embedding: Các nhà nghiên cứu đã bắt đầu đưa các câu riêng lẻ vào BERT và trích xuất các vector sentence embedding có kích thước cố định.  + Cách 1: dùng token [CLS]: sử dụng đầu ra của token [CLS] VÌ Vector này vốn dĩ mang nhiệm vụ tổng hợp thông tin để giải quyết bài toán next sentence prediction (NSP)  + Cách 2: dùng mean/max pooling: lấy vector của tất cả các từ trong câu (trừ CLS và SEP) rồi tính trung bình cộng hoặc max trên từng chiều  -&gt; Nhưng Vector sinh ra cực kỳ tệ trong việc đo lường độ tương đồng. Nguyên nhân chủ yếu là do Vấn đề "Dị hướng" (Anisotropy) của BERT: 	Không gian vector của BERT bị mắc hội chứng "dị hướng" (Anisotropy) [5]. Tức là, thay vì các vector được phân bố đều trong không gian, chúng lại bị dồn ép vào một góc hẹp (hình nón). 	Hậu quả: Khi tính Cosine Similarity giữa 2 câu ngẫu nhiên bất kỳ bằng BERT, điểm số lúc nào cũng cao (thường là 0.8 đến 0.9), cho dù 2 câu đó khác hẳn nhau về ý nghĩa. 	Thậm chí, tác giả của SBERT đã chứng minh rằng: Dùng BERT để tính độ tương đồng câu bằng phép đo khoảng cách vector còn tệ hơn cả việc dùng mô hình GloVe cổ điển.    [5]:  Li, B., Zhou, H., He, J., Wang, M., Yang, Y., &amp; Li, L. (2020). "On the Sentence Embeddings from Pre-trained Language Models" (BERT-flow), EMNLP 2020. https://arxiv.org/abs/2011.05864</vt:lpstr>
      <vt:lpstr>Bảng này hiển thị điểm tương quan Spearman (đo lường độ chính xác khi máy tính dùng phép toán Cosine-Similarity so với điểm do con người đánh giá) trên các tập dữ liệu STS (kiểm tra độ tương đồng ngữ nghĩa). Điểm càng cao thì mô hình càng sát với tư duy ngôn ngữ của con người:                  -&gt; Nếu dùng trực tiếp output của BERT để tạo sentence embedding, kết quả thậm chí kém hơn cả GloVe - một phương pháp cũ hơn BERT nhiều. Tuy nhiên, sau khi fine-tune theo kiến trúc siamese network (SBERT/SRoBERTa), kết quả cải thiện vượt trội, đồng thời vượt qua cả các phương pháp sentence embedding chuyên biệt cùng thời như InferSent-GloVe và Universal Sentence Encoder ngay cả ở bản "base". Đáng chú ý, chênh lệch giữa bản "base" và "large" khá nhỏ (SBERT: +1.66, SRoBERTa: +2.47), cho thấy phần lớn lợi ích đến từ cách huấn luyện theo kiến trúc siamese/NLI fine-tuning, chứ không đơn thuần nhờ tăng kích thước model.</vt:lpstr>
      <vt:lpstr>2. Giải pháp: Sentence-Bert (Bi-Encoder) ra đời  		SBERT giải quyết vấn đề về chất lượng embedding và tốc độ của BERT như thế nào?  Kiến trúc mạng Siamese cho phép trích xuất các vector có kích thước cố định cho các câu đầu vào. Sử dụng một thước đo độ tương đồng như cosine similarity hoặc khoảng cách Manhattan / Euclidean, ta có thể so sánh mức độ tương đồng ngữ nghĩa của 2 câu (mất rất ít thời gian tính toán).  Quá trình huấn luyện đặc biệt này đã "ép" không gian vector của mô hình phải bung tỏa đều ra mọi hướng, thay vì bị tụm lại một góc như trước. SBERT được dạy một cách nghiêm ngặt theo quy tắc hình học: Những câu có ý nghĩa tương đồng thì vector phải nằm gần nhau, ngược lại, những câu khác biệt về mặt ngữ nghĩa sẽ bị đẩy ra xa nhau trong không gian biểu diễn.  Các tác giả của bài báo đã finetune các mô hình Pre-trained (BERT và RoBERTa), giúp giảm thiểu đáng kể chi phí và thời gian huấn luyện thực nghiệm: SBERT chỉ mất chưa đầy 20 phút để hoàn tất quá trình tinh chỉnh, nhưng lại mang về kết quả vượt trội so với các phương pháp tạo vector nhúng câu tương đương tại thời điểm đó.  Về mặt kiến trúc, SBERT tích hợp thêm một Lớp toán gộp (Pooling Operation) ngay sau đầu ra của BERT/RoBERTa nhằm cô đặc thông tin từ các từ ngữ cảnh thành một vector nhúng câu duy nhất có kích thước cố định. Nhóm tác giả đã tiến hành thử nghiệm song song với ba chiến lược pooling khác nhau, bao gồm: 	Rút trích trực tiếp vector đầu ra của token [CLS] 	Tính giá trị lớn nhất theo thời gian (chiến lược MAX) 	Tính trung bình cộng của tất cả các vector từ đầu ra (chiến lược MEAN) Trong đó, chiến lược MEAN được lựa chọn làm cấu hình mặc định nhờ mang lại hiệu năng tối ưu nhất. </vt:lpstr>
      <vt:lpstr>3. Cơ sở lý thuyết  3.1. Transformer  + Transformer là 1 kiến trúc mạng nơ-ron được google giới thiệu năm 2017 trong paper "Attention is all you need" (nhóm tác giả tại Google brain và Google research công bố).  + Trước transformer, người ta dùng RNN/LSTM để xử lý ngôn ngữ - nhưng chúng có nhược điểm lớn là xử lý tuần tự (từng từ một) nên rất chậm và khó nhớ ngữ cảnh xa.  + Transformer giải quyết điều đó bằng cơ chế self-attention - cho phép mô hình nhìn toàn bộ câu cùng lúc và hiểu được từ nào liên quan đến từ nào.  + Kiến trúc Transformer gồm 2 phần chính là encoder và decoder  </vt:lpstr>
      <vt:lpstr>3. Cơ sở lý thuyết  3.1. Transformer  + Encoder - bộ phận "Đọc hiểu": Nhận câu đầu vào và chuyển thành vector ngữ nghĩa (embedding) chứa đầy đủ thông tin về ý nghĩa của câu đó.  Mục tiêu: hiểu văn bản, không sinh ra từ mới, mà chỉ hiểu và mã hóa thông tin  Ví dụ: "Tôi học NLP"         ↓    [ENCODER]         ↓ [0.23, -0.11, 0.87, ...] ← vector ngữ nghĩa   + Mô hình tiêu biểu: BERT, RoBERTa, SBERT (encoder-only)</vt:lpstr>
      <vt:lpstr>3. Cơ sở lý thuyết  3.1. Transformer  LƯU Ý: - Mỗi encoder block = 1 layer trong mạng học sâu. - Trong mỗi layer này gồm: 	Multi-head Self-attention 	Residual connection + LayerNorm 	Feed-forward network 	Residual connection + LayerNorm  - Mỗi Multi-head Self-attention chứa nhiều head chạy song song bên trong. - Nhờ vậy mà model có thể học được nhiều kiểu mối quan hệ giữa các token với nhau. - Để đảm bảo độ phức tạp tính toán không phụ thuộc vào số head, ta giảm kích thước các query, key, value vector. Khi này các ma trận trọng số WK,Q,V có số cột giảm đi, trong khi số hàng vẫn bằng d_model (số chiều của embeddings).                               Số cột = d_head = d_model / số head  - Trong transformer, số head được chọn là 8. - Sau đó, các vector output của mỗi head được nối lại với nhau . kết quả được nhân với ma trận Wo (d_model x d_model). Cuối cùng thu được các vector output cuối cùng của toàn bộ khối Multi-head Attention </vt:lpstr>
      <vt:lpstr>3. Cơ sở lý thuyết  3.1. Transformer   Cấu trúc luồng dữ liệu bên trong khối Encoder:  1. Trích xuất Ngữ cảnh (Từ lớp Attention) 	Đầu ra của lớp Attention là một Vector ngữ cảnh (Context Vector). 	Vector này định lượng mức độ ảnh hưởng của toàn bộ các từ trong câu lên từ đang xét.  2. Xử lý và Chuẩn hóa 	Cộng gộp &amp; Chuẩn hóa lần 1: Dùng Residual Connection để cộng trực tiếp input gốc, đảm bảo không trôi mất thông tin từ vựng ban đầu. Sau đó đưa qua Layer Normalization. 	Feed-Forward Network: Trải phẳng dữ liệu sang không gian chiều lớn hơn bằng hàm ReLU, sau đó nén lại về kích thước cũ (d_model) 	Cộng gộp &amp; Chuẩn hóa lần 2: Sinh ra Output cuối cùng của khối.  3. Mở rộng Kiến trúc Tổng thể 	Output của khối Encoder hiện tại sẽ trở thành Input trực tiếp cho khối tiếp theo. 	Quá trình này được lặp lại N lần thông qua việc xếp chồng các khối (Mô hình BERT-base sử dụng N = 12 khối liên tiếp).</vt:lpstr>
      <vt:lpstr>3. Cơ sở lý thuyết  3.1. Transformer  + Decoder - bộ phận "Sinh văn bản". Nhận vector ngữ nghĩa (từ encoder hoặc tự nó) và sinh ra TỪNG TỪ MỘT để tạo thành câu output.  Mục tiêu: Sinh văn bản  Ví dụ: [vector ngữ nghĩa]         ↓    [DECODER]         ↓ "I" → "love" → "NLP" → [END]   Mô hình tiêu biểu: GPT-2, GPT-4, LLaMA, Gemini, Claude,... Các mô hình ngôn ngữ lớn (LLM) chủ yếu là decoder-only.</vt:lpstr>
      <vt:lpstr>3. Cơ sở lý thuyết  3.2. BERT (2018)  + Ra mắt trong bài báo "BERT: Pre-training of Deep Bidirectional Transformers for Language Understanding" của Google AI (Devlin et al.).  + BERT chỉ sử dụng phần Encoder của Transformer (xếp chồng nhiều lớp Encoder), bỏ phần Decoder.  + Điểm khác biệt cốt lõi: BERT huấn luyện hai chiều (bidirectional) - tức là khi dự đoán một từ, model được "nhìn" cả ngữ cảnh bên trái lẫn bên phải cùng lúc, nhờ kỹ thuật huấn luyện Masked Language Model (MLM) (che ngẫu nhiên một số từ rồi bắt model đoán lại) và Next Sentence Prediction (NSP).  + kiến trúc của BERT là một Encoder Transformer 2 chiều nhiều lớp (multi layer bidirectional transformer encoder).  + Trong giai đoạn fine-tune, mô hình pre-trained BERT có thể dễ dàng thích ứng với nhiều bài toán khác nhau (như hỏi đáp, phân loại văn bản) chỉ bằng cách thêm vào một lớp output layer duy nhất mà không cần sửa đổi nhiều kiến trúc đặc thù của bài toán đó.  Tóm gọn quan hệ giữa BERT và Transformer: Transformer (2017) là kiến trúc gốc gồm Encoder + Decoder: 	Chỉ lấy Encoder, huấn luyện 2 chiều  -&gt; BERT (2018) hiểu ngôn ngữ (NLU) 	Chỉ lấy Decoder, huấn luyện 1 chiều  -&gt; GPT (2018) sinh ngôn ngữ (NLG)</vt:lpstr>
      <vt:lpstr>4. Kiến trúc SBERT  4.1. Lớp Pooling  Đầu ra gốc của BERT là một chuỗi vector với mỗi vector ứng với một token trong câu chứ chưa phải một vector đại diện duy nhất cho cả câu. Vì vậy, SBERT bổ sung thêm một lớp Pooling ngay sau đầu ra của BERT/RoBERTa để cô đặc toàn bộ các vector token đó thành một vector có kích thước cố định, đại diện cho toàn bộ câu. Nhóm tác giả thử nghiệm ba chiến lược pooling: 	CLS-token: chỉ lấy vector đầu ra tại vị trí token [CLS] 	MEAN: tính trung bình cộng của tất cả vector token đầu ra 	MAX: lấy giá trị lớn nhất theo từng chiều (max-over-time) trên tất cả vector token  Cấu hình mặc định được chọn là MEAN pooling vì đây là chiến lược cho hiệu năng tốt và ổn định nhất [6].    [6]: Theo phần 6. Ablation Study trong bài báo giới thiệu SBERT (Sentence-BERT: Sentence Embeddings using Siamese BERT-Networks)</vt:lpstr>
      <vt:lpstr>4. Kiến trúc SBERT  4.2. Hàm mục tiêu (Objective Functions)  a. Hàm mục tiêu Phân loại (Classification Objective Function)  Hàm này thường được sử dụng khi huấn luyện trên dữ liệu Suy luận Ngôn ngữ Tự nhiên (NLI). Mô hình trích xuất hai vector câu u và v từ hai nhánh BERT. Điểm mấu chốt nằm ở phép nối (concatenation) các vector này trước khi đưa vào bộ phân loại. SBERT nối u, v và chênh lệch từng phần tử |u - v|:               Tác giả SBERT đã chứng minh thông qua nghiên cứu cắt bỏ (6. Ablation study) rằng thành phần quan trọng nhất chính là |u - v|. Việc tính giá trị tuyệt đối hiệu số của hai vector thực chất là đang đo lường khoảng cách trực tiếp giữa các chiều của chúng.</vt:lpstr>
      <vt:lpstr>4. Kiến trúc SBERT  4.2. Hàm mục tiêu (Objective Functions)  b. Hàm mục tiêu Hồi quy (Regression Objective Function)  Hàm này được áp dụng cho các bài toán đánh giá độ tương đồng theo thang điểm liên tục (ví dụ: STS benchmark).  SBERT trực tiếp tính toán độ tương đồng cosine (cosine-similarity) giữa hai vector câu u và v sinh ra từ mạng. Sau đó, mô hình sử dụng hàm mất mát Mean-Squared-Error (MSE) làm hàm mục tiêu để tối thiểu hóa sai số giữa điểm cosine dự đoán và điểm đánh giá thực tế của con người.   					cosine-sim(u,v)∈[−1,1]       </vt:lpstr>
      <vt:lpstr>4. Kiến trúc SBERT  4.2. Hàm mục tiêu (Objective Functions)  c. Hàm mục tiêu Triplet (Triplet Objective Function) Đây là hàm mục tiêu thể hiện rõ ràng nhất cơ chế "kéo gần, đẩy xa" trong toán học của SBERT. Quá trình huấn luyện yêu cầu dữ liệu đầu vào gồm 3 câu: 	01 câu neo (anchor a) 	01 câu dương tính (positive p - cùng ngữ nghĩa với a) 	01 câu âm tính (negative n - khác ngữ nghĩa với a) Hàm mất mát Triplet tinh chỉnh mạng lưới sao cho khoảng cách hình học giữa a và p phải nhỏ hơn khoảng cách giữa a và n.             </vt:lpstr>
      <vt:lpstr>4. Kiến trúc SBERT  4.3. Cấu trúc mạng Siamese và Triplet  SBERT dùng cả hai, nhưng cấu trúc mạng sẽ được quyết định TÙY THUỘC VÀO LOẠI DỮ LIỆU HUẤN LUYỆN mà nó nhận được.  a. Dùng kiến trúc Siamese (2 nhánh) khi: Dữ liệu huấn luyện có sẵn ở dạng Cặp câu (Pairs): (Câu A, Câu B, Nhãn).  	Trường hợp 1a: Nếu dữ liệu (như bộ NLI) phân loại nhãn thành các hạng mục (ví dụ: kéo theo, mâu thuẫn, trung lập), SBERT sẽ dùng 2 nhánh với Hàm mục tiêu phân loại.  	Trường hợp 1b: Nếu dữ liệu (như bộ STSb) chấm điểm độ tương đồng bằng các con số (ví dụ: điểm từ 0 đến 5), SBERT sẽ dùng 2 nhánh với Hàm mục tiêu hồi quy.   b. Dùng kiến trúc Triplet (3 nhánh) khi: Dữ liệu huấn luyện được xây dựng ở dạng Bộ ba (Triplets): (Câu gốc Anchor, Câu giống Positive, Câu khác Negative).  Ví dụ: Trong bài báo, tác giả dùng bộ dữ liệu Wikipedia gồm các câu thuộc cùng một mục (giống nhau) và khác mục (khác nhau). Lúc này, SBERT sẽ kích hoạt 3 nhánh chạy song song để cùng lúc xử lý 3 câu này và dùng Hàm mục tiêu Triplet để tối ưu hóa khoảng cách. </vt:lpstr>
      <vt:lpstr>4. Kiến trúc SBERT  4.4. Công thức Cosine Similarity  Trong không gian vector, độ tương đồng Cosine là phép đo phổ biến nhất để xác định xem hai vector có cùng hướng hay không, không phụ thuộc vào độ dài của chúng.  Độ tương đồng = 1 - Cosine Distance  (với cosine distance ∈[0,2])   Ý nghĩa của kết quả: Kết quả của phép tính cos() sẽ luôn nằm trong [-1, 1]:  Giá trị = 1: Hai vector trùng hướng hoàn toàn (Hai câu gần như đồng nghĩa).  Giá trị = 0: Hai vector vuông góc với nhau (Hai vector không có tương quan tuyến tính - không hàm ý "giống" cũng không hàm ý "ngược").  Giá trị = -1: Hai vector ngược hướng hoàn toàn (2 câu có xu hướng trái ngược về mặt ngữ nghĩa). </vt:lpstr>
      <vt:lpstr>4. Kiến trúc SBERT  4.5. Quy trình Fine-tune pretrained BERT với Triplet Loss để thu được SBERT    	 Lấy nguyên toàn bộ trọng số pretrained BERT   	 Thêm lớp Pooling vào cuối    	 Bọc vào kiến trúc Siamese Network    	 Huấn luyện tiếp trên bài toán NLI/STS với 1 trong 3 objective function được đề xuất   	 Kết quả: SBERT (trọng số BERT đã được điều chỉnh cho sentence embedding)   Bước 1: Chuẩn bị Dữ liệu (Dạng Bộ ba - Triplets) Hệ thống nhận vào 3 câu: Câu neo/gốc làm hệ quy chiếu (Anchor - a), Câu đồng nghĩa với câu neo (Positive - p), và Câu khác nghĩa với câu neo (Negative - n).  Bước 2: Trích xuất Vector (Siamese Network) Một model với 1 bộ trọng số duy nhất, được call 3 lần liên tiếp - mỗi lần với 1 câu đầu vào khác nhau (a, p, n). Đầu ra đi qua lớp gộp (Pooling) để tạo ra 3 vector toán học tương ứng: sa, sp, sn.  Bước 3: Đánh giá bằng Hàm mất mát (Triplet Loss) Đo lường khoảng cách hình học giữa các vector. Mô hình sẽ bị phạt (Loss lớn hơn 0) nếu vector đồng nghĩa sp chưa nằm gần sa hơn so với vector khác nghĩa sn (tính thêm một khoảng an toàn epsilon) - thường dùng khoảng cách Euclid ||.||   Bước 4: Cập nhật trọng số Lan truyền ngược (Backpropagation) để điều chỉnh hàng triệu trọng số của BERT. Mục đích: Định hình lại không gian vector để kéo sp lại sát sa, đồng thời đẩy sn văng ra xa sa.</vt:lpstr>
      <vt:lpstr>5. So sánh BERT và SBERT: Đánh đổi giữa Tốc độ và Độ chính xác  Về mặt hiệu năng, SBERT (Bi-encoder) tối ưu hóa tốc độ xuất sắc, giảm thời gian tính toán quy mô lớn từ 65 giờ xuống chỉ còn khoảng 5 giây. Tuy nhiên, khi chấm điểm độ tương đồng của từng cặp câu, BERT (Cross-encoder) luôn cho ra độ chính xác cao hơn.  Năm 2019, các bài báo khai sinh ra SBERT [7] và kiến trúc Poly-encoders [8] đã chỉ rõ bản chất của sự đánh đổi này: 	Cross-encoder (BERT): Nhờ cơ chế Self-Attention, các từ của 2 câu tương tác chéo (cross-attention) với nhau ngay từ các lớp mạng đầu tiên. 	Bi-encoder (SBERT): Hai câu bị cô lập hoàn toàn và chỉ tương tác ở bước cuối cùng thông qua phép tích vô hướng (Dot product) của 2 vector.  Tóm lại, Cross-Encoder chính xác hơn vì Self-Attention "nhìn" được cả hai chuỗi cùng lúc (full cross-attention giữa query và document), trong khi Bi-Encoder buộc phải nén thông tin thành một vector cố định trước khi so sánh, gây mất mát thông tin. Tuy nhiên, tốc độ của Cross-Encoder quá chậm để dùng cho các bài toán thực tế. Đây là lý do Pipeline tìm kiếm thực tế hiện nay thường là:  		 Dùng SBERT để quét lọc nhanh (Retriever) và BERT để chấm điểm lại (Reranker)    [7]: Reimers, N., &amp; Gurevych, I. (2019). "Sentence-BERT: Sentence Embeddings using Siamese BERT-Networks". EMNLP. https://arxiv.org/abs/1908.10084 [8]: Humeau, S., et al. (2019). "Poly-encoders: Architectures and Pre-training Strategies for Fast and Accurate Multi-sentence Scoring". ICLR. https://arxiv.org/abs/1905.01969</vt:lpstr>
      <vt:lpstr>6. Liên hệ với bài toán Q&amp;A  Bài toán Question Answering là: hệ thống tự động trả lời câu hỏi của người dùng dựa trên kho dữ liệu cho trước. Hai thành phần chính của hệ thống QA hiện đại (open-domain QA hoặc RAG) [9]: 	+ Retriever (Bộ truy xuất): rút trích các đoạn văn bản (context) liên quan nhất đến câu hỏi từ một kho dữ liệu khổng lồ 	+ Reader/Generator (Bộ đọc/Tạo sinh): Đưa câu hỏi và đoạn văn vừa tìm được vào mô hình (như BERT hoặc LLM) để trích xuất hoặc sinh ra câu trả lời cuối cùng   Vai trò của SBERT trong QA: SBERT đóng vai trò là lõi trong bộ Retriever. Từ đó giúp hệ thống thực hiện Semantic Search thay vì Keyword Search (tìm kiếm theo từ khóa chính xác như thuật toán BM25)   Logic triển khai:  Bước 1 (Retriever - dùng SBERT): Câu hỏi -&gt; Tạo vector embedding cho câu hỏi -&gt; So sánh vector embedding của câu hỏi với vector embedding của tài liệu (đã tạo embedding từ trước đó) -&gt; Lấy ra Top k đoạn văn (Context) có điểm Cosine cao nhất.  Bước 2 (Reader - dùng BERT QA hoặc LLM): Đưa (Câu hỏi, Context) vào mô hình QA pipeline -&gt; Trích xuất ra đúng cụm từ/câu trả lời (Answer).   [9]: V. Karpukhin et al., "Dense Passage Retrieval for Open-Domain Question Answering," in Proc. EMNLP, 2020, pp. 6769–6781.</vt:lpstr>
      <vt:lpstr>7. DEMO + Đánh giá kết quả  	                     Link Colab: https://colab.research.google.com/drive/1BTqUbMNwzs23B3E0Ac95SPb8JUTw6AQo  Sử dụng 2 metrics: Recall@k và MRR  Recall@k: Độ phủ trong Top K. Là tỉ lệ phần trăm các câu hỏi mà tài liệu chính xác được mô hình Retriever tìm thấy và xếp trong Top K kết quả trả về. 	Ý nghĩa: Đo lường khả năng "không bỏ sót" tài liệu đúng của Retriever. 	Recall@1: Tài liệu đúng nằm ngay ở vị trí số 1. 	Recall@5: Tài liệu đúng nằm đâu đó từ hạng 1 đến hạng 5.  MRR (Mean Reciprocal Rank ): Thứ hạng nghịch đảo trung bình. Là trung bình cộng của nghịch đảo thứ hạng tài liệu đúng:          	 	Ý nghĩa: Đo lường xem tài liệu đúng được xếp hạng cao hay thấp. 	Điểm MRR càng gần về 1.0 chứng tỏ tài liệu đúng thường xuyên được đẩy lên sát vị trí Top 1.</vt:lpstr>
      <vt:lpstr>7. DEMO + Đánh giá kết quả  Đánh giá kết quả:  Bộ dữ liệu Tiếng Việt (Sổ tay sinh viên Phenikaa):  Tổng số tài liệu: 88 văn bản quy chế. Mô hình sử dụng: vietnamese-bi-encoder + xlm-roberta-large-vi-qa Kết quả: 	Recall@1: 47.6% | Recall@3: 66.7% 	Recall@5: 81.0% (Có tới 81% cơ hội tài liệu đúng nằm trong Top 5) 	Recall@10: 90.5% | Recall@20: 95.2% 	MRR (Mean Reciprocal Rank): 0.5943    Bộ dữ liệu Tiếng Anh (Tập mẫu SQuAD 2.0):  Tổng số tài liệu: 100 văn bản ngữ cảnh. Mô hình sử dụng: all-MiniLM-L6-v2 + roberta-base-squad2 Kết quả: 	Recall@1: 56.7% | Recall@3: 76.7% | Recall@5: 76.7% 	Recall@10: 86.7% | Recall@20: 93.3% 	MRR: 0.6750</vt:lpstr>
      <vt:lpstr>8. Định hướng mở rộng: Kiến trúc Hỏi Đáp (QA) toàn diện với mô hình Retriever - Reranker  Các hệ thống Hỏi - Đáp (QA) hiện đại không chọn một trong hai BERT hoặc SBERT, mà kết hợp cả hai mô hình này thành một Pipeline hai giai đoạn (Retriever - Reranker) hoàn chỉnh trước khi đưa dữ liệu cho các Mô hình ngôn ngữ lớn (LLM) đọc hiểu.   Đề xuất Kiến trúc Hệ thống truy xuất thông tin tối ưu, được vận hành qua 02 bước cốt lõi:  Giai đoạn 1 - Retriever (Trích xuất thô bằng SBERT): Sử dụng SBERT (Bi-encoder) làm bộ lọc sơ cấp. SBERT có thể quét qua hàng triệu tài liệu chỉ trong vài mili-giây để lấy ra tập hợp Top K tài liệu tiềm năng nhất. Ở bước này, ta ưu tiên Tốc độ.  Giai đoạn 2 - Reranker (Xếp hạng lại bằng BERT): Sử dụng mạng BERT (Cross-encoder) để chấm điểm lại tập hợp K tài liệu vừa tìm được. Vì lúc này số lượng tài liệu chỉ còn lại rất ít, BERT có thể thoải mái thực hiện cơ chế Attention chéo giữa Câu hỏi và Từng tài liệu để tính toán mức độ liên quan một cách chính xác nhất. Ở bước này, ta ưu tiên Độ chính xác.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trang</dc:creator>
  <cp:lastModifiedBy>Trang Kieu Thi Thu</cp:lastModifiedBy>
  <cp:revision>16</cp:revision>
  <dcterms:created xsi:type="dcterms:W3CDTF">2025-07-23T00:59:00Z</dcterms:created>
  <dcterms:modified xsi:type="dcterms:W3CDTF">2026-07-21T12:51:47Z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A5AEA5131B1444A8AA3924D2D1929C80_11</vt:lpwstr>
  </property>
  <property fmtid="{D5CDD505-2E9C-101B-9397-08002B2CF9AE}" pid="3" name="KSOProductBuildVer">
    <vt:lpwstr>2057-12.2.0.23206</vt:lpwstr>
  </property>
</Properties>
</file>